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Bienvenida. Hoy abrimos la caja negra de ChatGPT: un Transformer decoder que predice el siguiente token. Recorrido: 1) cómo lee el modelo (tokens BPE), 2) self-attention programada desde cero con Q, K y V y la máscara causal, 3) BERT (entiende, bidireccional) vs GPT (genera, causal), 4) cómo se genera texto token a token con temperatura, top-k y top-p, 5) fine-tuning supervisado: convertimos GPT-2 en español en MiniGPT, nuestro chatbot. Antes de empezar: confirmar que todos ejecutaron la sección 0 del notebook (descarga GPT-2 y BETO, ~1 GB). Notebook: notebooks/Clase02_Transformers_MiniGPT_DOCENTE.ipynb (estudiantes: notebooks_estudiantes/).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1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371600"/>
            <a:ext cx="4754880" cy="4754880"/>
          </a:xfrm>
          <a:prstGeom prst="ellipse">
            <a:avLst/>
          </a:prstGeom>
          <a:solidFill>
            <a:srgbClr val="6A0DAD"/>
          </a:solidFill>
          <a:ln w="12700">
            <a:solidFill>
              <a:srgbClr val="6A0D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4023360"/>
            <a:ext cx="2377440" cy="2377440"/>
          </a:xfrm>
          <a:prstGeom prst="ellipse">
            <a:avLst/>
          </a:prstGeom>
          <a:solidFill>
            <a:srgbClr val="2B0A3D"/>
          </a:solidFill>
          <a:ln w="12700">
            <a:solidFill>
              <a:srgbClr val="2B0A3D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2520" y="1737360"/>
            <a:ext cx="2743200" cy="2743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66928" y="13716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B98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2  ·  NLP E IA GENERATIVA  ·  CIENTÍFICO DE DATOS E IA APLICADA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17830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 y MiniGPT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566928" y="2670048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B98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self-attention a nuestro propio chatbot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566928" y="3401568"/>
            <a:ext cx="3200400" cy="420624"/>
          </a:xfrm>
          <a:prstGeom prst="roundRect">
            <a:avLst>
              <a:gd name="adj" fmla="val 13043"/>
            </a:avLst>
          </a:prstGeom>
          <a:solidFill>
            <a:srgbClr val="C400C4"/>
          </a:solidFill>
          <a:ln w="12700">
            <a:solidFill>
              <a:srgbClr val="C400C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66928" y="3401568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02  ·  11 de octubre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566928" y="40690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horas en vivo  ·  Tokens BPE · Self-Attention · BERT vs GPT · Sampling · Fine-tuning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66928" y="59436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98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“El futuro lo creas tú…”</a:t>
            </a:r>
            <a:endParaRPr lang="en-US" sz="1200" dirty="0"/>
          </a:p>
        </p:txBody>
      </p:sp>
      <p:sp>
        <p:nvSpPr>
          <p:cNvPr id="20" name="Tarjeta 1"/>
          <p:cNvSpPr/>
          <p:nvPr/>
        </p:nvSpPr>
        <p:spPr>
          <a:xfrm>
            <a:off x="566928" y="4617720"/>
            <a:ext cx="1863090" cy="1060704"/>
          </a:xfrm>
          <a:prstGeom prst="roundRect">
            <a:avLst>
              <a:gd name="adj" fmla="val 10000"/>
            </a:avLst>
          </a:prstGeom>
          <a:solidFill>
            <a:srgbClr val="34174A"/>
          </a:solidFill>
          <a:ln>
            <a:noFill/>
          </a:ln>
        </p:spPr>
        <p:txBody>
          <a:bodyPr wrap="square" lIns="118872" tIns="91440" rIns="91440" bIns="9144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s-ES" sz="1300" b="1" dirty="0">
                <a:solidFill>
                  <a:srgbClr val="E04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</a:t>
            </a:r>
            <a:r>
              <a:rPr lang="es-E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</a:t>
            </a:r>
          </a:p>
          <a:p>
            <a:pPr indent="0" marL="0">
              <a:buNone/>
            </a:pPr>
            <a:r>
              <a:rPr lang="es-ES" sz="1100" dirty="0">
                <a:solidFill>
                  <a:srgbClr val="C9A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BPE parte el texto en subpalabras: el LLM nunca ve letras</a:t>
            </a:r>
          </a:p>
        </p:txBody>
      </p:sp>
      <p:sp>
        <p:nvSpPr>
          <p:cNvPr id="21" name="Tarjeta 2"/>
          <p:cNvSpPr/>
          <p:nvPr/>
        </p:nvSpPr>
        <p:spPr>
          <a:xfrm>
            <a:off x="2567178" y="4617720"/>
            <a:ext cx="1863090" cy="1060704"/>
          </a:xfrm>
          <a:prstGeom prst="roundRect">
            <a:avLst>
              <a:gd name="adj" fmla="val 10000"/>
            </a:avLst>
          </a:prstGeom>
          <a:solidFill>
            <a:srgbClr val="34174A"/>
          </a:solidFill>
          <a:ln>
            <a:noFill/>
          </a:ln>
        </p:spPr>
        <p:txBody>
          <a:bodyPr wrap="square" lIns="118872" tIns="91440" rIns="91440" bIns="9144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s-ES" sz="1300" b="1" dirty="0">
                <a:solidFill>
                  <a:srgbClr val="E04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</a:t>
            </a:r>
            <a:r>
              <a:rPr lang="es-E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Atención</a:t>
            </a:r>
          </a:p>
          <a:p>
            <a:pPr indent="0" marL="0">
              <a:buNone/>
            </a:pPr>
            <a:r>
              <a:rPr lang="es-ES" sz="1100" dirty="0">
                <a:solidFill>
                  <a:srgbClr val="C9A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· K · V: cada token mira a los demás y mezcla su información</a:t>
            </a:r>
          </a:p>
        </p:txBody>
      </p:sp>
      <p:sp>
        <p:nvSpPr>
          <p:cNvPr id="22" name="Tarjeta 3"/>
          <p:cNvSpPr/>
          <p:nvPr/>
        </p:nvSpPr>
        <p:spPr>
          <a:xfrm>
            <a:off x="4567428" y="4617720"/>
            <a:ext cx="1863090" cy="1060704"/>
          </a:xfrm>
          <a:prstGeom prst="roundRect">
            <a:avLst>
              <a:gd name="adj" fmla="val 10000"/>
            </a:avLst>
          </a:prstGeom>
          <a:solidFill>
            <a:srgbClr val="34174A"/>
          </a:solidFill>
          <a:ln>
            <a:noFill/>
          </a:ln>
        </p:spPr>
        <p:txBody>
          <a:bodyPr wrap="square" lIns="118872" tIns="91440" rIns="91440" bIns="9144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s-ES" sz="1300" b="1" dirty="0">
                <a:solidFill>
                  <a:srgbClr val="E04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</a:t>
            </a:r>
            <a:r>
              <a:rPr lang="es-E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</a:t>
            </a:r>
          </a:p>
          <a:p>
            <a:pPr indent="0" marL="0">
              <a:buNone/>
            </a:pPr>
            <a:r>
              <a:rPr lang="es-ES" sz="1100" dirty="0">
                <a:solidFill>
                  <a:srgbClr val="C9A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 predice el siguiente token y repite: temperatura, top-k, top-p</a:t>
            </a:r>
          </a:p>
        </p:txBody>
      </p:sp>
      <p:sp>
        <p:nvSpPr>
          <p:cNvPr id="23" name="Tarjeta 4"/>
          <p:cNvSpPr/>
          <p:nvPr/>
        </p:nvSpPr>
        <p:spPr>
          <a:xfrm>
            <a:off x="6567678" y="4617720"/>
            <a:ext cx="1863090" cy="1060704"/>
          </a:xfrm>
          <a:prstGeom prst="roundRect">
            <a:avLst>
              <a:gd name="adj" fmla="val 10000"/>
            </a:avLst>
          </a:prstGeom>
          <a:solidFill>
            <a:srgbClr val="34174A"/>
          </a:solidFill>
          <a:ln>
            <a:noFill/>
          </a:ln>
        </p:spPr>
        <p:txBody>
          <a:bodyPr wrap="square" lIns="118872" tIns="91440" rIns="91440" bIns="9144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s-ES" sz="1300" b="1" dirty="0">
                <a:solidFill>
                  <a:srgbClr val="E04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</a:t>
            </a:r>
            <a:r>
              <a:rPr lang="es-E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MiniGPT</a:t>
            </a:r>
          </a:p>
          <a:p>
            <a:pPr indent="0" marL="0">
              <a:buNone/>
            </a:pPr>
            <a:r>
              <a:rPr lang="es-ES" sz="1100" dirty="0">
                <a:solidFill>
                  <a:srgbClr val="C9A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SFT: GPT-2 aprende a responder en formato chat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Clase 04 - Despliegue en DigitalOcean</dc:title>
  <dc:subject>PptxGenJS Presentation</dc:subject>
  <dc:creator>Dev Senior Code</dc:creator>
  <cp:lastModifiedBy>Dev Senior Code</cp:lastModifiedBy>
  <cp:revision>1</cp:revision>
  <dcterms:created xsi:type="dcterms:W3CDTF">2026-09-11T23:02:55Z</dcterms:created>
  <dcterms:modified xsi:type="dcterms:W3CDTF">2026-09-11T23:02:55Z</dcterms:modified>
</cp:coreProperties>
</file>