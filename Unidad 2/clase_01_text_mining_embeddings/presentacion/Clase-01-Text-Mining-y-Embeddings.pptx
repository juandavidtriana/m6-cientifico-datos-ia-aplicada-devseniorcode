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e6a27835-4884-1213-15d0-c11f52494445}">
          <p14:sldIdLst>
            <p14:sldId id="256"/>
            <p14:sldId id="257"/>
            <p14:sldId id="258"/>
            <p14:sldId id="259"/>
            <p14:sldId id="260"/>
            <p14:sldId id="261"/>
          </p14:sldIdLst>
        </p14:section>
        <p14:section name="1 · Preparar el texto" id="{24117e52-f558-9065-d0d0-91a278f54be7}">
          <p14:sldIdLst>
            <p14:sldId id="262"/>
            <p14:sldId id="263"/>
            <p14:sldId id="264"/>
            <p14:sldId id="265"/>
            <p14:sldId id="266"/>
            <p14:sldId id="267"/>
            <p14:sldId id="268"/>
          </p14:sldIdLst>
        </p14:section>
        <p14:section name="2 · Representar el texto" id="{db747951-f144-98e6-12da-bfe9ca72bb27}">
          <p14:sldIdLst>
            <p14:sldId id="269"/>
            <p14:sldId id="270"/>
            <p14:sldId id="271"/>
            <p14:sldId id="272"/>
            <p14:sldId id="273"/>
            <p14:sldId id="274"/>
            <p14:sldId id="275"/>
          </p14:sldIdLst>
        </p14:section>
        <p14:section name="3 · Manos a la obra" id="{a357087f-d5db-feba-4488-8e28bd8d8f0d}">
          <p14:sldIdLst>
            <p14:sldId id="276"/>
            <p14:sldId id="277"/>
            <p14:sldId id="278"/>
            <p14:sldId id="279"/>
            <p14:sldId id="280"/>
          </p14:sldIdLst>
        </p14:section>
        <p14:section name="Cierre" id="{573180bb-d7d8-94f6-ec99-3eea895926ae}">
          <p14:sldIdLst>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Arrancamos la Unidad 2: NLP e IA Generativa. Hoy construimos los cimientos: cómo pasar de texto crudo a tensores que una red neuronal pueda usar. Todo lo que veamos de LLMs más adelante se apoya en estas ideas (tokens, vectores, embeddings).
ANTES DE EMPEZAR: confirmar que todos tengan TensorFlow instalado (pip install -r requirements.txt) y el CSV de IMDb en IMDb_NLP_Processor/dataset/. Si no, se pierde tiempo de clase en instalaciones.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de la clase. Los notebooks están numerados en el mismo orden que la agenda, así que los estudiantes pueden seguir la clase abriéndolos uno por uno. La parte práctica fuerte es del minuto 75 al 105. El proyecto IMDb es la tarea evaluable (rúbrica de 100 puntos en su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objetivos. Enfatizar el segundo: el error más común de principiantes es limpiar de más. Y el cuarto es el puente con la próxima clase (Transformers): los embeddings de hoy son 'fijos', los de los Transformers son contextuales.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Definición tomada de IBM (ibm.com/think/topics/natural-language-processing). IBM describe tres enfoques históricos: basado en reglas (if-then), estadístico (ML que mapea el lenguaje a vectores; ejemplos: corrector ortográfico, T9) y deep learning (redes neuronales, Transformers, modelos autorregresivos como GPT o Claude).
Pregunta al grupo: ¿qué aplicaciones de NLP usaron hoy sin darse cuenta? (autocompletar, traductor, filtro de spam, asistentes de voz).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IBM (ibm.com/think/topics/text-mining). IBM define text mining como transformar texto no estructurado en formato estructurado para identificar patrones; menciona técnicas como recuperación de información (tokenización, stemming), tareas NLP (resumen, POS, categorización, sentimiento) y extracción de información (NER).
Casos de uso que lista IBM: servicio al cliente, gestión de riesgo, mantenimiento, salud y filtrado de spam. Conectar con el dataset de hoy: opiniones de clientes = caso de servicio al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de toda la clase; volver a esta diapositiva al inicio de cada bloque. Cada paso tiene su notebook. Seguir un ejemplo de punta a punta: la reseña '¡Me ENCANTÓ!! 😍' se limpia, se convierte en índices, se rellena con ceros, se proyecta a vectores y el modelo devuelve una probabilidad.
La regla de oro (consistencia entrenamiento/inferencia) es la causa #1 de bugs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(25 min). Abrir notebook 01 en vivo y mostrar que cada carácter ya es un número Unicode (ord), pero que esos números no tienen significado: 'a' y 'á' tienen códigos muy distintos.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notebook 02 cada paso se aplica por separado con pandas para ver el antes y el después. Mensaje clave: no hay una limpieza universal. Los números se eliminan en clasificación temática, pero en reseñas '5 estrellas' o '1 estrella' son la señal más fuerte. Los emojis pueden mapearse a palabras (emoji_encanta) en vez de borrarse.
IBM lista como pasos típicos: tokenización, minúsculas, eliminación de stopwords, stemming/lematización y limpieza de puntuación.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en vivo en el notebook 02, sección 7. Preguntar antes de mostrar el resultado: ¿qué pasa si quito las stopwords de estas dos frases? Luego mostrar que quedan idénticas.
Los modelos neuronales con embeddings suelen funcionar mejor sin quitar stopwords; aprenden por sí mismos qué palabras importan.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IBM (ibm.com/think/topics/stemming-lemmatization). IBM resume: stemming usa reglas para quitar sufijos (rápido, pero con errores de sobre/sub-stemming); lematización usa análisis morfológico y POS tagging para llegar al lema (preciso, más costoso). Recomienda stemming cuando importa la velocidad (buscadores) y lematización cuando importa la precisión semántica.
Los ejemplos de stemming son la salida real del notebook 02. Para lematizar en español se necesita spaCy (es_core_news_sm) o stanza; no lo instalamos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los tres niveles. En el notebook 03 la versión por caracteres tiene 28 tokens de vocabulario, pero una frase de 6 palabras se vuelve una secuencia de 50 caracteres.
Conectar con LLMs: cuando un modelo dice 'contexto de 200K tokens' o cobra por millón de tokens, se refiere a subpalabras. Eso lo veremos con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código en el notebook 03. Puntos importantes: el índice 0 nunca se asigna a una palabra (es el padding); el 1 es el token OOV. Sin oov_token, las palabras desconocidas simplemente desaparecen de la secuencia y el modelo ni se entera de que había algo.
Pregunta trampa: ¿'modelo'=18 está más cerca de 'aprende'=19 que de 'red'=40? No: los índices son etiquetas, no medidas de similitud. Esa es la motivación de los embeddings.
Mencionar TextVectorization como alternativa moderna de Keras 3 (sección 7 del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en el notebook 04 que np.array con listas de distinto largo falla (error de forma inhomogénea). Luego pad_sequences.
Las cifras del percentil vienen del notebook 04 con el dataset de opiniones. En IMDb el p90 es 457 tokens; acotamos a 300 por memoria.
Adelantar el concepto de máscara: con Embedding(mask_zero=True) el modelo ignora los ceros.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2 (25 min). La pregunta que guía este bloque: ¿cómo hacemos que 'perro' y 'gato' estén más cerca entre sí que de 'avión'?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resumen de la evolución (también está en el README). IBM señala que one-hot crea vectores dispersos con dimensión igual al tamaño del vocabulario, ineficientes y sin significado; BoW y TF-IDF carecen de la profundidad contextual de los embeddings basados en predicción.
TF-IDF sigue siendo un baseline muy fuerte: en el laboratorio lo comparamos contra la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matriz es la salida real de TfidfVectorizer sobre tres frases. IBM explica que TF-IDF mejora BoW reduciendo el peso de las palabras comunes en toda la colección; y lista como limitaciones de BoW: ignora correlaciones y contexto, no maneja frases multi-palabra, trata igual las palabras polisémicas y genera modelos dispersos de alta dimensión propensos a sobreajuste.
En el notebook 05 hay un mini buscador de noticias con TF-IDF + similitud coseno: buscar 'partido de futbol' falla porque las noticias usan 'campeonato' y 'torneo'.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Contraste visual: one-hot (casi todo ceros) vs embedding (pocos números, todos con información; 'perro' y 'gato' tienen patrones parecidos).
La analogía rey − hombre + mujer ≈ reina es el ejemplo clásico de Word2Vec (Mikolov et al., 2013): la diferencia hombre→mujer es aproximadamente la misma dirección que rey→reina. El diagrama es ilustrativo (2D); los embeddings reales tienen 50 a 300+ dimensiones.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Similitud coseno: mide el ángulo, no la longitud del vector. El diagrama muestra perro y gato con ángulo pequeño (coseno ≈ 0.98) y avión con ángulo grande.
Resumen de IBM (ibm.com/think/topics/word-embeddings): Word2Vec tiene dos arquitecturas, CBOW (predice la palabra objetivo desde el contexto, mejor con palabras frecuentes) y Skip-gram (predice el contexto desde la palabra, mejor con palabras raras). GloVe usa estadísticas globales de co-ocurrencia. FastText usa n-gramas de caracteres y maneja OOV. Limitación que menciona IBM: Word2Vec no maneja la polisemia (un vector por palabra) →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capa Embedding es literalmente una matriz W de V filas por d columnas. Pedir el vector del token 3 es leer la fila 3: el notebook 06 lo comprueba con np.allclose. Al inicio los valores son aleatorios; el entrenamiento los ajusta.
Cambio importante para quien tenga código viejo: en Keras 3 'input_length' está obsoleto (lanza warning) y sin keras.Input el summary aparece sin parámetros. Por eso todos los notebooks usan keras.Input(shape=(MAX_LEN,)).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Gráfico real del notebook 06: proyección PCA de los vectores de 8 dimensiones antes y después de entrenar con 320 opiniones. Antes: puntos aleatorios. Después: palabras positivas a la izquierda, negativas a la derecha, neutras en el centro.
Punto pedagógico: la Embedding aprende lo que la tarea necesita. Para sentimiento aprende 'polaridad'; con tareas más generales (predecir la palabra siguiente, como Word2Vec o los LLMs) aprende relaciones mucho más ricas.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Después de la pausa. Bloque práctico (30 min). Los estudiantes ejecutan el notebook 07 mientras el docente comenta las decisiones; luego el 08 en parejas.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reales del notebook 07 (semilla 42). Importante: el dataset original tenía la etiqueta escrita dentro del texto ('caso positivo 1') y frases repetidas, así que el modelo sacaba 100 % haciendo trampa. Se reemplazó por 320 opiniones únicas.
Análisis de errores: 'no estuvo nada mal' se clasifica como negativo porque el promedio de embeddings ve 'no', 'nada' y 'mal', todas palabras negativas, y no ve el orden. Esto motiva la próxima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real del notebook 08. La lección no es qué configuración 'gana' (las diferencias no son significativas con 15 ejemplos de test), sino el método: variar un hiperparámetro a la vez, comparar contra un baseline y desconfiar de diferencias pequeñas. Para decidir en serio se usa validación cruzada o más datos, que es justamente el proyecto IMDb.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reales al ejecutar el notebook actividad.ipynb con las 50 000 reseñas (CPU, menos de 1 minuto de entrenamiento). Mejoras aplicadas al proyecto: el tokenizer se ajusta solo con train, la validación de EarlyStopping sale de train (no del test), maxlen por percentil, mask_zero y compatibilidad con Keras 3.
Notar en las curvas que el modelo empieza a sobreajustar desde la época 2: EarlyStopping restaura los mejores pesos.
Entregables: repositorio en GitHub, código organizado en src/, notebook ejecutado, README y evidencias en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para revisar el proyecto IMDb antes de entregar. El último error ('confiar en resultados perfectos') pasó en este mismo material: el dataset original daba 100 % porque la etiqueta estaba escrita en el texto. Buena anécdota para la clase: si un resultado es demasiado bueno, revisa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puente para cerrar: ¿cómo debería cambiar el vector de 'banco' entre contexto financiero y geográfico? ¿Qué gana el modelo si cada palabra pondera dinámicamente a las demás? ¿Por qué la atención escaló mejor que RNN/LSTM en contextos largos?
IBM también menciona que los Transformers y la atención capturan relaciones bidireccionales y dependencias de largo alcance, base de BERT y 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Recordar la fecha de entrega del proyecto IMDb (rúbrica en el README del proyecto). Los artículos de IBM Think son lecturas cortas en inglés que cubren exactamente los temas de hoy; fueron la fuente de las definiciones citadas en las diapositivas.
Preguntas finales abiertas al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O">
    <p:bg>
      <p:bgPr>
        <a:solidFill>
          <a:srgbClr val="241033"/>
        </a:solidFill>
      </p:bgPr>
    </p:bg>
    <p:spTree>
      <p:nvGrpSpPr>
        <p:cNvPr id="1" name=""/>
        <p:cNvGrpSpPr/>
        <p:nvPr/>
      </p:nvGrpSpPr>
      <p:grpSpPr>
        <a:xfrm>
          <a:off x="0" y="0"/>
          <a:ext cx="0" cy="0"/>
          <a:chOff x="0" y="0"/>
          <a:chExt cx="0" cy="0"/>
        </a:xfrm>
      </p:grpSpPr>
      <p:pic>
        <p:nvPicPr>
          <p:cNvPr id="2" name="Image 0" descr="/home/claude/tplx/ppt/media/image-1-1.png">    </p:cNvPr>
          <p:cNvPicPr>
            <a:picLocks noChangeAspect="1"/>
          </p:cNvPicPr>
          <p:nvPr/>
        </p:nvPicPr>
        <p:blipFill>
          <a:blip r:embed="rId1"/>
          <a:stretch>
            <a:fillRect/>
          </a:stretch>
        </p:blipFill>
        <p:spPr>
          <a:xfrm>
            <a:off x="8732520" y="173736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rgbClr val="241033"/>
        </a:solidFill>
      </p:bgPr>
    </p:bg>
    <p:spTree>
      <p:nvGrpSpPr>
        <p:cNvPr id="1" name=""/>
        <p:cNvGrpSpPr/>
        <p:nvPr/>
      </p:nvGrpSpPr>
      <p:grpSpPr>
        <a:xfrm>
          <a:off x="0" y="0"/>
          <a:ext cx="0" cy="0"/>
          <a:chOff x="0" y="0"/>
          <a:chExt cx="0" cy="0"/>
        </a:xfrm>
      </p:grpSpPr>
      <p:pic>
        <p:nvPicPr>
          <p:cNvPr id="2" name="Image 0" descr="/home/claude/tplx/ppt/media/image-1-1.png">    </p:cNvPr>
          <p:cNvPicPr>
            <a:picLocks noChangeAspect="1"/>
          </p:cNvPicPr>
          <p:nvPr/>
        </p:nvPicPr>
        <p:blipFill>
          <a:blip r:embed="rId1"/>
          <a:stretch>
            <a:fillRect/>
          </a:stretch>
        </p:blipFill>
        <p:spPr>
          <a:xfrm>
            <a:off x="11155680" y="6035040"/>
            <a:ext cx="594360" cy="594360"/>
          </a:xfrm>
          <a:prstGeom prst="rect">
            <a:avLst/>
          </a:prstGeom>
        </p:spPr>
      </p:pic>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8BE0"/>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pic>
        <p:nvPicPr>
          <p:cNvPr id="2" name="Image 0" descr="/home/claude/deck/img/logo_morado.png">    </p:cNvPr>
          <p:cNvPicPr>
            <a:picLocks noChangeAspect="1"/>
          </p:cNvPicPr>
          <p:nvPr/>
        </p:nvPicPr>
        <p:blipFill>
          <a:blip r:embed="rId1"/>
          <a:stretch>
            <a:fillRect/>
          </a:stretch>
        </p:blipFill>
        <p:spPr>
          <a:xfrm>
            <a:off x="11247120" y="6172200"/>
            <a:ext cx="457200" cy="457200"/>
          </a:xfrm>
          <a:prstGeom prst="rect">
            <a:avLst/>
          </a:prstGeom>
        </p:spPr>
      </p:pic>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6E6480"/>
                </a:solidFill>
                <a:latin typeface="Calibri" pitchFamily="34" charset="0"/>
                <a:ea typeface="Calibri" pitchFamily="34" charset="-122"/>
                <a:cs typeface="Calibri" pitchFamily="34" charset="-120"/>
              </a:rPr>
              <a:t>Clase 01  ·  Text Mining y Embeddings</a:t>
            </a:r>
            <a:endParaRPr lang="en-US" sz="1000" dirty="0"/>
          </a:p>
        </p:txBody>
      </p:sp>
      <p:sp>
        <p:nvSpPr>
          <p:cNvPr id="4" name="Text 1"/>
          <p:cNvSpPr/>
          <p:nvPr>
            <p:ph idx="102" type="title" hasCustomPrompt="1"/>
          </p:nvPr>
        </p:nvSpPr>
        <p:spPr>
          <a:xfrm>
            <a:off x="548640" y="320040"/>
            <a:ext cx="10515600" cy="731520"/>
          </a:xfrm>
          <a:prstGeom prst="rect">
            <a:avLst/>
          </a:prstGeom>
          <a:noFill/>
          <a:ln/>
        </p:spPr>
        <p:txBody>
          <a:bodyPr wrap="square" rtlCol="0"/>
          <a:lstStyle>
            <a:lvl1pPr algn="l" indent="0" marL="0">
              <a:buNone/>
              <a:defRPr lang="en-US" sz="3200" b="1" dirty="0">
                <a:solidFill>
                  <a:srgbClr val="241033"/>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5" name="Text 1"/>
          <p:cNvSpPr/>
          <p:nvPr>
            <p:ph idx="103" type="body" hasCustomPrompt="1"/>
          </p:nvPr>
        </p:nvSpPr>
        <p:spPr>
          <a:xfrm>
            <a:off x="548640" y="109728"/>
            <a:ext cx="8229600" cy="256032"/>
          </a:xfrm>
          <a:prstGeom prst="rect">
            <a:avLst/>
          </a:prstGeom>
          <a:noFill/>
          <a:ln/>
        </p:spPr>
        <p:txBody>
          <a:bodyPr wrap="square" rtlCol="0"/>
          <a:lstStyle>
            <a:lvl1pPr indent="0" marL="0">
              <a:buNone/>
              <a:defRPr lang="en-US" sz="1100" b="1" spc="300" kern="0" dirty="0">
                <a:solidFill>
                  <a:srgbClr val="C400C4"/>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8BE0"/>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hyperlink" Target="https://www.ibm.com/think/topics/natural-language-processing" TargetMode="External"/><Relationship Id="rId4" Type="http://schemas.openxmlformats.org/officeDocument/2006/relationships/hyperlink" Target="https://www.ibm.com/think/topics/text-mining" TargetMode="External"/><Relationship Id="rId6" Type="http://schemas.openxmlformats.org/officeDocument/2006/relationships/hyperlink" Target="https://www.ibm.com/think/topics/stemming-lemmatization" TargetMode="External"/><Relationship Id="rId8" Type="http://schemas.openxmlformats.org/officeDocument/2006/relationships/hyperlink" Target="https://www.ibm.com/think/topics/bag-of-words" TargetMode="External"/><Relationship Id="rId10" Type="http://schemas.openxmlformats.org/officeDocument/2006/relationships/hyperlink" Target="https://www.ibm.com/think/topics/word-embeddings" TargetMode="External"/><Relationship Id="rId1" Type="http://schemas.openxmlformats.org/officeDocument/2006/relationships/image" Target="../media/image-27-1.png"/><Relationship Id="rId3" Type="http://schemas.openxmlformats.org/officeDocument/2006/relationships/image" Target="../media/image-27-2.png"/><Relationship Id="rId5" Type="http://schemas.openxmlformats.org/officeDocument/2006/relationships/image" Target="../media/image-27-3.png"/><Relationship Id="rId7" Type="http://schemas.openxmlformats.org/officeDocument/2006/relationships/image" Target="../media/image-27-4.png"/><Relationship Id="rId9" Type="http://schemas.openxmlformats.org/officeDocument/2006/relationships/image" Target="../media/image-27-5.png"/><Relationship Id="rId11" Type="http://schemas.openxmlformats.org/officeDocument/2006/relationships/slideLayout" Target="../slideLayouts/slideLayout4.xml"/><Relationship Id="rId1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66928" y="1371600"/>
            <a:ext cx="7863840" cy="274320"/>
          </a:xfrm>
          <a:prstGeom prst="rect">
            <a:avLst/>
          </a:prstGeom>
          <a:noFill/>
          <a:ln/>
        </p:spPr>
        <p:txBody>
          <a:bodyPr wrap="square" lIns="0" tIns="0" rIns="0" bIns="0" rtlCol="0" anchor="ctr"/>
          <a:lstStyle/>
          <a:p>
            <a:pPr indent="0" marL="0">
              <a:buNone/>
            </a:pPr>
            <a:r>
              <a:rPr lang="en-US" sz="1100" b="1" spc="300" kern="0" dirty="0">
                <a:solidFill>
                  <a:srgbClr val="B98BE0"/>
                </a:solidFill>
                <a:latin typeface="Calibri" pitchFamily="34" charset="0"/>
                <a:ea typeface="Calibri" pitchFamily="34" charset="-122"/>
                <a:cs typeface="Calibri" pitchFamily="34" charset="-120"/>
              </a:rPr>
              <a:t>UNIDAD 2  ·  NLP E IA GENERATIVA  ·  CIENTÍFICO DE DATOS E IA APLICADA</a:t>
            </a:r>
            <a:endParaRPr lang="en-US" sz="1100" dirty="0"/>
          </a:p>
        </p:txBody>
      </p:sp>
      <p:sp>
        <p:nvSpPr>
          <p:cNvPr id="3" name="Text 1"/>
          <p:cNvSpPr txBox="1"/>
          <p:nvPr/>
        </p:nvSpPr>
        <p:spPr>
          <a:xfrm>
            <a:off x="566928" y="1783080"/>
            <a:ext cx="786384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Text Mining y Embeddings</a:t>
            </a:r>
            <a:endParaRPr lang="en-US" sz="4000" dirty="0"/>
          </a:p>
        </p:txBody>
      </p:sp>
      <p:sp>
        <p:nvSpPr>
          <p:cNvPr id="4" name="Text 2"/>
          <p:cNvSpPr txBox="1"/>
          <p:nvPr/>
        </p:nvSpPr>
        <p:spPr>
          <a:xfrm>
            <a:off x="566928" y="2670048"/>
            <a:ext cx="7863840" cy="411480"/>
          </a:xfrm>
          <a:prstGeom prst="rect">
            <a:avLst/>
          </a:prstGeom>
          <a:noFill/>
          <a:ln/>
        </p:spPr>
        <p:txBody>
          <a:bodyPr wrap="square" lIns="0" tIns="0" rIns="0" bIns="0" rtlCol="0" anchor="ctr"/>
          <a:lstStyle/>
          <a:p>
            <a:pPr indent="0" marL="0">
              <a:buNone/>
            </a:pPr>
            <a:r>
              <a:rPr lang="en-US" sz="1900" dirty="0">
                <a:solidFill>
                  <a:srgbClr val="B98BE0"/>
                </a:solidFill>
                <a:latin typeface="Calibri" pitchFamily="34" charset="0"/>
                <a:ea typeface="Calibri" pitchFamily="34" charset="-122"/>
                <a:cs typeface="Calibri" pitchFamily="34" charset="-120"/>
              </a:rPr>
              <a:t>Del texto crudo a vectores con significado</a:t>
            </a:r>
            <a:endParaRPr lang="en-US" sz="1900" dirty="0"/>
          </a:p>
        </p:txBody>
      </p:sp>
      <p:sp>
        <p:nvSpPr>
          <p:cNvPr id="5" name="Shape 3"/>
          <p:cNvSpPr/>
          <p:nvPr/>
        </p:nvSpPr>
        <p:spPr>
          <a:xfrm>
            <a:off x="566928" y="3401568"/>
            <a:ext cx="3200400" cy="420624"/>
          </a:xfrm>
          <a:prstGeom prst="roundRect">
            <a:avLst>
              <a:gd name="adj" fmla="val 13043"/>
            </a:avLst>
          </a:prstGeom>
          <a:solidFill>
            <a:srgbClr val="C400C4"/>
          </a:solidFill>
          <a:ln w="12700">
            <a:solidFill>
              <a:srgbClr val="C400C4"/>
            </a:solidFill>
            <a:prstDash val="solid"/>
          </a:ln>
        </p:spPr>
      </p:sp>
      <p:sp>
        <p:nvSpPr>
          <p:cNvPr id="6" name="Text 4"/>
          <p:cNvSpPr txBox="1"/>
          <p:nvPr/>
        </p:nvSpPr>
        <p:spPr>
          <a:xfrm>
            <a:off x="566928" y="3401568"/>
            <a:ext cx="3200400"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Clase 01  ·  4 de octubre</a:t>
            </a:r>
            <a:endParaRPr lang="en-US" sz="1300" dirty="0"/>
          </a:p>
        </p:txBody>
      </p:sp>
      <p:sp>
        <p:nvSpPr>
          <p:cNvPr id="7" name="Text 5"/>
          <p:cNvSpPr txBox="1"/>
          <p:nvPr/>
        </p:nvSpPr>
        <p:spPr>
          <a:xfrm>
            <a:off x="566928" y="4069080"/>
            <a:ext cx="7863840" cy="274320"/>
          </a:xfrm>
          <a:prstGeom prst="rect">
            <a:avLst/>
          </a:prstGeom>
          <a:noFill/>
          <a:ln/>
        </p:spPr>
        <p:txBody>
          <a:bodyPr wrap="square" lIns="0" tIns="0" rIns="0" bIns="0" rtlCol="0" anchor="ctr"/>
          <a:lstStyle/>
          <a:p>
            <a:pPr indent="0" marL="0">
              <a:buNone/>
            </a:pPr>
            <a:r>
              <a:rPr lang="en-US" sz="1200" dirty="0">
                <a:solidFill>
                  <a:srgbClr val="8F84A3"/>
                </a:solidFill>
                <a:latin typeface="Calibri" pitchFamily="34" charset="0"/>
                <a:ea typeface="Calibri" pitchFamily="34" charset="-122"/>
                <a:cs typeface="Calibri" pitchFamily="34" charset="-120"/>
              </a:rPr>
              <a:t>Limpieza · Tokenización · Padding · TF-IDF · Embeddings · Keras</a:t>
            </a:r>
            <a:endParaRPr lang="en-US" sz="1200" dirty="0"/>
          </a:p>
        </p:txBody>
      </p:sp>
      <p:sp>
        <p:nvSpPr>
          <p:cNvPr id="8" name="Text 6"/>
          <p:cNvSpPr txBox="1"/>
          <p:nvPr/>
        </p:nvSpPr>
        <p:spPr>
          <a:xfrm>
            <a:off x="566928" y="5943600"/>
            <a:ext cx="7863840" cy="274320"/>
          </a:xfrm>
          <a:prstGeom prst="rect">
            <a:avLst/>
          </a:prstGeom>
          <a:noFill/>
          <a:ln/>
        </p:spPr>
        <p:txBody>
          <a:bodyPr wrap="square" lIns="0" tIns="0" rIns="0" bIns="0" rtlCol="0" anchor="ctr"/>
          <a:lstStyle/>
          <a:p>
            <a:pPr indent="0" marL="0">
              <a:buNone/>
            </a:pPr>
            <a:r>
              <a:rPr lang="en-US" sz="1200" i="1" dirty="0">
                <a:solidFill>
                  <a:srgbClr val="B98BE0"/>
                </a:solidFill>
                <a:latin typeface="Calibri" pitchFamily="34" charset="0"/>
                <a:ea typeface="Calibri" pitchFamily="34" charset="-122"/>
                <a:cs typeface="Calibri" pitchFamily="34" charset="-120"/>
              </a:rPr>
              <a:t>“El futuro lo creas tú…”</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Agenda de hoy</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RUTA DE LA SESIÓN</a:t>
            </a:r>
            <a:endParaRPr lang="en-US" sz="1100" dirty="0"/>
          </a:p>
        </p:txBody>
      </p:sp>
      <p:sp>
        <p:nvSpPr>
          <p:cNvPr id="4" name="Shape 2"/>
          <p:cNvSpPr/>
          <p:nvPr/>
        </p:nvSpPr>
        <p:spPr>
          <a:xfrm>
            <a:off x="548640" y="1371600"/>
            <a:ext cx="3566160" cy="4572000"/>
          </a:xfrm>
          <a:prstGeom prst="roundRect">
            <a:avLst>
              <a:gd name="adj" fmla="val 3077"/>
            </a:avLst>
          </a:prstGeom>
          <a:solidFill>
            <a:srgbClr val="241033"/>
          </a:solidFill>
          <a:ln w="12700">
            <a:solidFill>
              <a:srgbClr val="241033"/>
            </a:solidFill>
            <a:prstDash val="solid"/>
          </a:ln>
        </p:spPr>
      </p:sp>
      <p:sp>
        <p:nvSpPr>
          <p:cNvPr id="5" name="Text 3"/>
          <p:cNvSpPr txBox="1"/>
          <p:nvPr/>
        </p:nvSpPr>
        <p:spPr>
          <a:xfrm>
            <a:off x="868680" y="1691640"/>
            <a:ext cx="3017520" cy="274320"/>
          </a:xfrm>
          <a:prstGeom prst="rect">
            <a:avLst/>
          </a:prstGeom>
          <a:noFill/>
          <a:ln/>
        </p:spPr>
        <p:txBody>
          <a:bodyPr wrap="square" lIns="0" tIns="0" rIns="0" bIns="0" rtlCol="0" anchor="t"/>
          <a:lstStyle/>
          <a:p>
            <a:pPr indent="0" marL="0">
              <a:buNone/>
            </a:pPr>
            <a:r>
              <a:rPr lang="en-US" sz="1100" b="1" spc="300" kern="0" dirty="0">
                <a:solidFill>
                  <a:srgbClr val="B98BE0"/>
                </a:solidFill>
                <a:latin typeface="Calibri" pitchFamily="34" charset="0"/>
                <a:ea typeface="Calibri" pitchFamily="34" charset="-122"/>
                <a:cs typeface="Calibri" pitchFamily="34" charset="-120"/>
              </a:rPr>
              <a:t>LA PREGUNTA DE HOY</a:t>
            </a:r>
            <a:endParaRPr lang="en-US" sz="1100" dirty="0"/>
          </a:p>
        </p:txBody>
      </p:sp>
      <p:sp>
        <p:nvSpPr>
          <p:cNvPr id="6" name="Text 4"/>
          <p:cNvSpPr txBox="1"/>
          <p:nvPr/>
        </p:nvSpPr>
        <p:spPr>
          <a:xfrm>
            <a:off x="868680" y="2103120"/>
            <a:ext cx="2971800" cy="210312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¿Cómo convierte una máquina el texto en números con significado?</a:t>
            </a:r>
            <a:endParaRPr lang="en-US" sz="2400" dirty="0"/>
          </a:p>
        </p:txBody>
      </p:sp>
      <p:sp>
        <p:nvSpPr>
          <p:cNvPr id="7" name="Shape 5"/>
          <p:cNvSpPr/>
          <p:nvPr/>
        </p:nvSpPr>
        <p:spPr>
          <a:xfrm>
            <a:off x="868680" y="4572000"/>
            <a:ext cx="2926080" cy="1005840"/>
          </a:xfrm>
          <a:prstGeom prst="roundRect">
            <a:avLst>
              <a:gd name="adj" fmla="val 9091"/>
            </a:avLst>
          </a:prstGeom>
          <a:solidFill>
            <a:srgbClr val="2B0A3D"/>
          </a:solidFill>
          <a:ln w="12700">
            <a:solidFill>
              <a:srgbClr val="2B0A3D"/>
            </a:solidFill>
            <a:prstDash val="solid"/>
          </a:ln>
        </p:spPr>
      </p:sp>
      <p:sp>
        <p:nvSpPr>
          <p:cNvPr id="8" name="Text 6"/>
          <p:cNvSpPr txBox="1"/>
          <p:nvPr/>
        </p:nvSpPr>
        <p:spPr>
          <a:xfrm>
            <a:off x="1051560" y="4572000"/>
            <a:ext cx="2651760" cy="10058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8 notebooks + 1 proyecto
</a:t>
            </a:r>
            <a:pPr indent="0" marL="0">
              <a:buNone/>
            </a:pPr>
            <a:r>
              <a:rPr lang="en-US" sz="1400" dirty="0">
                <a:solidFill>
                  <a:srgbClr val="B98BE0"/>
                </a:solidFill>
                <a:latin typeface="Calibri" pitchFamily="34" charset="0"/>
                <a:ea typeface="Calibri" pitchFamily="34" charset="-122"/>
                <a:cs typeface="Calibri" pitchFamily="34" charset="-120"/>
              </a:rPr>
              <a:t>Ábrelos en orden: NB 01 → NB 08</a:t>
            </a:r>
            <a:endParaRPr lang="en-US" sz="1400" dirty="0"/>
          </a:p>
        </p:txBody>
      </p:sp>
      <p:sp>
        <p:nvSpPr>
          <p:cNvPr id="9" name="Shape 7"/>
          <p:cNvSpPr/>
          <p:nvPr/>
        </p:nvSpPr>
        <p:spPr>
          <a:xfrm>
            <a:off x="4480560" y="1371600"/>
            <a:ext cx="7132320" cy="676656"/>
          </a:xfrm>
          <a:prstGeom prst="roundRect">
            <a:avLst>
              <a:gd name="adj" fmla="val 16216"/>
            </a:avLst>
          </a:prstGeom>
          <a:solidFill>
            <a:srgbClr val="F4EEFA"/>
          </a:solidFill>
          <a:ln w="12700">
            <a:solidFill>
              <a:srgbClr val="F4EEFA"/>
            </a:solidFill>
            <a:prstDash val="solid"/>
          </a:ln>
        </p:spPr>
      </p:sp>
      <p:sp>
        <p:nvSpPr>
          <p:cNvPr id="10" name="Shape 8"/>
          <p:cNvSpPr/>
          <p:nvPr/>
        </p:nvSpPr>
        <p:spPr>
          <a:xfrm>
            <a:off x="4617720" y="1463040"/>
            <a:ext cx="493776" cy="493776"/>
          </a:xfrm>
          <a:prstGeom prst="ellipse">
            <a:avLst/>
          </a:prstGeom>
          <a:solidFill>
            <a:srgbClr val="6A0DAD"/>
          </a:solidFill>
          <a:ln w="12700">
            <a:solidFill>
              <a:srgbClr val="6A0DAD"/>
            </a:solidFill>
            <a:prstDash val="solid"/>
          </a:ln>
        </p:spPr>
      </p:sp>
      <p:sp>
        <p:nvSpPr>
          <p:cNvPr id="11" name="Text 9"/>
          <p:cNvSpPr txBox="1"/>
          <p:nvPr/>
        </p:nvSpPr>
        <p:spPr>
          <a:xfrm>
            <a:off x="4617720" y="1463040"/>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12" name="Text 10"/>
          <p:cNvSpPr txBox="1"/>
          <p:nvPr/>
        </p:nvSpPr>
        <p:spPr>
          <a:xfrm>
            <a:off x="5257800" y="1371600"/>
            <a:ext cx="685800" cy="676656"/>
          </a:xfrm>
          <a:prstGeom prst="rect">
            <a:avLst/>
          </a:prstGeom>
          <a:noFill/>
          <a:ln/>
        </p:spPr>
        <p:txBody>
          <a:bodyPr wrap="square" lIns="0" tIns="0" rIns="0" bIns="0" rtlCol="0" anchor="ctr"/>
          <a:lstStyle/>
          <a:p>
            <a:pPr indent="0" marL="0">
              <a:buNone/>
            </a:pPr>
            <a:r>
              <a:rPr lang="en-US" sz="1500" b="1" dirty="0">
                <a:solidFill>
                  <a:srgbClr val="C400C4"/>
                </a:solidFill>
                <a:latin typeface="Calibri" pitchFamily="34" charset="0"/>
                <a:ea typeface="Calibri" pitchFamily="34" charset="-122"/>
                <a:cs typeface="Calibri" pitchFamily="34" charset="-120"/>
              </a:rPr>
              <a:t>0:00</a:t>
            </a:r>
            <a:endParaRPr lang="en-US" sz="1500" dirty="0"/>
          </a:p>
        </p:txBody>
      </p:sp>
      <p:sp>
        <p:nvSpPr>
          <p:cNvPr id="13" name="Text 11"/>
          <p:cNvSpPr txBox="1"/>
          <p:nvPr/>
        </p:nvSpPr>
        <p:spPr>
          <a:xfrm>
            <a:off x="5989320" y="1426464"/>
            <a:ext cx="4023360" cy="329184"/>
          </a:xfrm>
          <a:prstGeom prst="rect">
            <a:avLst/>
          </a:prstGeom>
          <a:noFill/>
          <a:ln/>
        </p:spPr>
        <p:txBody>
          <a:bodyPr wrap="square" lIns="0" tIns="0" rIns="0" bIns="0" rtlCol="0" anchor="t"/>
          <a:lstStyle/>
          <a:p>
            <a:pPr indent="0" marL="0">
              <a:buNone/>
            </a:pPr>
            <a:r>
              <a:rPr lang="en-US" sz="1600" b="1" dirty="0">
                <a:solidFill>
                  <a:srgbClr val="241033"/>
                </a:solidFill>
                <a:latin typeface="Calibri" pitchFamily="34" charset="0"/>
                <a:ea typeface="Calibri" pitchFamily="34" charset="-122"/>
                <a:cs typeface="Calibri" pitchFamily="34" charset="-120"/>
              </a:rPr>
              <a:t>¿Qué es NLP y Text Mining?</a:t>
            </a:r>
            <a:endParaRPr lang="en-US" sz="1600" dirty="0"/>
          </a:p>
        </p:txBody>
      </p:sp>
      <p:sp>
        <p:nvSpPr>
          <p:cNvPr id="14" name="Text 12"/>
          <p:cNvSpPr txBox="1"/>
          <p:nvPr/>
        </p:nvSpPr>
        <p:spPr>
          <a:xfrm>
            <a:off x="5989320" y="1737360"/>
            <a:ext cx="4023360" cy="274320"/>
          </a:xfrm>
          <a:prstGeom prst="rect">
            <a:avLst/>
          </a:prstGeom>
          <a:noFill/>
          <a:ln/>
        </p:spPr>
        <p:txBody>
          <a:bodyPr wrap="square" lIns="0" tIns="0" rIns="0" bIns="0" rtlCol="0" anchor="t"/>
          <a:lstStyle/>
          <a:p>
            <a:pPr indent="0" marL="0">
              <a:buNone/>
            </a:pPr>
            <a:r>
              <a:rPr lang="en-US" sz="1200" dirty="0">
                <a:solidFill>
                  <a:srgbClr val="3D3350"/>
                </a:solidFill>
                <a:latin typeface="Calibri" pitchFamily="34" charset="0"/>
                <a:ea typeface="Calibri" pitchFamily="34" charset="-122"/>
                <a:cs typeface="Calibri" pitchFamily="34" charset="-120"/>
              </a:rPr>
              <a:t>Conceptos, casos reales y el pipeline</a:t>
            </a:r>
            <a:endParaRPr lang="en-US" sz="1200" dirty="0"/>
          </a:p>
        </p:txBody>
      </p:sp>
      <p:sp>
        <p:nvSpPr>
          <p:cNvPr id="15" name="Shape 13"/>
          <p:cNvSpPr/>
          <p:nvPr/>
        </p:nvSpPr>
        <p:spPr>
          <a:xfrm>
            <a:off x="10241280" y="1545336"/>
            <a:ext cx="1234440" cy="329184"/>
          </a:xfrm>
          <a:prstGeom prst="roundRect">
            <a:avLst>
              <a:gd name="adj" fmla="val 50000"/>
            </a:avLst>
          </a:prstGeom>
          <a:solidFill>
            <a:srgbClr val="EADFF5"/>
          </a:solidFill>
          <a:ln w="12700">
            <a:solidFill>
              <a:srgbClr val="EADFF5"/>
            </a:solidFill>
            <a:prstDash val="solid"/>
          </a:ln>
        </p:spPr>
      </p:sp>
      <p:sp>
        <p:nvSpPr>
          <p:cNvPr id="16" name="Text 14"/>
          <p:cNvSpPr txBox="1"/>
          <p:nvPr/>
        </p:nvSpPr>
        <p:spPr>
          <a:xfrm>
            <a:off x="10241280" y="1545336"/>
            <a:ext cx="1234440" cy="329184"/>
          </a:xfrm>
          <a:prstGeom prst="rect">
            <a:avLst/>
          </a:prstGeom>
          <a:noFill/>
          <a:ln/>
        </p:spPr>
        <p:txBody>
          <a:bodyPr wrap="square" lIns="0" tIns="0" rIns="0" bIns="0" rtlCol="0" anchor="ctr"/>
          <a:lstStyle/>
          <a:p>
            <a:pPr algn="ctr" indent="0" marL="0">
              <a:buNone/>
            </a:pPr>
            <a:r>
              <a:rPr lang="en-US" sz="1100" b="1" dirty="0">
                <a:solidFill>
                  <a:srgbClr val="6A0DAD"/>
                </a:solidFill>
                <a:latin typeface="Calibri" pitchFamily="34" charset="0"/>
                <a:ea typeface="Calibri" pitchFamily="34" charset="-122"/>
                <a:cs typeface="Calibri" pitchFamily="34" charset="-120"/>
              </a:rPr>
              <a:t>Diapositivas</a:t>
            </a:r>
            <a:endParaRPr lang="en-US" sz="1100" dirty="0"/>
          </a:p>
        </p:txBody>
      </p:sp>
      <p:sp>
        <p:nvSpPr>
          <p:cNvPr id="17" name="Shape 15"/>
          <p:cNvSpPr/>
          <p:nvPr/>
        </p:nvSpPr>
        <p:spPr>
          <a:xfrm>
            <a:off x="4480560" y="2157984"/>
            <a:ext cx="7132320" cy="676656"/>
          </a:xfrm>
          <a:prstGeom prst="roundRect">
            <a:avLst>
              <a:gd name="adj" fmla="val 16216"/>
            </a:avLst>
          </a:prstGeom>
          <a:solidFill>
            <a:srgbClr val="FFFFFF"/>
          </a:solidFill>
          <a:ln w="12700">
            <a:solidFill>
              <a:srgbClr val="FFFFFF"/>
            </a:solidFill>
            <a:prstDash val="solid"/>
          </a:ln>
        </p:spPr>
      </p:sp>
      <p:sp>
        <p:nvSpPr>
          <p:cNvPr id="18" name="Shape 16"/>
          <p:cNvSpPr/>
          <p:nvPr/>
        </p:nvSpPr>
        <p:spPr>
          <a:xfrm>
            <a:off x="4617720" y="2249424"/>
            <a:ext cx="493776" cy="493776"/>
          </a:xfrm>
          <a:prstGeom prst="ellipse">
            <a:avLst/>
          </a:prstGeom>
          <a:solidFill>
            <a:srgbClr val="6A0DAD"/>
          </a:solidFill>
          <a:ln w="12700">
            <a:solidFill>
              <a:srgbClr val="6A0DAD"/>
            </a:solidFill>
            <a:prstDash val="solid"/>
          </a:ln>
        </p:spPr>
      </p:sp>
      <p:sp>
        <p:nvSpPr>
          <p:cNvPr id="19" name="Text 17"/>
          <p:cNvSpPr txBox="1"/>
          <p:nvPr/>
        </p:nvSpPr>
        <p:spPr>
          <a:xfrm>
            <a:off x="4617720" y="2249424"/>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20" name="Text 18"/>
          <p:cNvSpPr txBox="1"/>
          <p:nvPr/>
        </p:nvSpPr>
        <p:spPr>
          <a:xfrm>
            <a:off x="5257800" y="2157984"/>
            <a:ext cx="685800" cy="676656"/>
          </a:xfrm>
          <a:prstGeom prst="rect">
            <a:avLst/>
          </a:prstGeom>
          <a:noFill/>
          <a:ln/>
        </p:spPr>
        <p:txBody>
          <a:bodyPr wrap="square" lIns="0" tIns="0" rIns="0" bIns="0" rtlCol="0" anchor="ctr"/>
          <a:lstStyle/>
          <a:p>
            <a:pPr indent="0" marL="0">
              <a:buNone/>
            </a:pPr>
            <a:r>
              <a:rPr lang="en-US" sz="1500" b="1" dirty="0">
                <a:solidFill>
                  <a:srgbClr val="C400C4"/>
                </a:solidFill>
                <a:latin typeface="Calibri" pitchFamily="34" charset="0"/>
                <a:ea typeface="Calibri" pitchFamily="34" charset="-122"/>
                <a:cs typeface="Calibri" pitchFamily="34" charset="-120"/>
              </a:rPr>
              <a:t>0:15</a:t>
            </a:r>
            <a:endParaRPr lang="en-US" sz="1500" dirty="0"/>
          </a:p>
        </p:txBody>
      </p:sp>
      <p:sp>
        <p:nvSpPr>
          <p:cNvPr id="21" name="Text 19"/>
          <p:cNvSpPr txBox="1"/>
          <p:nvPr/>
        </p:nvSpPr>
        <p:spPr>
          <a:xfrm>
            <a:off x="5989320" y="2212848"/>
            <a:ext cx="4023360" cy="329184"/>
          </a:xfrm>
          <a:prstGeom prst="rect">
            <a:avLst/>
          </a:prstGeom>
          <a:noFill/>
          <a:ln/>
        </p:spPr>
        <p:txBody>
          <a:bodyPr wrap="square" lIns="0" tIns="0" rIns="0" bIns="0" rtlCol="0" anchor="t"/>
          <a:lstStyle/>
          <a:p>
            <a:pPr indent="0" marL="0">
              <a:buNone/>
            </a:pPr>
            <a:r>
              <a:rPr lang="en-US" sz="1600" b="1" dirty="0">
                <a:solidFill>
                  <a:srgbClr val="241033"/>
                </a:solidFill>
                <a:latin typeface="Calibri" pitchFamily="34" charset="0"/>
                <a:ea typeface="Calibri" pitchFamily="34" charset="-122"/>
                <a:cs typeface="Calibri" pitchFamily="34" charset="-120"/>
              </a:rPr>
              <a:t>Preparar el texto</a:t>
            </a:r>
            <a:endParaRPr lang="en-US" sz="1600" dirty="0"/>
          </a:p>
        </p:txBody>
      </p:sp>
      <p:sp>
        <p:nvSpPr>
          <p:cNvPr id="22" name="Text 20"/>
          <p:cNvSpPr txBox="1"/>
          <p:nvPr/>
        </p:nvSpPr>
        <p:spPr>
          <a:xfrm>
            <a:off x="5989320" y="2523744"/>
            <a:ext cx="4023360" cy="274320"/>
          </a:xfrm>
          <a:prstGeom prst="rect">
            <a:avLst/>
          </a:prstGeom>
          <a:noFill/>
          <a:ln/>
        </p:spPr>
        <p:txBody>
          <a:bodyPr wrap="square" lIns="0" tIns="0" rIns="0" bIns="0" rtlCol="0" anchor="t"/>
          <a:lstStyle/>
          <a:p>
            <a:pPr indent="0" marL="0">
              <a:buNone/>
            </a:pPr>
            <a:r>
              <a:rPr lang="en-US" sz="1200" dirty="0">
                <a:solidFill>
                  <a:srgbClr val="3D3350"/>
                </a:solidFill>
                <a:latin typeface="Calibri" pitchFamily="34" charset="0"/>
                <a:ea typeface="Calibri" pitchFamily="34" charset="-122"/>
                <a:cs typeface="Calibri" pitchFamily="34" charset="-120"/>
              </a:rPr>
              <a:t>Limpieza · tokenización · padding</a:t>
            </a:r>
            <a:endParaRPr lang="en-US" sz="1200" dirty="0"/>
          </a:p>
        </p:txBody>
      </p:sp>
      <p:sp>
        <p:nvSpPr>
          <p:cNvPr id="23" name="Shape 21"/>
          <p:cNvSpPr/>
          <p:nvPr/>
        </p:nvSpPr>
        <p:spPr>
          <a:xfrm>
            <a:off x="10241280" y="2331720"/>
            <a:ext cx="1234440" cy="329184"/>
          </a:xfrm>
          <a:prstGeom prst="roundRect">
            <a:avLst>
              <a:gd name="adj" fmla="val 50000"/>
            </a:avLst>
          </a:prstGeom>
          <a:solidFill>
            <a:srgbClr val="EADFF5"/>
          </a:solidFill>
          <a:ln w="12700">
            <a:solidFill>
              <a:srgbClr val="EADFF5"/>
            </a:solidFill>
            <a:prstDash val="solid"/>
          </a:ln>
        </p:spPr>
      </p:sp>
      <p:sp>
        <p:nvSpPr>
          <p:cNvPr id="24" name="Text 22"/>
          <p:cNvSpPr txBox="1"/>
          <p:nvPr/>
        </p:nvSpPr>
        <p:spPr>
          <a:xfrm>
            <a:off x="10241280" y="2331720"/>
            <a:ext cx="1234440" cy="329184"/>
          </a:xfrm>
          <a:prstGeom prst="rect">
            <a:avLst/>
          </a:prstGeom>
          <a:noFill/>
          <a:ln/>
        </p:spPr>
        <p:txBody>
          <a:bodyPr wrap="square" lIns="0" tIns="0" rIns="0" bIns="0" rtlCol="0" anchor="ctr"/>
          <a:lstStyle/>
          <a:p>
            <a:pPr algn="ctr" indent="0" marL="0">
              <a:buNone/>
            </a:pPr>
            <a:r>
              <a:rPr lang="en-US" sz="1100" b="1" dirty="0">
                <a:solidFill>
                  <a:srgbClr val="6A0DAD"/>
                </a:solidFill>
                <a:latin typeface="Calibri" pitchFamily="34" charset="0"/>
                <a:ea typeface="Calibri" pitchFamily="34" charset="-122"/>
                <a:cs typeface="Calibri" pitchFamily="34" charset="-120"/>
              </a:rPr>
              <a:t>NB 01–04</a:t>
            </a:r>
            <a:endParaRPr lang="en-US" sz="1100" dirty="0"/>
          </a:p>
        </p:txBody>
      </p:sp>
      <p:sp>
        <p:nvSpPr>
          <p:cNvPr id="25" name="Shape 23"/>
          <p:cNvSpPr/>
          <p:nvPr/>
        </p:nvSpPr>
        <p:spPr>
          <a:xfrm>
            <a:off x="4480560" y="2944368"/>
            <a:ext cx="7132320" cy="676656"/>
          </a:xfrm>
          <a:prstGeom prst="roundRect">
            <a:avLst>
              <a:gd name="adj" fmla="val 16216"/>
            </a:avLst>
          </a:prstGeom>
          <a:solidFill>
            <a:srgbClr val="F4EEFA"/>
          </a:solidFill>
          <a:ln w="12700">
            <a:solidFill>
              <a:srgbClr val="F4EEFA"/>
            </a:solidFill>
            <a:prstDash val="solid"/>
          </a:ln>
        </p:spPr>
      </p:sp>
      <p:sp>
        <p:nvSpPr>
          <p:cNvPr id="26" name="Shape 24"/>
          <p:cNvSpPr/>
          <p:nvPr/>
        </p:nvSpPr>
        <p:spPr>
          <a:xfrm>
            <a:off x="4617720" y="3035808"/>
            <a:ext cx="493776" cy="493776"/>
          </a:xfrm>
          <a:prstGeom prst="ellipse">
            <a:avLst/>
          </a:prstGeom>
          <a:solidFill>
            <a:srgbClr val="6A0DAD"/>
          </a:solidFill>
          <a:ln w="12700">
            <a:solidFill>
              <a:srgbClr val="6A0DAD"/>
            </a:solidFill>
            <a:prstDash val="solid"/>
          </a:ln>
        </p:spPr>
      </p:sp>
      <p:sp>
        <p:nvSpPr>
          <p:cNvPr id="27" name="Text 25"/>
          <p:cNvSpPr txBox="1"/>
          <p:nvPr/>
        </p:nvSpPr>
        <p:spPr>
          <a:xfrm>
            <a:off x="4617720" y="3035808"/>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8" name="Text 26"/>
          <p:cNvSpPr txBox="1"/>
          <p:nvPr/>
        </p:nvSpPr>
        <p:spPr>
          <a:xfrm>
            <a:off x="5257800" y="2944368"/>
            <a:ext cx="685800" cy="676656"/>
          </a:xfrm>
          <a:prstGeom prst="rect">
            <a:avLst/>
          </a:prstGeom>
          <a:noFill/>
          <a:ln/>
        </p:spPr>
        <p:txBody>
          <a:bodyPr wrap="square" lIns="0" tIns="0" rIns="0" bIns="0" rtlCol="0" anchor="ctr"/>
          <a:lstStyle/>
          <a:p>
            <a:pPr indent="0" marL="0">
              <a:buNone/>
            </a:pPr>
            <a:r>
              <a:rPr lang="en-US" sz="1500" b="1" dirty="0">
                <a:solidFill>
                  <a:srgbClr val="C400C4"/>
                </a:solidFill>
                <a:latin typeface="Calibri" pitchFamily="34" charset="0"/>
                <a:ea typeface="Calibri" pitchFamily="34" charset="-122"/>
                <a:cs typeface="Calibri" pitchFamily="34" charset="-120"/>
              </a:rPr>
              <a:t>0:40</a:t>
            </a:r>
            <a:endParaRPr lang="en-US" sz="1500" dirty="0"/>
          </a:p>
        </p:txBody>
      </p:sp>
      <p:sp>
        <p:nvSpPr>
          <p:cNvPr id="29" name="Text 27"/>
          <p:cNvSpPr txBox="1"/>
          <p:nvPr/>
        </p:nvSpPr>
        <p:spPr>
          <a:xfrm>
            <a:off x="5989320" y="2999232"/>
            <a:ext cx="4023360" cy="329184"/>
          </a:xfrm>
          <a:prstGeom prst="rect">
            <a:avLst/>
          </a:prstGeom>
          <a:noFill/>
          <a:ln/>
        </p:spPr>
        <p:txBody>
          <a:bodyPr wrap="square" lIns="0" tIns="0" rIns="0" bIns="0" rtlCol="0" anchor="t"/>
          <a:lstStyle/>
          <a:p>
            <a:pPr indent="0" marL="0">
              <a:buNone/>
            </a:pPr>
            <a:r>
              <a:rPr lang="en-US" sz="1600" b="1" dirty="0">
                <a:solidFill>
                  <a:srgbClr val="241033"/>
                </a:solidFill>
                <a:latin typeface="Calibri" pitchFamily="34" charset="0"/>
                <a:ea typeface="Calibri" pitchFamily="34" charset="-122"/>
                <a:cs typeface="Calibri" pitchFamily="34" charset="-120"/>
              </a:rPr>
              <a:t>Representar el texto</a:t>
            </a:r>
            <a:endParaRPr lang="en-US" sz="1600" dirty="0"/>
          </a:p>
        </p:txBody>
      </p:sp>
      <p:sp>
        <p:nvSpPr>
          <p:cNvPr id="30" name="Text 28"/>
          <p:cNvSpPr txBox="1"/>
          <p:nvPr/>
        </p:nvSpPr>
        <p:spPr>
          <a:xfrm>
            <a:off x="5989320" y="3310128"/>
            <a:ext cx="4023360" cy="274320"/>
          </a:xfrm>
          <a:prstGeom prst="rect">
            <a:avLst/>
          </a:prstGeom>
          <a:noFill/>
          <a:ln/>
        </p:spPr>
        <p:txBody>
          <a:bodyPr wrap="square" lIns="0" tIns="0" rIns="0" bIns="0" rtlCol="0" anchor="t"/>
          <a:lstStyle/>
          <a:p>
            <a:pPr indent="0" marL="0">
              <a:buNone/>
            </a:pPr>
            <a:r>
              <a:rPr lang="en-US" sz="1200" dirty="0">
                <a:solidFill>
                  <a:srgbClr val="3D3350"/>
                </a:solidFill>
                <a:latin typeface="Calibri" pitchFamily="34" charset="0"/>
                <a:ea typeface="Calibri" pitchFamily="34" charset="-122"/>
                <a:cs typeface="Calibri" pitchFamily="34" charset="-120"/>
              </a:rPr>
              <a:t>BoW · TF-IDF · embeddings</a:t>
            </a:r>
            <a:endParaRPr lang="en-US" sz="1200" dirty="0"/>
          </a:p>
        </p:txBody>
      </p:sp>
      <p:sp>
        <p:nvSpPr>
          <p:cNvPr id="31" name="Shape 29"/>
          <p:cNvSpPr/>
          <p:nvPr/>
        </p:nvSpPr>
        <p:spPr>
          <a:xfrm>
            <a:off x="10241280" y="3118104"/>
            <a:ext cx="1234440" cy="329184"/>
          </a:xfrm>
          <a:prstGeom prst="roundRect">
            <a:avLst>
              <a:gd name="adj" fmla="val 50000"/>
            </a:avLst>
          </a:prstGeom>
          <a:solidFill>
            <a:srgbClr val="EADFF5"/>
          </a:solidFill>
          <a:ln w="12700">
            <a:solidFill>
              <a:srgbClr val="EADFF5"/>
            </a:solidFill>
            <a:prstDash val="solid"/>
          </a:ln>
        </p:spPr>
      </p:sp>
      <p:sp>
        <p:nvSpPr>
          <p:cNvPr id="32" name="Text 30"/>
          <p:cNvSpPr txBox="1"/>
          <p:nvPr/>
        </p:nvSpPr>
        <p:spPr>
          <a:xfrm>
            <a:off x="10241280" y="3118104"/>
            <a:ext cx="1234440" cy="329184"/>
          </a:xfrm>
          <a:prstGeom prst="rect">
            <a:avLst/>
          </a:prstGeom>
          <a:noFill/>
          <a:ln/>
        </p:spPr>
        <p:txBody>
          <a:bodyPr wrap="square" lIns="0" tIns="0" rIns="0" bIns="0" rtlCol="0" anchor="ctr"/>
          <a:lstStyle/>
          <a:p>
            <a:pPr algn="ctr" indent="0" marL="0">
              <a:buNone/>
            </a:pPr>
            <a:r>
              <a:rPr lang="en-US" sz="1100" b="1" dirty="0">
                <a:solidFill>
                  <a:srgbClr val="6A0DAD"/>
                </a:solidFill>
                <a:latin typeface="Calibri" pitchFamily="34" charset="0"/>
                <a:ea typeface="Calibri" pitchFamily="34" charset="-122"/>
                <a:cs typeface="Calibri" pitchFamily="34" charset="-120"/>
              </a:rPr>
              <a:t>NB 05–06</a:t>
            </a:r>
            <a:endParaRPr lang="en-US" sz="1100" dirty="0"/>
          </a:p>
        </p:txBody>
      </p:sp>
      <p:sp>
        <p:nvSpPr>
          <p:cNvPr id="33" name="Shape 31"/>
          <p:cNvSpPr/>
          <p:nvPr/>
        </p:nvSpPr>
        <p:spPr>
          <a:xfrm>
            <a:off x="4480560" y="4059936"/>
            <a:ext cx="7132320" cy="0"/>
          </a:xfrm>
          <a:prstGeom prst="line">
            <a:avLst/>
          </a:prstGeom>
          <a:noFill/>
          <a:ln w="15875">
            <a:solidFill>
              <a:srgbClr val="B98BE0"/>
            </a:solidFill>
            <a:prstDash val="dash"/>
          </a:ln>
        </p:spPr>
      </p:sp>
      <p:sp>
        <p:nvSpPr>
          <p:cNvPr id="34" name="Shape 32"/>
          <p:cNvSpPr/>
          <p:nvPr/>
        </p:nvSpPr>
        <p:spPr>
          <a:xfrm>
            <a:off x="7178040" y="3886200"/>
            <a:ext cx="1737360" cy="365760"/>
          </a:xfrm>
          <a:prstGeom prst="roundRect">
            <a:avLst>
              <a:gd name="adj" fmla="val 50000"/>
            </a:avLst>
          </a:prstGeom>
          <a:solidFill>
            <a:srgbClr val="FFFFFF"/>
          </a:solidFill>
          <a:ln w="15875">
            <a:solidFill>
              <a:srgbClr val="B98BE0"/>
            </a:solidFill>
            <a:prstDash val="solid"/>
          </a:ln>
        </p:spPr>
      </p:sp>
      <p:sp>
        <p:nvSpPr>
          <p:cNvPr id="35" name="Text 33"/>
          <p:cNvSpPr txBox="1"/>
          <p:nvPr/>
        </p:nvSpPr>
        <p:spPr>
          <a:xfrm>
            <a:off x="7178040" y="3886200"/>
            <a:ext cx="1737360" cy="365760"/>
          </a:xfrm>
          <a:prstGeom prst="rect">
            <a:avLst/>
          </a:prstGeom>
          <a:noFill/>
          <a:ln/>
        </p:spPr>
        <p:txBody>
          <a:bodyPr wrap="square" lIns="0" tIns="0" rIns="0" bIns="0" rtlCol="0" anchor="ctr"/>
          <a:lstStyle/>
          <a:p>
            <a:pPr algn="ctr" indent="0" marL="0">
              <a:buNone/>
            </a:pPr>
            <a:r>
              <a:rPr lang="en-US" sz="1200" b="1" dirty="0">
                <a:solidFill>
                  <a:srgbClr val="6A0DAD"/>
                </a:solidFill>
                <a:latin typeface="Calibri" pitchFamily="34" charset="0"/>
                <a:ea typeface="Calibri" pitchFamily="34" charset="-122"/>
                <a:cs typeface="Calibri" pitchFamily="34" charset="-120"/>
              </a:rPr>
              <a:t>☕  Pausa · 1:05</a:t>
            </a:r>
            <a:endParaRPr lang="en-US" sz="1200" dirty="0"/>
          </a:p>
        </p:txBody>
      </p:sp>
      <p:sp>
        <p:nvSpPr>
          <p:cNvPr id="36" name="Shape 34"/>
          <p:cNvSpPr/>
          <p:nvPr/>
        </p:nvSpPr>
        <p:spPr>
          <a:xfrm>
            <a:off x="4480560" y="4517136"/>
            <a:ext cx="7132320" cy="676656"/>
          </a:xfrm>
          <a:prstGeom prst="roundRect">
            <a:avLst>
              <a:gd name="adj" fmla="val 16216"/>
            </a:avLst>
          </a:prstGeom>
          <a:solidFill>
            <a:srgbClr val="F4EEFA"/>
          </a:solidFill>
          <a:ln w="12700">
            <a:solidFill>
              <a:srgbClr val="F4EEFA"/>
            </a:solidFill>
            <a:prstDash val="solid"/>
          </a:ln>
        </p:spPr>
      </p:sp>
      <p:sp>
        <p:nvSpPr>
          <p:cNvPr id="37" name="Shape 35"/>
          <p:cNvSpPr/>
          <p:nvPr/>
        </p:nvSpPr>
        <p:spPr>
          <a:xfrm>
            <a:off x="4617720" y="4608576"/>
            <a:ext cx="493776" cy="493776"/>
          </a:xfrm>
          <a:prstGeom prst="ellipse">
            <a:avLst/>
          </a:prstGeom>
          <a:solidFill>
            <a:srgbClr val="6A0DAD"/>
          </a:solidFill>
          <a:ln w="12700">
            <a:solidFill>
              <a:srgbClr val="6A0DAD"/>
            </a:solidFill>
            <a:prstDash val="solid"/>
          </a:ln>
        </p:spPr>
      </p:sp>
      <p:sp>
        <p:nvSpPr>
          <p:cNvPr id="38" name="Text 36"/>
          <p:cNvSpPr txBox="1"/>
          <p:nvPr/>
        </p:nvSpPr>
        <p:spPr>
          <a:xfrm>
            <a:off x="4617720" y="4608576"/>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39" name="Text 37"/>
          <p:cNvSpPr txBox="1"/>
          <p:nvPr/>
        </p:nvSpPr>
        <p:spPr>
          <a:xfrm>
            <a:off x="5257800" y="4517136"/>
            <a:ext cx="685800" cy="676656"/>
          </a:xfrm>
          <a:prstGeom prst="rect">
            <a:avLst/>
          </a:prstGeom>
          <a:noFill/>
          <a:ln/>
        </p:spPr>
        <p:txBody>
          <a:bodyPr wrap="square" lIns="0" tIns="0" rIns="0" bIns="0" rtlCol="0" anchor="ctr"/>
          <a:lstStyle/>
          <a:p>
            <a:pPr indent="0" marL="0">
              <a:buNone/>
            </a:pPr>
            <a:r>
              <a:rPr lang="en-US" sz="1500" b="1" dirty="0">
                <a:solidFill>
                  <a:srgbClr val="C400C4"/>
                </a:solidFill>
                <a:latin typeface="Calibri" pitchFamily="34" charset="0"/>
                <a:ea typeface="Calibri" pitchFamily="34" charset="-122"/>
                <a:cs typeface="Calibri" pitchFamily="34" charset="-120"/>
              </a:rPr>
              <a:t>1:15</a:t>
            </a:r>
            <a:endParaRPr lang="en-US" sz="1500" dirty="0"/>
          </a:p>
        </p:txBody>
      </p:sp>
      <p:sp>
        <p:nvSpPr>
          <p:cNvPr id="40" name="Text 38"/>
          <p:cNvSpPr txBox="1"/>
          <p:nvPr/>
        </p:nvSpPr>
        <p:spPr>
          <a:xfrm>
            <a:off x="5989320" y="4572000"/>
            <a:ext cx="4023360" cy="329184"/>
          </a:xfrm>
          <a:prstGeom prst="rect">
            <a:avLst/>
          </a:prstGeom>
          <a:noFill/>
          <a:ln/>
        </p:spPr>
        <p:txBody>
          <a:bodyPr wrap="square" lIns="0" tIns="0" rIns="0" bIns="0" rtlCol="0" anchor="t"/>
          <a:lstStyle/>
          <a:p>
            <a:pPr indent="0" marL="0">
              <a:buNone/>
            </a:pPr>
            <a:r>
              <a:rPr lang="en-US" sz="1600" b="1" dirty="0">
                <a:solidFill>
                  <a:srgbClr val="241033"/>
                </a:solidFill>
                <a:latin typeface="Calibri" pitchFamily="34" charset="0"/>
                <a:ea typeface="Calibri" pitchFamily="34" charset="-122"/>
                <a:cs typeface="Calibri" pitchFamily="34" charset="-120"/>
              </a:rPr>
              <a:t>Manos a la obra</a:t>
            </a:r>
            <a:endParaRPr lang="en-US" sz="1600" dirty="0"/>
          </a:p>
        </p:txBody>
      </p:sp>
      <p:sp>
        <p:nvSpPr>
          <p:cNvPr id="41" name="Text 39"/>
          <p:cNvSpPr txBox="1"/>
          <p:nvPr/>
        </p:nvSpPr>
        <p:spPr>
          <a:xfrm>
            <a:off x="5989320" y="4882896"/>
            <a:ext cx="4023360" cy="274320"/>
          </a:xfrm>
          <a:prstGeom prst="rect">
            <a:avLst/>
          </a:prstGeom>
          <a:noFill/>
          <a:ln/>
        </p:spPr>
        <p:txBody>
          <a:bodyPr wrap="square" lIns="0" tIns="0" rIns="0" bIns="0" rtlCol="0" anchor="t"/>
          <a:lstStyle/>
          <a:p>
            <a:pPr indent="0" marL="0">
              <a:buNone/>
            </a:pPr>
            <a:r>
              <a:rPr lang="en-US" sz="1200" dirty="0">
                <a:solidFill>
                  <a:srgbClr val="3D3350"/>
                </a:solidFill>
                <a:latin typeface="Calibri" pitchFamily="34" charset="0"/>
                <a:ea typeface="Calibri" pitchFamily="34" charset="-122"/>
                <a:cs typeface="Calibri" pitchFamily="34" charset="-120"/>
              </a:rPr>
              <a:t>Clasificador de sentimientos + laboratorio</a:t>
            </a:r>
            <a:endParaRPr lang="en-US" sz="1200" dirty="0"/>
          </a:p>
        </p:txBody>
      </p:sp>
      <p:sp>
        <p:nvSpPr>
          <p:cNvPr id="42" name="Shape 40"/>
          <p:cNvSpPr/>
          <p:nvPr/>
        </p:nvSpPr>
        <p:spPr>
          <a:xfrm>
            <a:off x="10241280" y="4690872"/>
            <a:ext cx="1234440" cy="329184"/>
          </a:xfrm>
          <a:prstGeom prst="roundRect">
            <a:avLst>
              <a:gd name="adj" fmla="val 50000"/>
            </a:avLst>
          </a:prstGeom>
          <a:solidFill>
            <a:srgbClr val="EADFF5"/>
          </a:solidFill>
          <a:ln w="12700">
            <a:solidFill>
              <a:srgbClr val="EADFF5"/>
            </a:solidFill>
            <a:prstDash val="solid"/>
          </a:ln>
        </p:spPr>
      </p:sp>
      <p:sp>
        <p:nvSpPr>
          <p:cNvPr id="43" name="Text 41"/>
          <p:cNvSpPr txBox="1"/>
          <p:nvPr/>
        </p:nvSpPr>
        <p:spPr>
          <a:xfrm>
            <a:off x="10241280" y="4690872"/>
            <a:ext cx="1234440" cy="329184"/>
          </a:xfrm>
          <a:prstGeom prst="rect">
            <a:avLst/>
          </a:prstGeom>
          <a:noFill/>
          <a:ln/>
        </p:spPr>
        <p:txBody>
          <a:bodyPr wrap="square" lIns="0" tIns="0" rIns="0" bIns="0" rtlCol="0" anchor="ctr"/>
          <a:lstStyle/>
          <a:p>
            <a:pPr algn="ctr" indent="0" marL="0">
              <a:buNone/>
            </a:pPr>
            <a:r>
              <a:rPr lang="en-US" sz="1100" b="1" dirty="0">
                <a:solidFill>
                  <a:srgbClr val="6A0DAD"/>
                </a:solidFill>
                <a:latin typeface="Calibri" pitchFamily="34" charset="0"/>
                <a:ea typeface="Calibri" pitchFamily="34" charset="-122"/>
                <a:cs typeface="Calibri" pitchFamily="34" charset="-120"/>
              </a:rPr>
              <a:t>NB 07–08</a:t>
            </a:r>
            <a:endParaRPr lang="en-US" sz="1100" dirty="0"/>
          </a:p>
        </p:txBody>
      </p:sp>
      <p:sp>
        <p:nvSpPr>
          <p:cNvPr id="44" name="Shape 42"/>
          <p:cNvSpPr/>
          <p:nvPr/>
        </p:nvSpPr>
        <p:spPr>
          <a:xfrm>
            <a:off x="4480560" y="5303520"/>
            <a:ext cx="7132320" cy="676656"/>
          </a:xfrm>
          <a:prstGeom prst="roundRect">
            <a:avLst>
              <a:gd name="adj" fmla="val 16216"/>
            </a:avLst>
          </a:prstGeom>
          <a:solidFill>
            <a:srgbClr val="FFFFFF"/>
          </a:solidFill>
          <a:ln w="12700">
            <a:solidFill>
              <a:srgbClr val="FFFFFF"/>
            </a:solidFill>
            <a:prstDash val="solid"/>
          </a:ln>
        </p:spPr>
      </p:sp>
      <p:sp>
        <p:nvSpPr>
          <p:cNvPr id="45" name="Shape 43"/>
          <p:cNvSpPr/>
          <p:nvPr/>
        </p:nvSpPr>
        <p:spPr>
          <a:xfrm>
            <a:off x="4617720" y="5394960"/>
            <a:ext cx="493776" cy="493776"/>
          </a:xfrm>
          <a:prstGeom prst="ellipse">
            <a:avLst/>
          </a:prstGeom>
          <a:solidFill>
            <a:srgbClr val="C400C4"/>
          </a:solidFill>
          <a:ln w="12700">
            <a:solidFill>
              <a:srgbClr val="6A0DAD"/>
            </a:solidFill>
            <a:prstDash val="solid"/>
          </a:ln>
        </p:spPr>
      </p:sp>
      <p:sp>
        <p:nvSpPr>
          <p:cNvPr id="46" name="Text 44"/>
          <p:cNvSpPr txBox="1"/>
          <p:nvPr/>
        </p:nvSpPr>
        <p:spPr>
          <a:xfrm>
            <a:off x="4617720" y="5394960"/>
            <a:ext cx="493776" cy="49377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47" name="Text 45"/>
          <p:cNvSpPr txBox="1"/>
          <p:nvPr/>
        </p:nvSpPr>
        <p:spPr>
          <a:xfrm>
            <a:off x="5257800" y="5303520"/>
            <a:ext cx="685800" cy="676656"/>
          </a:xfrm>
          <a:prstGeom prst="rect">
            <a:avLst/>
          </a:prstGeom>
          <a:noFill/>
          <a:ln/>
        </p:spPr>
        <p:txBody>
          <a:bodyPr wrap="square" lIns="0" tIns="0" rIns="0" bIns="0" rtlCol="0" anchor="ctr"/>
          <a:lstStyle/>
          <a:p>
            <a:pPr indent="0" marL="0">
              <a:buNone/>
            </a:pPr>
            <a:r>
              <a:rPr lang="en-US" sz="1500" b="1" dirty="0">
                <a:solidFill>
                  <a:srgbClr val="C400C4"/>
                </a:solidFill>
                <a:latin typeface="Calibri" pitchFamily="34" charset="0"/>
                <a:ea typeface="Calibri" pitchFamily="34" charset="-122"/>
                <a:cs typeface="Calibri" pitchFamily="34" charset="-120"/>
              </a:rPr>
              <a:t>1:45</a:t>
            </a:r>
            <a:endParaRPr lang="en-US" sz="1500" dirty="0"/>
          </a:p>
        </p:txBody>
      </p:sp>
      <p:sp>
        <p:nvSpPr>
          <p:cNvPr id="48" name="Text 46"/>
          <p:cNvSpPr txBox="1"/>
          <p:nvPr/>
        </p:nvSpPr>
        <p:spPr>
          <a:xfrm>
            <a:off x="5989320" y="5358384"/>
            <a:ext cx="4023360" cy="329184"/>
          </a:xfrm>
          <a:prstGeom prst="rect">
            <a:avLst/>
          </a:prstGeom>
          <a:noFill/>
          <a:ln/>
        </p:spPr>
        <p:txBody>
          <a:bodyPr wrap="square" lIns="0" tIns="0" rIns="0" bIns="0" rtlCol="0" anchor="t"/>
          <a:lstStyle/>
          <a:p>
            <a:pPr indent="0" marL="0">
              <a:buNone/>
            </a:pPr>
            <a:r>
              <a:rPr lang="en-US" sz="1600" b="1" dirty="0">
                <a:solidFill>
                  <a:srgbClr val="241033"/>
                </a:solidFill>
                <a:latin typeface="Calibri" pitchFamily="34" charset="0"/>
                <a:ea typeface="Calibri" pitchFamily="34" charset="-122"/>
                <a:cs typeface="Calibri" pitchFamily="34" charset="-120"/>
              </a:rPr>
              <a:t>Proyecto y cierre</a:t>
            </a:r>
            <a:endParaRPr lang="en-US" sz="1600" dirty="0"/>
          </a:p>
        </p:txBody>
      </p:sp>
      <p:sp>
        <p:nvSpPr>
          <p:cNvPr id="49" name="Text 47"/>
          <p:cNvSpPr txBox="1"/>
          <p:nvPr/>
        </p:nvSpPr>
        <p:spPr>
          <a:xfrm>
            <a:off x="5989320" y="5669280"/>
            <a:ext cx="4023360" cy="274320"/>
          </a:xfrm>
          <a:prstGeom prst="rect">
            <a:avLst/>
          </a:prstGeom>
          <a:noFill/>
          <a:ln/>
        </p:spPr>
        <p:txBody>
          <a:bodyPr wrap="square" lIns="0" tIns="0" rIns="0" bIns="0" rtlCol="0" anchor="t"/>
          <a:lstStyle/>
          <a:p>
            <a:pPr indent="0" marL="0">
              <a:buNone/>
            </a:pPr>
            <a:r>
              <a:rPr lang="en-US" sz="1200" dirty="0">
                <a:solidFill>
                  <a:srgbClr val="3D3350"/>
                </a:solidFill>
                <a:latin typeface="Calibri" pitchFamily="34" charset="0"/>
                <a:ea typeface="Calibri" pitchFamily="34" charset="-122"/>
                <a:cs typeface="Calibri" pitchFamily="34" charset="-120"/>
              </a:rPr>
              <a:t>IMDb · tarea · próxima clase</a:t>
            </a:r>
            <a:endParaRPr lang="en-US" sz="1200" dirty="0"/>
          </a:p>
        </p:txBody>
      </p:sp>
      <p:sp>
        <p:nvSpPr>
          <p:cNvPr id="50" name="Shape 48"/>
          <p:cNvSpPr/>
          <p:nvPr/>
        </p:nvSpPr>
        <p:spPr>
          <a:xfrm>
            <a:off x="10241280" y="5477256"/>
            <a:ext cx="1234440" cy="329184"/>
          </a:xfrm>
          <a:prstGeom prst="roundRect">
            <a:avLst>
              <a:gd name="adj" fmla="val 50000"/>
            </a:avLst>
          </a:prstGeom>
          <a:solidFill>
            <a:srgbClr val="EADFF5"/>
          </a:solidFill>
          <a:ln w="12700">
            <a:solidFill>
              <a:srgbClr val="EADFF5"/>
            </a:solidFill>
            <a:prstDash val="solid"/>
          </a:ln>
        </p:spPr>
      </p:sp>
      <p:sp>
        <p:nvSpPr>
          <p:cNvPr id="51" name="Text 49"/>
          <p:cNvSpPr txBox="1"/>
          <p:nvPr/>
        </p:nvSpPr>
        <p:spPr>
          <a:xfrm>
            <a:off x="10241280" y="5477256"/>
            <a:ext cx="1234440" cy="329184"/>
          </a:xfrm>
          <a:prstGeom prst="rect">
            <a:avLst/>
          </a:prstGeom>
          <a:noFill/>
          <a:ln/>
        </p:spPr>
        <p:txBody>
          <a:bodyPr wrap="square" lIns="0" tIns="0" rIns="0" bIns="0" rtlCol="0" anchor="ctr"/>
          <a:lstStyle/>
          <a:p>
            <a:pPr algn="ctr" indent="0" marL="0">
              <a:buNone/>
            </a:pPr>
            <a:r>
              <a:rPr lang="en-US" sz="1100" b="1" dirty="0">
                <a:solidFill>
                  <a:srgbClr val="6A0DAD"/>
                </a:solidFill>
                <a:latin typeface="Calibri" pitchFamily="34" charset="0"/>
                <a:ea typeface="Calibri" pitchFamily="34" charset="-122"/>
                <a:cs typeface="Calibri" pitchFamily="34" charset="-120"/>
              </a:rPr>
              <a:t>IMDb</a:t>
            </a:r>
            <a:endParaRPr lang="en-US" sz="11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Al terminar la clase podrás…</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OBJETIVOS</a:t>
            </a:r>
            <a:endParaRPr lang="en-US" sz="1100" dirty="0"/>
          </a:p>
        </p:txBody>
      </p:sp>
      <p:sp>
        <p:nvSpPr>
          <p:cNvPr id="4" name="Shape 2"/>
          <p:cNvSpPr/>
          <p:nvPr/>
        </p:nvSpPr>
        <p:spPr>
          <a:xfrm>
            <a:off x="548640" y="1417320"/>
            <a:ext cx="5349240" cy="1965960"/>
          </a:xfrm>
          <a:prstGeom prst="roundRect">
            <a:avLst>
              <a:gd name="adj" fmla="val 5581"/>
            </a:avLst>
          </a:prstGeom>
          <a:solidFill>
            <a:srgbClr val="F4EEFA"/>
          </a:solidFill>
          <a:ln w="12700">
            <a:solidFill>
              <a:srgbClr val="F4EEFA"/>
            </a:solidFill>
            <a:prstDash val="solid"/>
          </a:ln>
        </p:spPr>
      </p:sp>
      <p:sp>
        <p:nvSpPr>
          <p:cNvPr id="5" name="Shape 3"/>
          <p:cNvSpPr/>
          <p:nvPr/>
        </p:nvSpPr>
        <p:spPr>
          <a:xfrm>
            <a:off x="868680" y="1783080"/>
            <a:ext cx="731520" cy="731520"/>
          </a:xfrm>
          <a:prstGeom prst="ellipse">
            <a:avLst/>
          </a:prstGeom>
          <a:solidFill>
            <a:srgbClr val="6A0DAD"/>
          </a:solidFill>
          <a:ln w="12700">
            <a:solidFill>
              <a:srgbClr val="6A0DAD"/>
            </a:solidFill>
            <a:prstDash val="solid"/>
          </a:ln>
        </p:spPr>
      </p:sp>
      <p:pic>
        <p:nvPicPr>
          <p:cNvPr id="6" name="Image 0" descr="preencoded.png">    </p:cNvPr>
          <p:cNvPicPr>
            <a:picLocks noChangeAspect="1"/>
          </p:cNvPicPr>
          <p:nvPr/>
        </p:nvPicPr>
        <p:blipFill>
          <a:blip r:embed="rId1"/>
          <a:stretch>
            <a:fillRect/>
          </a:stretch>
        </p:blipFill>
        <p:spPr>
          <a:xfrm>
            <a:off x="1044245" y="1958645"/>
            <a:ext cx="380390" cy="380390"/>
          </a:xfrm>
          <a:prstGeom prst="rect">
            <a:avLst/>
          </a:prstGeom>
        </p:spPr>
      </p:pic>
      <p:sp>
        <p:nvSpPr>
          <p:cNvPr id="7" name="Text 4"/>
          <p:cNvSpPr txBox="1"/>
          <p:nvPr/>
        </p:nvSpPr>
        <p:spPr>
          <a:xfrm>
            <a:off x="1874520" y="1764792"/>
            <a:ext cx="3749040" cy="457200"/>
          </a:xfrm>
          <a:prstGeom prst="rect">
            <a:avLst/>
          </a:prstGeom>
          <a:noFill/>
          <a:ln/>
        </p:spPr>
        <p:txBody>
          <a:bodyPr wrap="square" lIns="0" tIns="0" rIns="0" bIns="0" rtlCol="0" anchor="t"/>
          <a:lstStyle/>
          <a:p>
            <a:pPr indent="0" marL="0">
              <a:buNone/>
            </a:pPr>
            <a:r>
              <a:rPr lang="en-US" sz="2100" b="1" dirty="0">
                <a:solidFill>
                  <a:srgbClr val="241033"/>
                </a:solidFill>
                <a:latin typeface="Calibri" pitchFamily="34" charset="0"/>
                <a:ea typeface="Calibri" pitchFamily="34" charset="-122"/>
                <a:cs typeface="Calibri" pitchFamily="34" charset="-120"/>
              </a:rPr>
              <a:t>Diseñar un pipeline NLP</a:t>
            </a:r>
            <a:endParaRPr lang="en-US" sz="2100" dirty="0"/>
          </a:p>
        </p:txBody>
      </p:sp>
      <p:sp>
        <p:nvSpPr>
          <p:cNvPr id="8" name="Text 5"/>
          <p:cNvSpPr txBox="1"/>
          <p:nvPr/>
        </p:nvSpPr>
        <p:spPr>
          <a:xfrm>
            <a:off x="1874520" y="2286000"/>
            <a:ext cx="3749040" cy="914400"/>
          </a:xfrm>
          <a:prstGeom prst="rect">
            <a:avLst/>
          </a:prstGeom>
          <a:noFill/>
          <a:ln/>
        </p:spPr>
        <p:txBody>
          <a:bodyPr wrap="square" lIns="0" tIns="0" rIns="0" bIns="0" rtlCol="0" anchor="t"/>
          <a:lstStyle/>
          <a:p>
            <a:pPr indent="0" marL="0">
              <a:buNone/>
            </a:pPr>
            <a:r>
              <a:rPr lang="en-US" sz="1500" dirty="0">
                <a:solidFill>
                  <a:srgbClr val="3D3350"/>
                </a:solidFill>
                <a:latin typeface="Calibri" pitchFamily="34" charset="0"/>
                <a:ea typeface="Calibri" pitchFamily="34" charset="-122"/>
                <a:cs typeface="Calibri" pitchFamily="34" charset="-120"/>
              </a:rPr>
              <a:t>Texto → limpieza → tokens → tensores → modelo → predicción.</a:t>
            </a:r>
            <a:endParaRPr lang="en-US" sz="1500" dirty="0"/>
          </a:p>
        </p:txBody>
      </p:sp>
      <p:sp>
        <p:nvSpPr>
          <p:cNvPr id="9" name="Shape 6"/>
          <p:cNvSpPr/>
          <p:nvPr/>
        </p:nvSpPr>
        <p:spPr>
          <a:xfrm>
            <a:off x="6126480" y="1417320"/>
            <a:ext cx="5349240" cy="1965960"/>
          </a:xfrm>
          <a:prstGeom prst="roundRect">
            <a:avLst>
              <a:gd name="adj" fmla="val 5581"/>
            </a:avLst>
          </a:prstGeom>
          <a:solidFill>
            <a:srgbClr val="F4EEFA"/>
          </a:solidFill>
          <a:ln w="12700">
            <a:solidFill>
              <a:srgbClr val="F4EEFA"/>
            </a:solidFill>
            <a:prstDash val="solid"/>
          </a:ln>
        </p:spPr>
      </p:sp>
      <p:sp>
        <p:nvSpPr>
          <p:cNvPr id="10" name="Shape 7"/>
          <p:cNvSpPr/>
          <p:nvPr/>
        </p:nvSpPr>
        <p:spPr>
          <a:xfrm>
            <a:off x="6446520" y="1783080"/>
            <a:ext cx="731520" cy="731520"/>
          </a:xfrm>
          <a:prstGeom prst="ellipse">
            <a:avLst/>
          </a:prstGeom>
          <a:solidFill>
            <a:srgbClr val="6A0DAD"/>
          </a:solidFill>
          <a:ln w="12700">
            <a:solidFill>
              <a:srgbClr val="6A0DAD"/>
            </a:solidFill>
            <a:prstDash val="solid"/>
          </a:ln>
        </p:spPr>
      </p:sp>
      <p:pic>
        <p:nvPicPr>
          <p:cNvPr id="11" name="Image 1" descr="preencoded.png">    </p:cNvPr>
          <p:cNvPicPr>
            <a:picLocks noChangeAspect="1"/>
          </p:cNvPicPr>
          <p:nvPr/>
        </p:nvPicPr>
        <p:blipFill>
          <a:blip r:embed="rId2"/>
          <a:stretch>
            <a:fillRect/>
          </a:stretch>
        </p:blipFill>
        <p:spPr>
          <a:xfrm>
            <a:off x="6622085" y="1958645"/>
            <a:ext cx="380390" cy="380390"/>
          </a:xfrm>
          <a:prstGeom prst="rect">
            <a:avLst/>
          </a:prstGeom>
        </p:spPr>
      </p:pic>
      <p:sp>
        <p:nvSpPr>
          <p:cNvPr id="12" name="Text 8"/>
          <p:cNvSpPr txBox="1"/>
          <p:nvPr/>
        </p:nvSpPr>
        <p:spPr>
          <a:xfrm>
            <a:off x="7452360" y="1764792"/>
            <a:ext cx="3749040" cy="457200"/>
          </a:xfrm>
          <a:prstGeom prst="rect">
            <a:avLst/>
          </a:prstGeom>
          <a:noFill/>
          <a:ln/>
        </p:spPr>
        <p:txBody>
          <a:bodyPr wrap="square" lIns="0" tIns="0" rIns="0" bIns="0" rtlCol="0" anchor="t"/>
          <a:lstStyle/>
          <a:p>
            <a:pPr indent="0" marL="0">
              <a:buNone/>
            </a:pPr>
            <a:r>
              <a:rPr lang="en-US" sz="2100" b="1" dirty="0">
                <a:solidFill>
                  <a:srgbClr val="241033"/>
                </a:solidFill>
                <a:latin typeface="Calibri" pitchFamily="34" charset="0"/>
                <a:ea typeface="Calibri" pitchFamily="34" charset="-122"/>
                <a:cs typeface="Calibri" pitchFamily="34" charset="-120"/>
              </a:rPr>
              <a:t>Limpiar con criterio</a:t>
            </a:r>
            <a:endParaRPr lang="en-US" sz="2100" dirty="0"/>
          </a:p>
        </p:txBody>
      </p:sp>
      <p:sp>
        <p:nvSpPr>
          <p:cNvPr id="13" name="Text 9"/>
          <p:cNvSpPr txBox="1"/>
          <p:nvPr/>
        </p:nvSpPr>
        <p:spPr>
          <a:xfrm>
            <a:off x="7452360" y="2286000"/>
            <a:ext cx="3749040" cy="914400"/>
          </a:xfrm>
          <a:prstGeom prst="rect">
            <a:avLst/>
          </a:prstGeom>
          <a:noFill/>
          <a:ln/>
        </p:spPr>
        <p:txBody>
          <a:bodyPr wrap="square" lIns="0" tIns="0" rIns="0" bIns="0" rtlCol="0" anchor="t"/>
          <a:lstStyle/>
          <a:p>
            <a:pPr indent="0" marL="0">
              <a:buNone/>
            </a:pPr>
            <a:r>
              <a:rPr lang="en-US" sz="1500" dirty="0">
                <a:solidFill>
                  <a:srgbClr val="3D3350"/>
                </a:solidFill>
                <a:latin typeface="Calibri" pitchFamily="34" charset="0"/>
                <a:ea typeface="Calibri" pitchFamily="34" charset="-122"/>
                <a:cs typeface="Calibri" pitchFamily="34" charset="-120"/>
              </a:rPr>
              <a:t>Aplicar preprocesamiento sin perder señal (negaciones, números, emojis).</a:t>
            </a:r>
            <a:endParaRPr lang="en-US" sz="1500" dirty="0"/>
          </a:p>
        </p:txBody>
      </p:sp>
      <p:sp>
        <p:nvSpPr>
          <p:cNvPr id="14" name="Shape 10"/>
          <p:cNvSpPr/>
          <p:nvPr/>
        </p:nvSpPr>
        <p:spPr>
          <a:xfrm>
            <a:off x="548640" y="3657600"/>
            <a:ext cx="5349240" cy="1965960"/>
          </a:xfrm>
          <a:prstGeom prst="roundRect">
            <a:avLst>
              <a:gd name="adj" fmla="val 5581"/>
            </a:avLst>
          </a:prstGeom>
          <a:solidFill>
            <a:srgbClr val="F4EEFA"/>
          </a:solidFill>
          <a:ln w="12700">
            <a:solidFill>
              <a:srgbClr val="F4EEFA"/>
            </a:solidFill>
            <a:prstDash val="solid"/>
          </a:ln>
        </p:spPr>
      </p:sp>
      <p:sp>
        <p:nvSpPr>
          <p:cNvPr id="15" name="Shape 11"/>
          <p:cNvSpPr/>
          <p:nvPr/>
        </p:nvSpPr>
        <p:spPr>
          <a:xfrm>
            <a:off x="868680" y="4023360"/>
            <a:ext cx="731520" cy="731520"/>
          </a:xfrm>
          <a:prstGeom prst="ellipse">
            <a:avLst/>
          </a:prstGeom>
          <a:solidFill>
            <a:srgbClr val="6A0DAD"/>
          </a:solidFill>
          <a:ln w="12700">
            <a:solidFill>
              <a:srgbClr val="6A0DAD"/>
            </a:solidFill>
            <a:prstDash val="solid"/>
          </a:ln>
        </p:spPr>
      </p:sp>
      <p:pic>
        <p:nvPicPr>
          <p:cNvPr id="16" name="Image 2" descr="preencoded.png">    </p:cNvPr>
          <p:cNvPicPr>
            <a:picLocks noChangeAspect="1"/>
          </p:cNvPicPr>
          <p:nvPr/>
        </p:nvPicPr>
        <p:blipFill>
          <a:blip r:embed="rId3"/>
          <a:stretch>
            <a:fillRect/>
          </a:stretch>
        </p:blipFill>
        <p:spPr>
          <a:xfrm>
            <a:off x="1044245" y="4198925"/>
            <a:ext cx="380390" cy="380390"/>
          </a:xfrm>
          <a:prstGeom prst="rect">
            <a:avLst/>
          </a:prstGeom>
        </p:spPr>
      </p:pic>
      <p:sp>
        <p:nvSpPr>
          <p:cNvPr id="17" name="Text 12"/>
          <p:cNvSpPr txBox="1"/>
          <p:nvPr/>
        </p:nvSpPr>
        <p:spPr>
          <a:xfrm>
            <a:off x="1874520" y="4005072"/>
            <a:ext cx="3749040" cy="457200"/>
          </a:xfrm>
          <a:prstGeom prst="rect">
            <a:avLst/>
          </a:prstGeom>
          <a:noFill/>
          <a:ln/>
        </p:spPr>
        <p:txBody>
          <a:bodyPr wrap="square" lIns="0" tIns="0" rIns="0" bIns="0" rtlCol="0" anchor="t"/>
          <a:lstStyle/>
          <a:p>
            <a:pPr indent="0" marL="0">
              <a:buNone/>
            </a:pPr>
            <a:r>
              <a:rPr lang="en-US" sz="2100" b="1" dirty="0">
                <a:solidFill>
                  <a:srgbClr val="241033"/>
                </a:solidFill>
                <a:latin typeface="Calibri" pitchFamily="34" charset="0"/>
                <a:ea typeface="Calibri" pitchFamily="34" charset="-122"/>
                <a:cs typeface="Calibri" pitchFamily="34" charset="-120"/>
              </a:rPr>
              <a:t>Convertir texto en tensores</a:t>
            </a:r>
            <a:endParaRPr lang="en-US" sz="2100" dirty="0"/>
          </a:p>
        </p:txBody>
      </p:sp>
      <p:sp>
        <p:nvSpPr>
          <p:cNvPr id="18" name="Text 13"/>
          <p:cNvSpPr txBox="1"/>
          <p:nvPr/>
        </p:nvSpPr>
        <p:spPr>
          <a:xfrm>
            <a:off x="1874520" y="4526280"/>
            <a:ext cx="3749040" cy="914400"/>
          </a:xfrm>
          <a:prstGeom prst="rect">
            <a:avLst/>
          </a:prstGeom>
          <a:noFill/>
          <a:ln/>
        </p:spPr>
        <p:txBody>
          <a:bodyPr wrap="square" lIns="0" tIns="0" rIns="0" bIns="0" rtlCol="0" anchor="t"/>
          <a:lstStyle/>
          <a:p>
            <a:pPr indent="0" marL="0">
              <a:buNone/>
            </a:pPr>
            <a:r>
              <a:rPr lang="en-US" sz="1500" dirty="0">
                <a:solidFill>
                  <a:srgbClr val="3D3350"/>
                </a:solidFill>
                <a:latin typeface="Calibri" pitchFamily="34" charset="0"/>
                <a:ea typeface="Calibri" pitchFamily="34" charset="-122"/>
                <a:cs typeface="Calibri" pitchFamily="34" charset="-120"/>
              </a:rPr>
              <a:t>Tokenizer, secuencias, OOV y padding con maxlen basado en datos.</a:t>
            </a:r>
            <a:endParaRPr lang="en-US" sz="1500" dirty="0"/>
          </a:p>
        </p:txBody>
      </p:sp>
      <p:sp>
        <p:nvSpPr>
          <p:cNvPr id="19" name="Shape 14"/>
          <p:cNvSpPr/>
          <p:nvPr/>
        </p:nvSpPr>
        <p:spPr>
          <a:xfrm>
            <a:off x="6126480" y="3657600"/>
            <a:ext cx="5349240" cy="1965960"/>
          </a:xfrm>
          <a:prstGeom prst="roundRect">
            <a:avLst>
              <a:gd name="adj" fmla="val 5581"/>
            </a:avLst>
          </a:prstGeom>
          <a:solidFill>
            <a:srgbClr val="F4EEFA"/>
          </a:solidFill>
          <a:ln w="12700">
            <a:solidFill>
              <a:srgbClr val="F4EEFA"/>
            </a:solidFill>
            <a:prstDash val="solid"/>
          </a:ln>
        </p:spPr>
      </p:sp>
      <p:sp>
        <p:nvSpPr>
          <p:cNvPr id="20" name="Shape 15"/>
          <p:cNvSpPr/>
          <p:nvPr/>
        </p:nvSpPr>
        <p:spPr>
          <a:xfrm>
            <a:off x="6446520" y="4023360"/>
            <a:ext cx="731520" cy="731520"/>
          </a:xfrm>
          <a:prstGeom prst="ellipse">
            <a:avLst/>
          </a:prstGeom>
          <a:solidFill>
            <a:srgbClr val="6A0DAD"/>
          </a:solidFill>
          <a:ln w="12700">
            <a:solidFill>
              <a:srgbClr val="6A0DAD"/>
            </a:solidFill>
            <a:prstDash val="solid"/>
          </a:ln>
        </p:spPr>
      </p:sp>
      <p:pic>
        <p:nvPicPr>
          <p:cNvPr id="21" name="Image 3" descr="preencoded.png">    </p:cNvPr>
          <p:cNvPicPr>
            <a:picLocks noChangeAspect="1"/>
          </p:cNvPicPr>
          <p:nvPr/>
        </p:nvPicPr>
        <p:blipFill>
          <a:blip r:embed="rId4"/>
          <a:stretch>
            <a:fillRect/>
          </a:stretch>
        </p:blipFill>
        <p:spPr>
          <a:xfrm>
            <a:off x="6622085" y="4198925"/>
            <a:ext cx="380390" cy="380390"/>
          </a:xfrm>
          <a:prstGeom prst="rect">
            <a:avLst/>
          </a:prstGeom>
        </p:spPr>
      </p:pic>
      <p:sp>
        <p:nvSpPr>
          <p:cNvPr id="22" name="Text 16"/>
          <p:cNvSpPr txBox="1"/>
          <p:nvPr/>
        </p:nvSpPr>
        <p:spPr>
          <a:xfrm>
            <a:off x="7452360" y="4005072"/>
            <a:ext cx="3749040" cy="457200"/>
          </a:xfrm>
          <a:prstGeom prst="rect">
            <a:avLst/>
          </a:prstGeom>
          <a:noFill/>
          <a:ln/>
        </p:spPr>
        <p:txBody>
          <a:bodyPr wrap="square" lIns="0" tIns="0" rIns="0" bIns="0" rtlCol="0" anchor="t"/>
          <a:lstStyle/>
          <a:p>
            <a:pPr indent="0" marL="0">
              <a:buNone/>
            </a:pPr>
            <a:r>
              <a:rPr lang="en-US" sz="2100" b="1" dirty="0">
                <a:solidFill>
                  <a:srgbClr val="241033"/>
                </a:solidFill>
                <a:latin typeface="Calibri" pitchFamily="34" charset="0"/>
                <a:ea typeface="Calibri" pitchFamily="34" charset="-122"/>
                <a:cs typeface="Calibri" pitchFamily="34" charset="-120"/>
              </a:rPr>
              <a:t>Entender y entrenar embeddings</a:t>
            </a:r>
            <a:endParaRPr lang="en-US" sz="2100" dirty="0"/>
          </a:p>
        </p:txBody>
      </p:sp>
      <p:sp>
        <p:nvSpPr>
          <p:cNvPr id="23" name="Text 17"/>
          <p:cNvSpPr txBox="1"/>
          <p:nvPr/>
        </p:nvSpPr>
        <p:spPr>
          <a:xfrm>
            <a:off x="7452360" y="4526280"/>
            <a:ext cx="3749040" cy="914400"/>
          </a:xfrm>
          <a:prstGeom prst="rect">
            <a:avLst/>
          </a:prstGeom>
          <a:noFill/>
          <a:ln/>
        </p:spPr>
        <p:txBody>
          <a:bodyPr wrap="square" lIns="0" tIns="0" rIns="0" bIns="0" rtlCol="0" anchor="t"/>
          <a:lstStyle/>
          <a:p>
            <a:pPr indent="0" marL="0">
              <a:buNone/>
            </a:pPr>
            <a:r>
              <a:rPr lang="en-US" sz="1500" dirty="0">
                <a:solidFill>
                  <a:srgbClr val="3D3350"/>
                </a:solidFill>
                <a:latin typeface="Calibri" pitchFamily="34" charset="0"/>
                <a:ea typeface="Calibri" pitchFamily="34" charset="-122"/>
                <a:cs typeface="Calibri" pitchFamily="34" charset="-120"/>
              </a:rPr>
              <a:t>De one-hot y TF-IDF a vectores densos con la capa Embedding de Keras.</a:t>
            </a:r>
            <a:endParaRPr lang="en-US" sz="15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¿Qué es el Procesamiento de Lenguaje Natural?</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CONCEPTOS</a:t>
            </a:r>
            <a:endParaRPr lang="en-US" sz="1100" dirty="0"/>
          </a:p>
        </p:txBody>
      </p:sp>
      <p:sp>
        <p:nvSpPr>
          <p:cNvPr id="4" name="Shape 2"/>
          <p:cNvSpPr/>
          <p:nvPr/>
        </p:nvSpPr>
        <p:spPr>
          <a:xfrm>
            <a:off x="548640" y="1417320"/>
            <a:ext cx="5120640" cy="4480560"/>
          </a:xfrm>
          <a:prstGeom prst="roundRect">
            <a:avLst>
              <a:gd name="adj" fmla="val 2449"/>
            </a:avLst>
          </a:prstGeom>
          <a:solidFill>
            <a:srgbClr val="241033"/>
          </a:solidFill>
          <a:ln w="12700">
            <a:solidFill>
              <a:srgbClr val="241033"/>
            </a:solidFill>
            <a:prstDash val="solid"/>
          </a:ln>
        </p:spPr>
      </p:sp>
      <p:sp>
        <p:nvSpPr>
          <p:cNvPr id="5" name="Text 3"/>
          <p:cNvSpPr txBox="1"/>
          <p:nvPr/>
        </p:nvSpPr>
        <p:spPr>
          <a:xfrm>
            <a:off x="822960" y="1463040"/>
            <a:ext cx="914400" cy="914400"/>
          </a:xfrm>
          <a:prstGeom prst="rect">
            <a:avLst/>
          </a:prstGeom>
          <a:noFill/>
          <a:ln/>
        </p:spPr>
        <p:txBody>
          <a:bodyPr wrap="square" lIns="0" tIns="0" rIns="0" bIns="0" rtlCol="0" anchor="t"/>
          <a:lstStyle/>
          <a:p>
            <a:pPr indent="0" marL="0">
              <a:buNone/>
            </a:pPr>
            <a:r>
              <a:rPr lang="en-US" sz="8000" b="1" dirty="0">
                <a:solidFill>
                  <a:srgbClr val="C400C4"/>
                </a:solidFill>
                <a:latin typeface="Calibri" pitchFamily="34" charset="0"/>
                <a:ea typeface="Calibri" pitchFamily="34" charset="-122"/>
                <a:cs typeface="Calibri" pitchFamily="34" charset="-120"/>
              </a:rPr>
              <a:t>“</a:t>
            </a:r>
            <a:endParaRPr lang="en-US" sz="8000" dirty="0"/>
          </a:p>
        </p:txBody>
      </p:sp>
      <p:sp>
        <p:nvSpPr>
          <p:cNvPr id="6" name="Text 4"/>
          <p:cNvSpPr txBox="1"/>
          <p:nvPr/>
        </p:nvSpPr>
        <p:spPr>
          <a:xfrm>
            <a:off x="868680" y="2331720"/>
            <a:ext cx="4526280" cy="2194560"/>
          </a:xfrm>
          <a:prstGeom prst="rect">
            <a:avLst/>
          </a:prstGeom>
          <a:noFill/>
          <a:ln/>
        </p:spPr>
        <p:txBody>
          <a:bodyPr wrap="square" lIns="0" tIns="0" rIns="0" bIns="0" rtlCol="0" anchor="t"/>
          <a:lstStyle/>
          <a:p>
            <a:pPr indent="0" marL="0">
              <a:buNone/>
            </a:pPr>
            <a:r>
              <a:rPr lang="en-US" sz="2100" dirty="0">
                <a:solidFill>
                  <a:srgbClr val="FFFFFF"/>
                </a:solidFill>
                <a:latin typeface="Calibri" pitchFamily="34" charset="0"/>
                <a:ea typeface="Calibri" pitchFamily="34" charset="-122"/>
                <a:cs typeface="Calibri" pitchFamily="34" charset="-120"/>
              </a:rPr>
              <a:t>Subcampo de la informática y la IA que usa machine learning para que las computadoras entiendan y se comuniquen con el lenguaje humano.</a:t>
            </a:r>
            <a:endParaRPr lang="en-US" sz="2100" dirty="0"/>
          </a:p>
        </p:txBody>
      </p:sp>
      <p:sp>
        <p:nvSpPr>
          <p:cNvPr id="7" name="Text 5"/>
          <p:cNvSpPr txBox="1"/>
          <p:nvPr/>
        </p:nvSpPr>
        <p:spPr>
          <a:xfrm>
            <a:off x="868680" y="5074920"/>
            <a:ext cx="4480560" cy="365760"/>
          </a:xfrm>
          <a:prstGeom prst="rect">
            <a:avLst/>
          </a:prstGeom>
          <a:noFill/>
          <a:ln/>
        </p:spPr>
        <p:txBody>
          <a:bodyPr wrap="square" lIns="0" tIns="0" rIns="0" bIns="0" rtlCol="0" anchor="t"/>
          <a:lstStyle/>
          <a:p>
            <a:pPr indent="0" marL="0">
              <a:buNone/>
            </a:pPr>
            <a:r>
              <a:rPr lang="en-US" sz="1300" i="1" dirty="0">
                <a:solidFill>
                  <a:srgbClr val="B98BE0"/>
                </a:solidFill>
                <a:latin typeface="Calibri" pitchFamily="34" charset="0"/>
                <a:ea typeface="Calibri" pitchFamily="34" charset="-122"/>
                <a:cs typeface="Calibri" pitchFamily="34" charset="-120"/>
              </a:rPr>
              <a:t>— IBM, What is NLP?</a:t>
            </a:r>
            <a:endParaRPr lang="en-US" sz="1300" dirty="0"/>
          </a:p>
        </p:txBody>
      </p:sp>
      <p:sp>
        <p:nvSpPr>
          <p:cNvPr id="8" name="Shape 6"/>
          <p:cNvSpPr/>
          <p:nvPr/>
        </p:nvSpPr>
        <p:spPr>
          <a:xfrm>
            <a:off x="6172200" y="1600200"/>
            <a:ext cx="685800" cy="685800"/>
          </a:xfrm>
          <a:prstGeom prst="ellipse">
            <a:avLst/>
          </a:prstGeom>
          <a:solidFill>
            <a:srgbClr val="6A0DAD"/>
          </a:solidFill>
          <a:ln w="12700">
            <a:solidFill>
              <a:srgbClr val="6A0DAD"/>
            </a:solidFill>
            <a:prstDash val="solid"/>
          </a:ln>
        </p:spPr>
      </p:sp>
      <p:pic>
        <p:nvPicPr>
          <p:cNvPr id="9" name="Image 0" descr="preencoded.png">    </p:cNvPr>
          <p:cNvPicPr>
            <a:picLocks noChangeAspect="1"/>
          </p:cNvPicPr>
          <p:nvPr/>
        </p:nvPicPr>
        <p:blipFill>
          <a:blip r:embed="rId1"/>
          <a:stretch>
            <a:fillRect/>
          </a:stretch>
        </p:blipFill>
        <p:spPr>
          <a:xfrm>
            <a:off x="6336792" y="1764792"/>
            <a:ext cx="356616" cy="356616"/>
          </a:xfrm>
          <a:prstGeom prst="rect">
            <a:avLst/>
          </a:prstGeom>
        </p:spPr>
      </p:pic>
      <p:sp>
        <p:nvSpPr>
          <p:cNvPr id="10" name="Text 7"/>
          <p:cNvSpPr txBox="1"/>
          <p:nvPr/>
        </p:nvSpPr>
        <p:spPr>
          <a:xfrm>
            <a:off x="7086600" y="1527048"/>
            <a:ext cx="4480560" cy="411480"/>
          </a:xfrm>
          <a:prstGeom prst="rect">
            <a:avLst/>
          </a:prstGeom>
          <a:noFill/>
          <a:ln/>
        </p:spPr>
        <p:txBody>
          <a:bodyPr wrap="square" lIns="0" tIns="0" rIns="0" bIns="0" rtlCol="0" anchor="t"/>
          <a:lstStyle/>
          <a:p>
            <a:pPr indent="0" marL="0">
              <a:buNone/>
            </a:pPr>
            <a:r>
              <a:rPr lang="en-US" sz="2000" b="1" dirty="0">
                <a:solidFill>
                  <a:srgbClr val="241033"/>
                </a:solidFill>
                <a:latin typeface="Calibri" pitchFamily="34" charset="0"/>
                <a:ea typeface="Calibri" pitchFamily="34" charset="-122"/>
                <a:cs typeface="Calibri" pitchFamily="34" charset="-120"/>
              </a:rPr>
              <a:t>Basado en reglas</a:t>
            </a:r>
            <a:endParaRPr lang="en-US" sz="2000" dirty="0"/>
          </a:p>
        </p:txBody>
      </p:sp>
      <p:sp>
        <p:nvSpPr>
          <p:cNvPr id="11" name="Text 8"/>
          <p:cNvSpPr txBox="1"/>
          <p:nvPr/>
        </p:nvSpPr>
        <p:spPr>
          <a:xfrm>
            <a:off x="7086600" y="1965960"/>
            <a:ext cx="4480560" cy="777240"/>
          </a:xfrm>
          <a:prstGeom prst="rect">
            <a:avLst/>
          </a:prstGeom>
          <a:noFill/>
          <a:ln/>
        </p:spPr>
        <p:txBody>
          <a:bodyPr wrap="square" lIns="0" tIns="0" rIns="0" bIns="0" rtlCol="0" anchor="t"/>
          <a:lstStyle/>
          <a:p>
            <a:pPr indent="0" marL="0">
              <a:buNone/>
            </a:pPr>
            <a:r>
              <a:rPr lang="en-US" sz="1500" dirty="0">
                <a:solidFill>
                  <a:srgbClr val="3D3350"/>
                </a:solidFill>
                <a:latin typeface="Calibri" pitchFamily="34" charset="0"/>
                <a:ea typeface="Calibri" pitchFamily="34" charset="-122"/>
                <a:cs typeface="Calibri" pitchFamily="34" charset="-120"/>
              </a:rPr>
              <a:t>Árboles if-then escritos a mano. Simple, pero no escala ni aprende.</a:t>
            </a:r>
            <a:endParaRPr lang="en-US" sz="1500" dirty="0"/>
          </a:p>
        </p:txBody>
      </p:sp>
      <p:sp>
        <p:nvSpPr>
          <p:cNvPr id="12" name="Shape 9"/>
          <p:cNvSpPr/>
          <p:nvPr/>
        </p:nvSpPr>
        <p:spPr>
          <a:xfrm>
            <a:off x="6510528" y="2331720"/>
            <a:ext cx="0" cy="731520"/>
          </a:xfrm>
          <a:prstGeom prst="line">
            <a:avLst/>
          </a:prstGeom>
          <a:noFill/>
          <a:ln w="25400">
            <a:solidFill>
              <a:srgbClr val="B98BE0"/>
            </a:solidFill>
            <a:prstDash val="dash"/>
          </a:ln>
        </p:spPr>
      </p:sp>
      <p:sp>
        <p:nvSpPr>
          <p:cNvPr id="13" name="Shape 10"/>
          <p:cNvSpPr/>
          <p:nvPr/>
        </p:nvSpPr>
        <p:spPr>
          <a:xfrm>
            <a:off x="6172200" y="3108960"/>
            <a:ext cx="685800" cy="685800"/>
          </a:xfrm>
          <a:prstGeom prst="ellipse">
            <a:avLst/>
          </a:prstGeom>
          <a:solidFill>
            <a:srgbClr val="6A0DAD"/>
          </a:solidFill>
          <a:ln w="12700">
            <a:solidFill>
              <a:srgbClr val="6A0DAD"/>
            </a:solidFill>
            <a:prstDash val="solid"/>
          </a:ln>
        </p:spPr>
      </p:sp>
      <p:pic>
        <p:nvPicPr>
          <p:cNvPr id="14" name="Image 1" descr="preencoded.png">    </p:cNvPr>
          <p:cNvPicPr>
            <a:picLocks noChangeAspect="1"/>
          </p:cNvPicPr>
          <p:nvPr/>
        </p:nvPicPr>
        <p:blipFill>
          <a:blip r:embed="rId2"/>
          <a:stretch>
            <a:fillRect/>
          </a:stretch>
        </p:blipFill>
        <p:spPr>
          <a:xfrm>
            <a:off x="6336792" y="3273552"/>
            <a:ext cx="356616" cy="356616"/>
          </a:xfrm>
          <a:prstGeom prst="rect">
            <a:avLst/>
          </a:prstGeom>
        </p:spPr>
      </p:pic>
      <p:sp>
        <p:nvSpPr>
          <p:cNvPr id="15" name="Text 11"/>
          <p:cNvSpPr txBox="1"/>
          <p:nvPr/>
        </p:nvSpPr>
        <p:spPr>
          <a:xfrm>
            <a:off x="7086600" y="3035808"/>
            <a:ext cx="4480560" cy="411480"/>
          </a:xfrm>
          <a:prstGeom prst="rect">
            <a:avLst/>
          </a:prstGeom>
          <a:noFill/>
          <a:ln/>
        </p:spPr>
        <p:txBody>
          <a:bodyPr wrap="square" lIns="0" tIns="0" rIns="0" bIns="0" rtlCol="0" anchor="t"/>
          <a:lstStyle/>
          <a:p>
            <a:pPr indent="0" marL="0">
              <a:buNone/>
            </a:pPr>
            <a:r>
              <a:rPr lang="en-US" sz="2000" b="1" dirty="0">
                <a:solidFill>
                  <a:srgbClr val="241033"/>
                </a:solidFill>
                <a:latin typeface="Calibri" pitchFamily="34" charset="0"/>
                <a:ea typeface="Calibri" pitchFamily="34" charset="-122"/>
                <a:cs typeface="Calibri" pitchFamily="34" charset="-120"/>
              </a:rPr>
              <a:t>Estadístico</a:t>
            </a:r>
            <a:endParaRPr lang="en-US" sz="2000" dirty="0"/>
          </a:p>
        </p:txBody>
      </p:sp>
      <p:sp>
        <p:nvSpPr>
          <p:cNvPr id="16" name="Text 12"/>
          <p:cNvSpPr txBox="1"/>
          <p:nvPr/>
        </p:nvSpPr>
        <p:spPr>
          <a:xfrm>
            <a:off x="7086600" y="3474720"/>
            <a:ext cx="4480560" cy="777240"/>
          </a:xfrm>
          <a:prstGeom prst="rect">
            <a:avLst/>
          </a:prstGeom>
          <a:noFill/>
          <a:ln/>
        </p:spPr>
        <p:txBody>
          <a:bodyPr wrap="square" lIns="0" tIns="0" rIns="0" bIns="0" rtlCol="0" anchor="t"/>
          <a:lstStyle/>
          <a:p>
            <a:pPr indent="0" marL="0">
              <a:buNone/>
            </a:pPr>
            <a:r>
              <a:rPr lang="en-US" sz="1500" dirty="0">
                <a:solidFill>
                  <a:srgbClr val="3D3350"/>
                </a:solidFill>
                <a:latin typeface="Calibri" pitchFamily="34" charset="0"/>
                <a:ea typeface="Calibri" pitchFamily="34" charset="-122"/>
                <a:cs typeface="Calibri" pitchFamily="34" charset="-120"/>
              </a:rPr>
              <a:t>Machine learning sobre conteos y vectores. Correctores ortográficos, T9.</a:t>
            </a:r>
            <a:endParaRPr lang="en-US" sz="1500" dirty="0"/>
          </a:p>
        </p:txBody>
      </p:sp>
      <p:sp>
        <p:nvSpPr>
          <p:cNvPr id="17" name="Shape 13"/>
          <p:cNvSpPr/>
          <p:nvPr/>
        </p:nvSpPr>
        <p:spPr>
          <a:xfrm>
            <a:off x="6510528" y="3840480"/>
            <a:ext cx="0" cy="731520"/>
          </a:xfrm>
          <a:prstGeom prst="line">
            <a:avLst/>
          </a:prstGeom>
          <a:noFill/>
          <a:ln w="25400">
            <a:solidFill>
              <a:srgbClr val="B98BE0"/>
            </a:solidFill>
            <a:prstDash val="dash"/>
          </a:ln>
        </p:spPr>
      </p:sp>
      <p:sp>
        <p:nvSpPr>
          <p:cNvPr id="18" name="Shape 14"/>
          <p:cNvSpPr/>
          <p:nvPr/>
        </p:nvSpPr>
        <p:spPr>
          <a:xfrm>
            <a:off x="6172200" y="4617720"/>
            <a:ext cx="685800" cy="685800"/>
          </a:xfrm>
          <a:prstGeom prst="ellipse">
            <a:avLst/>
          </a:prstGeom>
          <a:solidFill>
            <a:srgbClr val="C400C4"/>
          </a:solidFill>
          <a:ln w="12700">
            <a:solidFill>
              <a:srgbClr val="C400C4"/>
            </a:solidFill>
            <a:prstDash val="solid"/>
          </a:ln>
        </p:spPr>
      </p:sp>
      <p:pic>
        <p:nvPicPr>
          <p:cNvPr id="19" name="Image 2" descr="preencoded.png">    </p:cNvPr>
          <p:cNvPicPr>
            <a:picLocks noChangeAspect="1"/>
          </p:cNvPicPr>
          <p:nvPr/>
        </p:nvPicPr>
        <p:blipFill>
          <a:blip r:embed="rId3"/>
          <a:stretch>
            <a:fillRect/>
          </a:stretch>
        </p:blipFill>
        <p:spPr>
          <a:xfrm>
            <a:off x="6336792" y="4782312"/>
            <a:ext cx="356616" cy="356616"/>
          </a:xfrm>
          <a:prstGeom prst="rect">
            <a:avLst/>
          </a:prstGeom>
        </p:spPr>
      </p:pic>
      <p:sp>
        <p:nvSpPr>
          <p:cNvPr id="20" name="Text 15"/>
          <p:cNvSpPr txBox="1"/>
          <p:nvPr/>
        </p:nvSpPr>
        <p:spPr>
          <a:xfrm>
            <a:off x="7086600" y="4544568"/>
            <a:ext cx="4480560" cy="411480"/>
          </a:xfrm>
          <a:prstGeom prst="rect">
            <a:avLst/>
          </a:prstGeom>
          <a:noFill/>
          <a:ln/>
        </p:spPr>
        <p:txBody>
          <a:bodyPr wrap="square" lIns="0" tIns="0" rIns="0" bIns="0" rtlCol="0" anchor="t"/>
          <a:lstStyle/>
          <a:p>
            <a:pPr indent="0" marL="0">
              <a:buNone/>
            </a:pPr>
            <a:r>
              <a:rPr lang="en-US" sz="2000" b="1" dirty="0">
                <a:solidFill>
                  <a:srgbClr val="241033"/>
                </a:solidFill>
                <a:latin typeface="Calibri" pitchFamily="34" charset="0"/>
                <a:ea typeface="Calibri" pitchFamily="34" charset="-122"/>
                <a:cs typeface="Calibri" pitchFamily="34" charset="-120"/>
              </a:rPr>
              <a:t>Deep learning</a:t>
            </a:r>
            <a:endParaRPr lang="en-US" sz="2000" dirty="0"/>
          </a:p>
        </p:txBody>
      </p:sp>
      <p:sp>
        <p:nvSpPr>
          <p:cNvPr id="21" name="Text 16"/>
          <p:cNvSpPr txBox="1"/>
          <p:nvPr/>
        </p:nvSpPr>
        <p:spPr>
          <a:xfrm>
            <a:off x="7086600" y="4983480"/>
            <a:ext cx="4480560" cy="777240"/>
          </a:xfrm>
          <a:prstGeom prst="rect">
            <a:avLst/>
          </a:prstGeom>
          <a:noFill/>
          <a:ln/>
        </p:spPr>
        <p:txBody>
          <a:bodyPr wrap="square" lIns="0" tIns="0" rIns="0" bIns="0" rtlCol="0" anchor="t"/>
          <a:lstStyle/>
          <a:p>
            <a:pPr indent="0" marL="0">
              <a:buNone/>
            </a:pPr>
            <a:r>
              <a:rPr lang="en-US" sz="1500" dirty="0">
                <a:solidFill>
                  <a:srgbClr val="3D3350"/>
                </a:solidFill>
                <a:latin typeface="Calibri" pitchFamily="34" charset="0"/>
                <a:ea typeface="Calibri" pitchFamily="34" charset="-122"/>
                <a:cs typeface="Calibri" pitchFamily="34" charset="-120"/>
              </a:rPr>
              <a:t>Redes neuronales: embeddings, seq2seq, Transformers (BERT, GPT, Claude).</a:t>
            </a:r>
            <a:endParaRPr lang="en-US" sz="1500" dirty="0"/>
          </a:p>
        </p:txBody>
      </p:sp>
      <p:sp>
        <p:nvSpPr>
          <p:cNvPr id="22" name="Text 17"/>
          <p:cNvSpPr txBox="1"/>
          <p:nvPr/>
        </p:nvSpPr>
        <p:spPr>
          <a:xfrm>
            <a:off x="6172200" y="5760720"/>
            <a:ext cx="5486400" cy="320040"/>
          </a:xfrm>
          <a:prstGeom prst="rect">
            <a:avLst/>
          </a:prstGeom>
          <a:noFill/>
          <a:ln/>
        </p:spPr>
        <p:txBody>
          <a:bodyPr wrap="square" lIns="0" tIns="0" rIns="0" bIns="0" rtlCol="0" anchor="t"/>
          <a:lstStyle/>
          <a:p>
            <a:pPr indent="0" marL="0">
              <a:buNone/>
            </a:pPr>
            <a:r>
              <a:rPr lang="en-US" sz="1300" i="1" dirty="0">
                <a:solidFill>
                  <a:srgbClr val="C400C4"/>
                </a:solidFill>
                <a:latin typeface="Calibri" pitchFamily="34" charset="0"/>
                <a:ea typeface="Calibri" pitchFamily="34" charset="-122"/>
                <a:cs typeface="Calibri" pitchFamily="34" charset="-120"/>
              </a:rPr>
              <a:t>Hoy trabajamos en la frontera entre lo estadístico y el deep learning</a:t>
            </a:r>
            <a:endParaRPr lang="en-US" sz="13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Text Mining: del texto no estructurado a insights</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CONCEPTOS</a:t>
            </a:r>
            <a:endParaRPr lang="en-US" sz="1100" dirty="0"/>
          </a:p>
        </p:txBody>
      </p:sp>
      <p:sp>
        <p:nvSpPr>
          <p:cNvPr id="4" name="Text 2"/>
          <p:cNvSpPr txBox="1"/>
          <p:nvPr/>
        </p:nvSpPr>
        <p:spPr>
          <a:xfrm>
            <a:off x="548640" y="1371600"/>
            <a:ext cx="11064240" cy="1005840"/>
          </a:xfrm>
          <a:prstGeom prst="rect">
            <a:avLst/>
          </a:prstGeom>
          <a:noFill/>
          <a:ln/>
        </p:spPr>
        <p:txBody>
          <a:bodyPr wrap="square" lIns="0" tIns="0" rIns="0" bIns="0" rtlCol="0" anchor="t"/>
          <a:lstStyle/>
          <a:p>
            <a:pPr indent="0" marL="0">
              <a:spcAft>
                <a:spcPts val="600"/>
              </a:spcAft>
              <a:buNone/>
            </a:pPr>
            <a:r>
              <a:rPr lang="en-US" sz="1700" b="1" dirty="0">
                <a:solidFill>
                  <a:srgbClr val="6A0DAD"/>
                </a:solidFill>
                <a:latin typeface="Calibri" pitchFamily="34" charset="0"/>
                <a:ea typeface="Calibri" pitchFamily="34" charset="-122"/>
                <a:cs typeface="Calibri" pitchFamily="34" charset="-120"/>
              </a:rPr>
              <a:t>Text mining  </a:t>
            </a:r>
            <a:pPr indent="0" marL="0">
              <a:spcAft>
                <a:spcPts val="600"/>
              </a:spcAft>
              <a:buNone/>
            </a:pPr>
            <a:r>
              <a:rPr lang="en-US" sz="1700" dirty="0">
                <a:solidFill>
                  <a:srgbClr val="3D3350"/>
                </a:solidFill>
                <a:latin typeface="Calibri" pitchFamily="34" charset="0"/>
                <a:ea typeface="Calibri" pitchFamily="34" charset="-122"/>
                <a:cs typeface="Calibri" pitchFamily="34" charset="-120"/>
              </a:rPr>
              <a:t>transforma texto no estructurado en un formato estructurado para encontrar patrones y nuevos insights.</a:t>
            </a:r>
            <a:endParaRPr lang="en-US" sz="1700" dirty="0"/>
          </a:p>
          <a:p>
            <a:pPr indent="0" marL="0">
              <a:spcAft>
                <a:spcPts val="600"/>
              </a:spcAft>
              <a:buNone/>
            </a:pPr>
            <a:r>
              <a:rPr lang="en-US" sz="1700" b="1" dirty="0">
                <a:solidFill>
                  <a:srgbClr val="6A0DAD"/>
                </a:solidFill>
                <a:latin typeface="Calibri" pitchFamily="34" charset="0"/>
                <a:ea typeface="Calibri" pitchFamily="34" charset="-122"/>
                <a:cs typeface="Calibri" pitchFamily="34" charset="-120"/>
              </a:rPr>
              <a:t>NLP  </a:t>
            </a:r>
            <a:pPr indent="0" marL="0">
              <a:spcAft>
                <a:spcPts val="600"/>
              </a:spcAft>
              <a:buNone/>
            </a:pPr>
            <a:r>
              <a:rPr lang="en-US" sz="1700" dirty="0">
                <a:solidFill>
                  <a:srgbClr val="3D3350"/>
                </a:solidFill>
                <a:latin typeface="Calibri" pitchFamily="34" charset="0"/>
                <a:ea typeface="Calibri" pitchFamily="34" charset="-122"/>
                <a:cs typeface="Calibri" pitchFamily="34" charset="-120"/>
              </a:rPr>
              <a:t>es la disciplina más amplia que permite a la máquina entender el lenguaje; el text mining la usa como herramienta.</a:t>
            </a:r>
            <a:endParaRPr lang="en-US" sz="1700" dirty="0"/>
          </a:p>
        </p:txBody>
      </p:sp>
      <p:sp>
        <p:nvSpPr>
          <p:cNvPr id="5" name="Shape 3"/>
          <p:cNvSpPr/>
          <p:nvPr/>
        </p:nvSpPr>
        <p:spPr>
          <a:xfrm>
            <a:off x="548640" y="2697480"/>
            <a:ext cx="2606040" cy="3017520"/>
          </a:xfrm>
          <a:prstGeom prst="roundRect">
            <a:avLst>
              <a:gd name="adj" fmla="val 4211"/>
            </a:avLst>
          </a:prstGeom>
          <a:solidFill>
            <a:srgbClr val="F4EEFA"/>
          </a:solidFill>
          <a:ln w="12700">
            <a:solidFill>
              <a:srgbClr val="F4EEFA"/>
            </a:solidFill>
            <a:prstDash val="solid"/>
          </a:ln>
        </p:spPr>
      </p:sp>
      <p:sp>
        <p:nvSpPr>
          <p:cNvPr id="6" name="Shape 4"/>
          <p:cNvSpPr/>
          <p:nvPr/>
        </p:nvSpPr>
        <p:spPr>
          <a:xfrm>
            <a:off x="822960" y="2926080"/>
            <a:ext cx="658368" cy="658368"/>
          </a:xfrm>
          <a:prstGeom prst="ellipse">
            <a:avLst/>
          </a:prstGeom>
          <a:solidFill>
            <a:srgbClr val="6A0DAD"/>
          </a:solidFill>
          <a:ln w="12700">
            <a:solidFill>
              <a:srgbClr val="6A0DAD"/>
            </a:solidFill>
            <a:prstDash val="solid"/>
          </a:ln>
        </p:spPr>
      </p:sp>
      <p:pic>
        <p:nvPicPr>
          <p:cNvPr id="7" name="Image 0" descr="preencoded.png">    </p:cNvPr>
          <p:cNvPicPr>
            <a:picLocks noChangeAspect="1"/>
          </p:cNvPicPr>
          <p:nvPr/>
        </p:nvPicPr>
        <p:blipFill>
          <a:blip r:embed="rId1"/>
          <a:stretch>
            <a:fillRect/>
          </a:stretch>
        </p:blipFill>
        <p:spPr>
          <a:xfrm>
            <a:off x="980968" y="3084088"/>
            <a:ext cx="342351" cy="342351"/>
          </a:xfrm>
          <a:prstGeom prst="rect">
            <a:avLst/>
          </a:prstGeom>
        </p:spPr>
      </p:pic>
      <p:sp>
        <p:nvSpPr>
          <p:cNvPr id="8" name="Text 5"/>
          <p:cNvSpPr txBox="1"/>
          <p:nvPr/>
        </p:nvSpPr>
        <p:spPr>
          <a:xfrm>
            <a:off x="822960" y="3749040"/>
            <a:ext cx="2148840" cy="457200"/>
          </a:xfrm>
          <a:prstGeom prst="rect">
            <a:avLst/>
          </a:prstGeom>
          <a:noFill/>
          <a:ln/>
        </p:spPr>
        <p:txBody>
          <a:bodyPr wrap="square" lIns="0" tIns="0" rIns="0" bIns="0" rtlCol="0" anchor="t"/>
          <a:lstStyle/>
          <a:p>
            <a:pPr indent="0" marL="0">
              <a:buNone/>
            </a:pPr>
            <a:r>
              <a:rPr lang="en-US" sz="1800" b="1" dirty="0">
                <a:solidFill>
                  <a:srgbClr val="241033"/>
                </a:solidFill>
                <a:latin typeface="Calibri" pitchFamily="34" charset="0"/>
                <a:ea typeface="Calibri" pitchFamily="34" charset="-122"/>
                <a:cs typeface="Calibri" pitchFamily="34" charset="-120"/>
              </a:rPr>
              <a:t>Servicio al cliente</a:t>
            </a:r>
            <a:endParaRPr lang="en-US" sz="1800" dirty="0"/>
          </a:p>
        </p:txBody>
      </p:sp>
      <p:sp>
        <p:nvSpPr>
          <p:cNvPr id="9" name="Text 6"/>
          <p:cNvSpPr txBox="1"/>
          <p:nvPr/>
        </p:nvSpPr>
        <p:spPr>
          <a:xfrm>
            <a:off x="822960" y="4224528"/>
            <a:ext cx="2148840" cy="137160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Analizar encuestas, chats y redes para detectar problemas y sentimiento.</a:t>
            </a:r>
            <a:endParaRPr lang="en-US" sz="1400" dirty="0"/>
          </a:p>
        </p:txBody>
      </p:sp>
      <p:sp>
        <p:nvSpPr>
          <p:cNvPr id="10" name="Shape 7"/>
          <p:cNvSpPr/>
          <p:nvPr/>
        </p:nvSpPr>
        <p:spPr>
          <a:xfrm>
            <a:off x="3355848" y="2697480"/>
            <a:ext cx="2606040" cy="3017520"/>
          </a:xfrm>
          <a:prstGeom prst="roundRect">
            <a:avLst>
              <a:gd name="adj" fmla="val 4211"/>
            </a:avLst>
          </a:prstGeom>
          <a:solidFill>
            <a:srgbClr val="F4EEFA"/>
          </a:solidFill>
          <a:ln w="12700">
            <a:solidFill>
              <a:srgbClr val="F4EEFA"/>
            </a:solidFill>
            <a:prstDash val="solid"/>
          </a:ln>
        </p:spPr>
      </p:sp>
      <p:sp>
        <p:nvSpPr>
          <p:cNvPr id="11" name="Shape 8"/>
          <p:cNvSpPr/>
          <p:nvPr/>
        </p:nvSpPr>
        <p:spPr>
          <a:xfrm>
            <a:off x="3630168" y="2926080"/>
            <a:ext cx="658368" cy="658368"/>
          </a:xfrm>
          <a:prstGeom prst="ellipse">
            <a:avLst/>
          </a:prstGeom>
          <a:solidFill>
            <a:srgbClr val="6A0DAD"/>
          </a:solidFill>
          <a:ln w="12700">
            <a:solidFill>
              <a:srgbClr val="6A0DAD"/>
            </a:solidFill>
            <a:prstDash val="solid"/>
          </a:ln>
        </p:spPr>
      </p:sp>
      <p:pic>
        <p:nvPicPr>
          <p:cNvPr id="12" name="Image 1" descr="preencoded.png">    </p:cNvPr>
          <p:cNvPicPr>
            <a:picLocks noChangeAspect="1"/>
          </p:cNvPicPr>
          <p:nvPr/>
        </p:nvPicPr>
        <p:blipFill>
          <a:blip r:embed="rId2"/>
          <a:stretch>
            <a:fillRect/>
          </a:stretch>
        </p:blipFill>
        <p:spPr>
          <a:xfrm>
            <a:off x="3788176" y="3084088"/>
            <a:ext cx="342351" cy="342351"/>
          </a:xfrm>
          <a:prstGeom prst="rect">
            <a:avLst/>
          </a:prstGeom>
        </p:spPr>
      </p:pic>
      <p:sp>
        <p:nvSpPr>
          <p:cNvPr id="13" name="Text 9"/>
          <p:cNvSpPr txBox="1"/>
          <p:nvPr/>
        </p:nvSpPr>
        <p:spPr>
          <a:xfrm>
            <a:off x="3630168" y="3749040"/>
            <a:ext cx="2148840" cy="457200"/>
          </a:xfrm>
          <a:prstGeom prst="rect">
            <a:avLst/>
          </a:prstGeom>
          <a:noFill/>
          <a:ln/>
        </p:spPr>
        <p:txBody>
          <a:bodyPr wrap="square" lIns="0" tIns="0" rIns="0" bIns="0" rtlCol="0" anchor="t"/>
          <a:lstStyle/>
          <a:p>
            <a:pPr indent="0" marL="0">
              <a:buNone/>
            </a:pPr>
            <a:r>
              <a:rPr lang="en-US" sz="1800" b="1" dirty="0">
                <a:solidFill>
                  <a:srgbClr val="241033"/>
                </a:solidFill>
                <a:latin typeface="Calibri" pitchFamily="34" charset="0"/>
                <a:ea typeface="Calibri" pitchFamily="34" charset="-122"/>
                <a:cs typeface="Calibri" pitchFamily="34" charset="-120"/>
              </a:rPr>
              <a:t>Gestión de riesgo</a:t>
            </a:r>
            <a:endParaRPr lang="en-US" sz="1800" dirty="0"/>
          </a:p>
        </p:txBody>
      </p:sp>
      <p:sp>
        <p:nvSpPr>
          <p:cNvPr id="14" name="Text 10"/>
          <p:cNvSpPr txBox="1"/>
          <p:nvPr/>
        </p:nvSpPr>
        <p:spPr>
          <a:xfrm>
            <a:off x="3630168" y="4224528"/>
            <a:ext cx="2148840" cy="137160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Monitorear el sentimiento en reportes de analistas y noticias financieras.</a:t>
            </a:r>
            <a:endParaRPr lang="en-US" sz="1400" dirty="0"/>
          </a:p>
        </p:txBody>
      </p:sp>
      <p:sp>
        <p:nvSpPr>
          <p:cNvPr id="15" name="Shape 11"/>
          <p:cNvSpPr/>
          <p:nvPr/>
        </p:nvSpPr>
        <p:spPr>
          <a:xfrm>
            <a:off x="6163056" y="2697480"/>
            <a:ext cx="2606040" cy="3017520"/>
          </a:xfrm>
          <a:prstGeom prst="roundRect">
            <a:avLst>
              <a:gd name="adj" fmla="val 4211"/>
            </a:avLst>
          </a:prstGeom>
          <a:solidFill>
            <a:srgbClr val="F4EEFA"/>
          </a:solidFill>
          <a:ln w="12700">
            <a:solidFill>
              <a:srgbClr val="F4EEFA"/>
            </a:solidFill>
            <a:prstDash val="solid"/>
          </a:ln>
        </p:spPr>
      </p:sp>
      <p:sp>
        <p:nvSpPr>
          <p:cNvPr id="16" name="Shape 12"/>
          <p:cNvSpPr/>
          <p:nvPr/>
        </p:nvSpPr>
        <p:spPr>
          <a:xfrm>
            <a:off x="6437376" y="2926080"/>
            <a:ext cx="658368" cy="658368"/>
          </a:xfrm>
          <a:prstGeom prst="ellipse">
            <a:avLst/>
          </a:prstGeom>
          <a:solidFill>
            <a:srgbClr val="6A0DAD"/>
          </a:solidFill>
          <a:ln w="12700">
            <a:solidFill>
              <a:srgbClr val="6A0DAD"/>
            </a:solidFill>
            <a:prstDash val="solid"/>
          </a:ln>
        </p:spPr>
      </p:sp>
      <p:pic>
        <p:nvPicPr>
          <p:cNvPr id="17" name="Image 2" descr="preencoded.png">    </p:cNvPr>
          <p:cNvPicPr>
            <a:picLocks noChangeAspect="1"/>
          </p:cNvPicPr>
          <p:nvPr/>
        </p:nvPicPr>
        <p:blipFill>
          <a:blip r:embed="rId3"/>
          <a:stretch>
            <a:fillRect/>
          </a:stretch>
        </p:blipFill>
        <p:spPr>
          <a:xfrm>
            <a:off x="6595384" y="3084088"/>
            <a:ext cx="342351" cy="342351"/>
          </a:xfrm>
          <a:prstGeom prst="rect">
            <a:avLst/>
          </a:prstGeom>
        </p:spPr>
      </p:pic>
      <p:sp>
        <p:nvSpPr>
          <p:cNvPr id="18" name="Text 13"/>
          <p:cNvSpPr txBox="1"/>
          <p:nvPr/>
        </p:nvSpPr>
        <p:spPr>
          <a:xfrm>
            <a:off x="6437376" y="3749040"/>
            <a:ext cx="2148840" cy="457200"/>
          </a:xfrm>
          <a:prstGeom prst="rect">
            <a:avLst/>
          </a:prstGeom>
          <a:noFill/>
          <a:ln/>
        </p:spPr>
        <p:txBody>
          <a:bodyPr wrap="square" lIns="0" tIns="0" rIns="0" bIns="0" rtlCol="0" anchor="t"/>
          <a:lstStyle/>
          <a:p>
            <a:pPr indent="0" marL="0">
              <a:buNone/>
            </a:pPr>
            <a:r>
              <a:rPr lang="en-US" sz="1800" b="1" dirty="0">
                <a:solidFill>
                  <a:srgbClr val="241033"/>
                </a:solidFill>
                <a:latin typeface="Calibri" pitchFamily="34" charset="0"/>
                <a:ea typeface="Calibri" pitchFamily="34" charset="-122"/>
                <a:cs typeface="Calibri" pitchFamily="34" charset="-120"/>
              </a:rPr>
              <a:t>Salud</a:t>
            </a:r>
            <a:endParaRPr lang="en-US" sz="1800" dirty="0"/>
          </a:p>
        </p:txBody>
      </p:sp>
      <p:sp>
        <p:nvSpPr>
          <p:cNvPr id="19" name="Text 14"/>
          <p:cNvSpPr txBox="1"/>
          <p:nvPr/>
        </p:nvSpPr>
        <p:spPr>
          <a:xfrm>
            <a:off x="6437376" y="4224528"/>
            <a:ext cx="2148840" cy="137160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Agrupar literatura biomédica y extraer información de notas clínicas.</a:t>
            </a:r>
            <a:endParaRPr lang="en-US" sz="1400" dirty="0"/>
          </a:p>
        </p:txBody>
      </p:sp>
      <p:sp>
        <p:nvSpPr>
          <p:cNvPr id="20" name="Shape 15"/>
          <p:cNvSpPr/>
          <p:nvPr/>
        </p:nvSpPr>
        <p:spPr>
          <a:xfrm>
            <a:off x="8970264" y="2697480"/>
            <a:ext cx="2606040" cy="3017520"/>
          </a:xfrm>
          <a:prstGeom prst="roundRect">
            <a:avLst>
              <a:gd name="adj" fmla="val 4211"/>
            </a:avLst>
          </a:prstGeom>
          <a:solidFill>
            <a:srgbClr val="F4EEFA"/>
          </a:solidFill>
          <a:ln w="12700">
            <a:solidFill>
              <a:srgbClr val="F4EEFA"/>
            </a:solidFill>
            <a:prstDash val="solid"/>
          </a:ln>
        </p:spPr>
      </p:sp>
      <p:sp>
        <p:nvSpPr>
          <p:cNvPr id="21" name="Shape 16"/>
          <p:cNvSpPr/>
          <p:nvPr/>
        </p:nvSpPr>
        <p:spPr>
          <a:xfrm>
            <a:off x="9244584" y="2926080"/>
            <a:ext cx="658368" cy="658368"/>
          </a:xfrm>
          <a:prstGeom prst="ellipse">
            <a:avLst/>
          </a:prstGeom>
          <a:solidFill>
            <a:srgbClr val="6A0DAD"/>
          </a:solidFill>
          <a:ln w="12700">
            <a:solidFill>
              <a:srgbClr val="6A0DAD"/>
            </a:solidFill>
            <a:prstDash val="solid"/>
          </a:ln>
        </p:spPr>
      </p:sp>
      <p:pic>
        <p:nvPicPr>
          <p:cNvPr id="22" name="Image 3" descr="preencoded.png">    </p:cNvPr>
          <p:cNvPicPr>
            <a:picLocks noChangeAspect="1"/>
          </p:cNvPicPr>
          <p:nvPr/>
        </p:nvPicPr>
        <p:blipFill>
          <a:blip r:embed="rId4"/>
          <a:stretch>
            <a:fillRect/>
          </a:stretch>
        </p:blipFill>
        <p:spPr>
          <a:xfrm>
            <a:off x="9402592" y="3084088"/>
            <a:ext cx="342351" cy="342351"/>
          </a:xfrm>
          <a:prstGeom prst="rect">
            <a:avLst/>
          </a:prstGeom>
        </p:spPr>
      </p:pic>
      <p:sp>
        <p:nvSpPr>
          <p:cNvPr id="23" name="Text 17"/>
          <p:cNvSpPr txBox="1"/>
          <p:nvPr/>
        </p:nvSpPr>
        <p:spPr>
          <a:xfrm>
            <a:off x="9244584" y="3749040"/>
            <a:ext cx="2148840" cy="457200"/>
          </a:xfrm>
          <a:prstGeom prst="rect">
            <a:avLst/>
          </a:prstGeom>
          <a:noFill/>
          <a:ln/>
        </p:spPr>
        <p:txBody>
          <a:bodyPr wrap="square" lIns="0" tIns="0" rIns="0" bIns="0" rtlCol="0" anchor="t"/>
          <a:lstStyle/>
          <a:p>
            <a:pPr indent="0" marL="0">
              <a:buNone/>
            </a:pPr>
            <a:r>
              <a:rPr lang="en-US" sz="1800" b="1" dirty="0">
                <a:solidFill>
                  <a:srgbClr val="241033"/>
                </a:solidFill>
                <a:latin typeface="Calibri" pitchFamily="34" charset="0"/>
                <a:ea typeface="Calibri" pitchFamily="34" charset="-122"/>
                <a:cs typeface="Calibri" pitchFamily="34" charset="-120"/>
              </a:rPr>
              <a:t>Filtrado de spam</a:t>
            </a:r>
            <a:endParaRPr lang="en-US" sz="1800" dirty="0"/>
          </a:p>
        </p:txBody>
      </p:sp>
      <p:sp>
        <p:nvSpPr>
          <p:cNvPr id="24" name="Text 18"/>
          <p:cNvSpPr txBox="1"/>
          <p:nvPr/>
        </p:nvSpPr>
        <p:spPr>
          <a:xfrm>
            <a:off x="9244584" y="4224528"/>
            <a:ext cx="2148840" cy="137160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Clasificar correos para proteger a los usuarios de fraude y malware.</a:t>
            </a:r>
            <a:endParaRPr lang="en-US" sz="1400" dirty="0"/>
          </a:p>
        </p:txBody>
      </p:sp>
      <p:sp>
        <p:nvSpPr>
          <p:cNvPr id="25" name="Text 19"/>
          <p:cNvSpPr txBox="1"/>
          <p:nvPr/>
        </p:nvSpPr>
        <p:spPr>
          <a:xfrm>
            <a:off x="548640" y="5897880"/>
            <a:ext cx="5486400" cy="274320"/>
          </a:xfrm>
          <a:prstGeom prst="rect">
            <a:avLst/>
          </a:prstGeom>
          <a:noFill/>
          <a:ln/>
        </p:spPr>
        <p:txBody>
          <a:bodyPr wrap="square" lIns="0" tIns="0" rIns="0" bIns="0" rtlCol="0" anchor="t"/>
          <a:lstStyle/>
          <a:p>
            <a:pPr indent="0" marL="0">
              <a:buNone/>
            </a:pPr>
            <a:r>
              <a:rPr lang="en-US" sz="1100" i="1" dirty="0">
                <a:solidFill>
                  <a:srgbClr val="6E6480"/>
                </a:solidFill>
                <a:latin typeface="Calibri" pitchFamily="34" charset="0"/>
                <a:ea typeface="Calibri" pitchFamily="34" charset="-122"/>
                <a:cs typeface="Calibri" pitchFamily="34" charset="-120"/>
              </a:rPr>
              <a:t>Fuente: IBM, What is text mining?</a:t>
            </a:r>
            <a:endParaRPr lang="en-US" sz="11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El pipeline que construiremos hoy</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LA RUTA DE LA CLASE</a:t>
            </a:r>
            <a:endParaRPr lang="en-US" sz="1100" dirty="0"/>
          </a:p>
        </p:txBody>
      </p:sp>
      <p:sp>
        <p:nvSpPr>
          <p:cNvPr id="4" name="Shape 2"/>
          <p:cNvSpPr/>
          <p:nvPr/>
        </p:nvSpPr>
        <p:spPr>
          <a:xfrm>
            <a:off x="548640" y="1691640"/>
            <a:ext cx="1828800" cy="960120"/>
          </a:xfrm>
          <a:prstGeom prst="chevron">
            <a:avLst/>
          </a:prstGeom>
          <a:solidFill>
            <a:srgbClr val="8A3FC8"/>
          </a:solidFill>
          <a:ln w="12700">
            <a:solidFill>
              <a:srgbClr val="FFFFFF"/>
            </a:solidFill>
            <a:prstDash val="solid"/>
          </a:ln>
        </p:spPr>
      </p:sp>
      <p:sp>
        <p:nvSpPr>
          <p:cNvPr id="5" name="Text 3"/>
          <p:cNvSpPr txBox="1"/>
          <p:nvPr/>
        </p:nvSpPr>
        <p:spPr>
          <a:xfrm>
            <a:off x="804672" y="1691640"/>
            <a:ext cx="137160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Texto crudo</a:t>
            </a:r>
            <a:endParaRPr lang="en-US" sz="1300" dirty="0"/>
          </a:p>
        </p:txBody>
      </p:sp>
      <p:sp>
        <p:nvSpPr>
          <p:cNvPr id="6" name="Shape 4"/>
          <p:cNvSpPr/>
          <p:nvPr/>
        </p:nvSpPr>
        <p:spPr>
          <a:xfrm>
            <a:off x="594360" y="3063240"/>
            <a:ext cx="1691640" cy="1051560"/>
          </a:xfrm>
          <a:prstGeom prst="roundRect">
            <a:avLst>
              <a:gd name="adj" fmla="val 10435"/>
            </a:avLst>
          </a:prstGeom>
          <a:solidFill>
            <a:srgbClr val="F4EEFA"/>
          </a:solidFill>
          <a:ln w="12700">
            <a:solidFill>
              <a:srgbClr val="F4EEFA"/>
            </a:solidFill>
            <a:prstDash val="solid"/>
          </a:ln>
        </p:spPr>
      </p:sp>
      <p:sp>
        <p:nvSpPr>
          <p:cNvPr id="7" name="Text 5"/>
          <p:cNvSpPr txBox="1"/>
          <p:nvPr/>
        </p:nvSpPr>
        <p:spPr>
          <a:xfrm>
            <a:off x="658368" y="3063240"/>
            <a:ext cx="1563624" cy="1051560"/>
          </a:xfrm>
          <a:prstGeom prst="rect">
            <a:avLst/>
          </a:prstGeom>
          <a:noFill/>
          <a:ln/>
        </p:spPr>
        <p:txBody>
          <a:bodyPr wrap="square" lIns="0" tIns="0" rIns="0" bIns="0" rtlCol="0" anchor="ctr"/>
          <a:lstStyle/>
          <a:p>
            <a:pPr algn="ctr" indent="0" marL="0">
              <a:buNone/>
            </a:pPr>
            <a:r>
              <a:rPr lang="en-US" sz="1300" dirty="0">
                <a:solidFill>
                  <a:srgbClr val="241033"/>
                </a:solidFill>
                <a:latin typeface="Calibri" pitchFamily="34" charset="0"/>
                <a:ea typeface="Calibri" pitchFamily="34" charset="-122"/>
                <a:cs typeface="Calibri" pitchFamily="34" charset="-120"/>
              </a:rPr>
              <a:t>“¡Me ENCANTÓ!! 😍”</a:t>
            </a:r>
            <a:endParaRPr lang="en-US" sz="1300" dirty="0"/>
          </a:p>
        </p:txBody>
      </p:sp>
      <p:sp>
        <p:nvSpPr>
          <p:cNvPr id="8" name="Text 6"/>
          <p:cNvSpPr txBox="1"/>
          <p:nvPr/>
        </p:nvSpPr>
        <p:spPr>
          <a:xfrm>
            <a:off x="594360" y="4251960"/>
            <a:ext cx="1691640" cy="320040"/>
          </a:xfrm>
          <a:prstGeom prst="rect">
            <a:avLst/>
          </a:prstGeom>
          <a:noFill/>
          <a:ln/>
        </p:spPr>
        <p:txBody>
          <a:bodyPr wrap="square" lIns="0" tIns="0" rIns="0" bIns="0" rtlCol="0" anchor="t"/>
          <a:lstStyle/>
          <a:p>
            <a:pPr algn="ctr" indent="0" marL="0">
              <a:buNone/>
            </a:pPr>
            <a:r>
              <a:rPr lang="en-US" sz="1200" b="1" dirty="0">
                <a:solidFill>
                  <a:srgbClr val="C400C4"/>
                </a:solidFill>
                <a:latin typeface="Calibri" pitchFamily="34" charset="0"/>
                <a:ea typeface="Calibri" pitchFamily="34" charset="-122"/>
                <a:cs typeface="Calibri" pitchFamily="34" charset="-120"/>
              </a:rPr>
              <a:t>NB 01</a:t>
            </a:r>
            <a:endParaRPr lang="en-US" sz="1200" dirty="0"/>
          </a:p>
        </p:txBody>
      </p:sp>
      <p:sp>
        <p:nvSpPr>
          <p:cNvPr id="9" name="Shape 7"/>
          <p:cNvSpPr/>
          <p:nvPr/>
        </p:nvSpPr>
        <p:spPr>
          <a:xfrm>
            <a:off x="2423160" y="1691640"/>
            <a:ext cx="1828800" cy="960120"/>
          </a:xfrm>
          <a:prstGeom prst="chevron">
            <a:avLst/>
          </a:prstGeom>
          <a:solidFill>
            <a:srgbClr val="6A0DAD"/>
          </a:solidFill>
          <a:ln w="12700">
            <a:solidFill>
              <a:srgbClr val="FFFFFF"/>
            </a:solidFill>
            <a:prstDash val="solid"/>
          </a:ln>
        </p:spPr>
      </p:sp>
      <p:sp>
        <p:nvSpPr>
          <p:cNvPr id="10" name="Text 8"/>
          <p:cNvSpPr txBox="1"/>
          <p:nvPr/>
        </p:nvSpPr>
        <p:spPr>
          <a:xfrm>
            <a:off x="2679192" y="1691640"/>
            <a:ext cx="137160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Limpieza</a:t>
            </a:r>
            <a:endParaRPr lang="en-US" sz="1300" dirty="0"/>
          </a:p>
        </p:txBody>
      </p:sp>
      <p:sp>
        <p:nvSpPr>
          <p:cNvPr id="11" name="Shape 9"/>
          <p:cNvSpPr/>
          <p:nvPr/>
        </p:nvSpPr>
        <p:spPr>
          <a:xfrm>
            <a:off x="2468880" y="3063240"/>
            <a:ext cx="1691640" cy="1051560"/>
          </a:xfrm>
          <a:prstGeom prst="roundRect">
            <a:avLst>
              <a:gd name="adj" fmla="val 10435"/>
            </a:avLst>
          </a:prstGeom>
          <a:solidFill>
            <a:srgbClr val="F4EEFA"/>
          </a:solidFill>
          <a:ln w="12700">
            <a:solidFill>
              <a:srgbClr val="F4EEFA"/>
            </a:solidFill>
            <a:prstDash val="solid"/>
          </a:ln>
        </p:spPr>
      </p:sp>
      <p:sp>
        <p:nvSpPr>
          <p:cNvPr id="12" name="Text 10"/>
          <p:cNvSpPr txBox="1"/>
          <p:nvPr/>
        </p:nvSpPr>
        <p:spPr>
          <a:xfrm>
            <a:off x="2532888" y="3063240"/>
            <a:ext cx="1563624" cy="1051560"/>
          </a:xfrm>
          <a:prstGeom prst="rect">
            <a:avLst/>
          </a:prstGeom>
          <a:noFill/>
          <a:ln/>
        </p:spPr>
        <p:txBody>
          <a:bodyPr wrap="square" lIns="0" tIns="0" rIns="0" bIns="0" rtlCol="0" anchor="ctr"/>
          <a:lstStyle/>
          <a:p>
            <a:pPr algn="ctr" indent="0" marL="0">
              <a:buNone/>
            </a:pPr>
            <a:r>
              <a:rPr lang="en-US" sz="1300" dirty="0">
                <a:solidFill>
                  <a:srgbClr val="241033"/>
                </a:solidFill>
                <a:latin typeface="Calibri" pitchFamily="34" charset="0"/>
                <a:ea typeface="Calibri" pitchFamily="34" charset="-122"/>
                <a:cs typeface="Calibri" pitchFamily="34" charset="-120"/>
              </a:rPr>
              <a:t>me encantó</a:t>
            </a:r>
            <a:endParaRPr lang="en-US" sz="1300" dirty="0"/>
          </a:p>
        </p:txBody>
      </p:sp>
      <p:sp>
        <p:nvSpPr>
          <p:cNvPr id="13" name="Text 11"/>
          <p:cNvSpPr txBox="1"/>
          <p:nvPr/>
        </p:nvSpPr>
        <p:spPr>
          <a:xfrm>
            <a:off x="2468880" y="4251960"/>
            <a:ext cx="1691640" cy="320040"/>
          </a:xfrm>
          <a:prstGeom prst="rect">
            <a:avLst/>
          </a:prstGeom>
          <a:noFill/>
          <a:ln/>
        </p:spPr>
        <p:txBody>
          <a:bodyPr wrap="square" lIns="0" tIns="0" rIns="0" bIns="0" rtlCol="0" anchor="t"/>
          <a:lstStyle/>
          <a:p>
            <a:pPr algn="ctr" indent="0" marL="0">
              <a:buNone/>
            </a:pPr>
            <a:r>
              <a:rPr lang="en-US" sz="1200" b="1" dirty="0">
                <a:solidFill>
                  <a:srgbClr val="C400C4"/>
                </a:solidFill>
                <a:latin typeface="Calibri" pitchFamily="34" charset="0"/>
                <a:ea typeface="Calibri" pitchFamily="34" charset="-122"/>
                <a:cs typeface="Calibri" pitchFamily="34" charset="-120"/>
              </a:rPr>
              <a:t>NB 02</a:t>
            </a:r>
            <a:endParaRPr lang="en-US" sz="1200" dirty="0"/>
          </a:p>
        </p:txBody>
      </p:sp>
      <p:sp>
        <p:nvSpPr>
          <p:cNvPr id="14" name="Shape 12"/>
          <p:cNvSpPr/>
          <p:nvPr/>
        </p:nvSpPr>
        <p:spPr>
          <a:xfrm>
            <a:off x="4297680" y="1691640"/>
            <a:ext cx="1828800" cy="960120"/>
          </a:xfrm>
          <a:prstGeom prst="chevron">
            <a:avLst/>
          </a:prstGeom>
          <a:solidFill>
            <a:srgbClr val="8A3FC8"/>
          </a:solidFill>
          <a:ln w="12700">
            <a:solidFill>
              <a:srgbClr val="FFFFFF"/>
            </a:solidFill>
            <a:prstDash val="solid"/>
          </a:ln>
        </p:spPr>
      </p:sp>
      <p:sp>
        <p:nvSpPr>
          <p:cNvPr id="15" name="Text 13"/>
          <p:cNvSpPr txBox="1"/>
          <p:nvPr/>
        </p:nvSpPr>
        <p:spPr>
          <a:xfrm>
            <a:off x="4553712" y="1691640"/>
            <a:ext cx="137160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Tokenización</a:t>
            </a:r>
            <a:endParaRPr lang="en-US" sz="1300" dirty="0"/>
          </a:p>
        </p:txBody>
      </p:sp>
      <p:sp>
        <p:nvSpPr>
          <p:cNvPr id="16" name="Shape 14"/>
          <p:cNvSpPr/>
          <p:nvPr/>
        </p:nvSpPr>
        <p:spPr>
          <a:xfrm>
            <a:off x="4343400" y="3063240"/>
            <a:ext cx="1691640" cy="1051560"/>
          </a:xfrm>
          <a:prstGeom prst="roundRect">
            <a:avLst>
              <a:gd name="adj" fmla="val 10435"/>
            </a:avLst>
          </a:prstGeom>
          <a:solidFill>
            <a:srgbClr val="F4EEFA"/>
          </a:solidFill>
          <a:ln w="12700">
            <a:solidFill>
              <a:srgbClr val="F4EEFA"/>
            </a:solidFill>
            <a:prstDash val="solid"/>
          </a:ln>
        </p:spPr>
      </p:sp>
      <p:sp>
        <p:nvSpPr>
          <p:cNvPr id="17" name="Text 15"/>
          <p:cNvSpPr txBox="1"/>
          <p:nvPr/>
        </p:nvSpPr>
        <p:spPr>
          <a:xfrm>
            <a:off x="4407408" y="3063240"/>
            <a:ext cx="1563624" cy="1051560"/>
          </a:xfrm>
          <a:prstGeom prst="rect">
            <a:avLst/>
          </a:prstGeom>
          <a:noFill/>
          <a:ln/>
        </p:spPr>
        <p:txBody>
          <a:bodyPr wrap="square" lIns="0" tIns="0" rIns="0" bIns="0" rtlCol="0" anchor="ctr"/>
          <a:lstStyle/>
          <a:p>
            <a:pPr algn="ctr" indent="0" marL="0">
              <a:buNone/>
            </a:pPr>
            <a:r>
              <a:rPr lang="en-US" sz="1300" dirty="0">
                <a:solidFill>
                  <a:srgbClr val="241033"/>
                </a:solidFill>
                <a:latin typeface="Courier New" pitchFamily="34" charset="0"/>
                <a:ea typeface="Courier New" pitchFamily="34" charset="-122"/>
                <a:cs typeface="Courier New" pitchFamily="34" charset="-120"/>
              </a:rPr>
              <a:t>[ 12, 87 ]</a:t>
            </a:r>
            <a:endParaRPr lang="en-US" sz="1300" dirty="0"/>
          </a:p>
        </p:txBody>
      </p:sp>
      <p:sp>
        <p:nvSpPr>
          <p:cNvPr id="18" name="Text 16"/>
          <p:cNvSpPr txBox="1"/>
          <p:nvPr/>
        </p:nvSpPr>
        <p:spPr>
          <a:xfrm>
            <a:off x="4343400" y="4251960"/>
            <a:ext cx="1691640" cy="320040"/>
          </a:xfrm>
          <a:prstGeom prst="rect">
            <a:avLst/>
          </a:prstGeom>
          <a:noFill/>
          <a:ln/>
        </p:spPr>
        <p:txBody>
          <a:bodyPr wrap="square" lIns="0" tIns="0" rIns="0" bIns="0" rtlCol="0" anchor="t"/>
          <a:lstStyle/>
          <a:p>
            <a:pPr algn="ctr" indent="0" marL="0">
              <a:buNone/>
            </a:pPr>
            <a:r>
              <a:rPr lang="en-US" sz="1200" b="1" dirty="0">
                <a:solidFill>
                  <a:srgbClr val="C400C4"/>
                </a:solidFill>
                <a:latin typeface="Calibri" pitchFamily="34" charset="0"/>
                <a:ea typeface="Calibri" pitchFamily="34" charset="-122"/>
                <a:cs typeface="Calibri" pitchFamily="34" charset="-120"/>
              </a:rPr>
              <a:t>NB 03</a:t>
            </a:r>
            <a:endParaRPr lang="en-US" sz="1200" dirty="0"/>
          </a:p>
        </p:txBody>
      </p:sp>
      <p:sp>
        <p:nvSpPr>
          <p:cNvPr id="19" name="Shape 17"/>
          <p:cNvSpPr/>
          <p:nvPr/>
        </p:nvSpPr>
        <p:spPr>
          <a:xfrm>
            <a:off x="6172200" y="1691640"/>
            <a:ext cx="1828800" cy="960120"/>
          </a:xfrm>
          <a:prstGeom prst="chevron">
            <a:avLst/>
          </a:prstGeom>
          <a:solidFill>
            <a:srgbClr val="6A0DAD"/>
          </a:solidFill>
          <a:ln w="12700">
            <a:solidFill>
              <a:srgbClr val="FFFFFF"/>
            </a:solidFill>
            <a:prstDash val="solid"/>
          </a:ln>
        </p:spPr>
      </p:sp>
      <p:sp>
        <p:nvSpPr>
          <p:cNvPr id="20" name="Text 18"/>
          <p:cNvSpPr txBox="1"/>
          <p:nvPr/>
        </p:nvSpPr>
        <p:spPr>
          <a:xfrm>
            <a:off x="6428232" y="1691640"/>
            <a:ext cx="137160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Padding</a:t>
            </a:r>
            <a:endParaRPr lang="en-US" sz="1300" dirty="0"/>
          </a:p>
        </p:txBody>
      </p:sp>
      <p:sp>
        <p:nvSpPr>
          <p:cNvPr id="21" name="Shape 19"/>
          <p:cNvSpPr/>
          <p:nvPr/>
        </p:nvSpPr>
        <p:spPr>
          <a:xfrm>
            <a:off x="6217920" y="3063240"/>
            <a:ext cx="1691640" cy="1051560"/>
          </a:xfrm>
          <a:prstGeom prst="roundRect">
            <a:avLst>
              <a:gd name="adj" fmla="val 10435"/>
            </a:avLst>
          </a:prstGeom>
          <a:solidFill>
            <a:srgbClr val="F4EEFA"/>
          </a:solidFill>
          <a:ln w="12700">
            <a:solidFill>
              <a:srgbClr val="F4EEFA"/>
            </a:solidFill>
            <a:prstDash val="solid"/>
          </a:ln>
        </p:spPr>
      </p:sp>
      <p:sp>
        <p:nvSpPr>
          <p:cNvPr id="22" name="Text 20"/>
          <p:cNvSpPr txBox="1"/>
          <p:nvPr/>
        </p:nvSpPr>
        <p:spPr>
          <a:xfrm>
            <a:off x="6281928" y="3063240"/>
            <a:ext cx="1563624" cy="1051560"/>
          </a:xfrm>
          <a:prstGeom prst="rect">
            <a:avLst/>
          </a:prstGeom>
          <a:noFill/>
          <a:ln/>
        </p:spPr>
        <p:txBody>
          <a:bodyPr wrap="square" lIns="0" tIns="0" rIns="0" bIns="0" rtlCol="0" anchor="ctr"/>
          <a:lstStyle/>
          <a:p>
            <a:pPr algn="ctr" indent="0" marL="0">
              <a:buNone/>
            </a:pPr>
            <a:r>
              <a:rPr lang="en-US" sz="1300" dirty="0">
                <a:solidFill>
                  <a:srgbClr val="241033"/>
                </a:solidFill>
                <a:latin typeface="Courier New" pitchFamily="34" charset="0"/>
                <a:ea typeface="Courier New" pitchFamily="34" charset="-122"/>
                <a:cs typeface="Courier New" pitchFamily="34" charset="-120"/>
              </a:rPr>
              <a:t>[12, 87, 0, 0]</a:t>
            </a:r>
            <a:endParaRPr lang="en-US" sz="1300" dirty="0"/>
          </a:p>
        </p:txBody>
      </p:sp>
      <p:sp>
        <p:nvSpPr>
          <p:cNvPr id="23" name="Text 21"/>
          <p:cNvSpPr txBox="1"/>
          <p:nvPr/>
        </p:nvSpPr>
        <p:spPr>
          <a:xfrm>
            <a:off x="6217920" y="4251960"/>
            <a:ext cx="1691640" cy="320040"/>
          </a:xfrm>
          <a:prstGeom prst="rect">
            <a:avLst/>
          </a:prstGeom>
          <a:noFill/>
          <a:ln/>
        </p:spPr>
        <p:txBody>
          <a:bodyPr wrap="square" lIns="0" tIns="0" rIns="0" bIns="0" rtlCol="0" anchor="t"/>
          <a:lstStyle/>
          <a:p>
            <a:pPr algn="ctr" indent="0" marL="0">
              <a:buNone/>
            </a:pPr>
            <a:r>
              <a:rPr lang="en-US" sz="1200" b="1" dirty="0">
                <a:solidFill>
                  <a:srgbClr val="C400C4"/>
                </a:solidFill>
                <a:latin typeface="Calibri" pitchFamily="34" charset="0"/>
                <a:ea typeface="Calibri" pitchFamily="34" charset="-122"/>
                <a:cs typeface="Calibri" pitchFamily="34" charset="-120"/>
              </a:rPr>
              <a:t>NB 04</a:t>
            </a:r>
            <a:endParaRPr lang="en-US" sz="1200" dirty="0"/>
          </a:p>
        </p:txBody>
      </p:sp>
      <p:sp>
        <p:nvSpPr>
          <p:cNvPr id="24" name="Shape 22"/>
          <p:cNvSpPr/>
          <p:nvPr/>
        </p:nvSpPr>
        <p:spPr>
          <a:xfrm>
            <a:off x="8046720" y="1691640"/>
            <a:ext cx="1828800" cy="960120"/>
          </a:xfrm>
          <a:prstGeom prst="chevron">
            <a:avLst/>
          </a:prstGeom>
          <a:solidFill>
            <a:srgbClr val="8A3FC8"/>
          </a:solidFill>
          <a:ln w="12700">
            <a:solidFill>
              <a:srgbClr val="FFFFFF"/>
            </a:solidFill>
            <a:prstDash val="solid"/>
          </a:ln>
        </p:spPr>
      </p:sp>
      <p:sp>
        <p:nvSpPr>
          <p:cNvPr id="25" name="Text 23"/>
          <p:cNvSpPr txBox="1"/>
          <p:nvPr/>
        </p:nvSpPr>
        <p:spPr>
          <a:xfrm>
            <a:off x="8302752" y="1691640"/>
            <a:ext cx="137160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Vectores</a:t>
            </a:r>
            <a:endParaRPr lang="en-US" sz="1300" dirty="0"/>
          </a:p>
        </p:txBody>
      </p:sp>
      <p:sp>
        <p:nvSpPr>
          <p:cNvPr id="26" name="Shape 24"/>
          <p:cNvSpPr/>
          <p:nvPr/>
        </p:nvSpPr>
        <p:spPr>
          <a:xfrm>
            <a:off x="8092440" y="3063240"/>
            <a:ext cx="1691640" cy="1051560"/>
          </a:xfrm>
          <a:prstGeom prst="roundRect">
            <a:avLst>
              <a:gd name="adj" fmla="val 10435"/>
            </a:avLst>
          </a:prstGeom>
          <a:solidFill>
            <a:srgbClr val="F4EEFA"/>
          </a:solidFill>
          <a:ln w="12700">
            <a:solidFill>
              <a:srgbClr val="F4EEFA"/>
            </a:solidFill>
            <a:prstDash val="solid"/>
          </a:ln>
        </p:spPr>
      </p:sp>
      <p:sp>
        <p:nvSpPr>
          <p:cNvPr id="27" name="Text 25"/>
          <p:cNvSpPr txBox="1"/>
          <p:nvPr/>
        </p:nvSpPr>
        <p:spPr>
          <a:xfrm>
            <a:off x="8156448" y="3063240"/>
            <a:ext cx="1563624" cy="1051560"/>
          </a:xfrm>
          <a:prstGeom prst="rect">
            <a:avLst/>
          </a:prstGeom>
          <a:noFill/>
          <a:ln/>
        </p:spPr>
        <p:txBody>
          <a:bodyPr wrap="square" lIns="0" tIns="0" rIns="0" bIns="0" rtlCol="0" anchor="ctr"/>
          <a:lstStyle/>
          <a:p>
            <a:pPr algn="ctr" indent="0" marL="0">
              <a:buNone/>
            </a:pPr>
            <a:r>
              <a:rPr lang="en-US" sz="1300" dirty="0">
                <a:solidFill>
                  <a:srgbClr val="241033"/>
                </a:solidFill>
                <a:latin typeface="Calibri" pitchFamily="34" charset="0"/>
                <a:ea typeface="Calibri" pitchFamily="34" charset="-122"/>
                <a:cs typeface="Calibri" pitchFamily="34" charset="-120"/>
              </a:rPr>
              <a:t>TF-IDF · Embedding</a:t>
            </a:r>
            <a:endParaRPr lang="en-US" sz="1300" dirty="0"/>
          </a:p>
        </p:txBody>
      </p:sp>
      <p:sp>
        <p:nvSpPr>
          <p:cNvPr id="28" name="Text 26"/>
          <p:cNvSpPr txBox="1"/>
          <p:nvPr/>
        </p:nvSpPr>
        <p:spPr>
          <a:xfrm>
            <a:off x="8092440" y="4251960"/>
            <a:ext cx="1691640" cy="320040"/>
          </a:xfrm>
          <a:prstGeom prst="rect">
            <a:avLst/>
          </a:prstGeom>
          <a:noFill/>
          <a:ln/>
        </p:spPr>
        <p:txBody>
          <a:bodyPr wrap="square" lIns="0" tIns="0" rIns="0" bIns="0" rtlCol="0" anchor="t"/>
          <a:lstStyle/>
          <a:p>
            <a:pPr algn="ctr" indent="0" marL="0">
              <a:buNone/>
            </a:pPr>
            <a:r>
              <a:rPr lang="en-US" sz="1200" b="1" dirty="0">
                <a:solidFill>
                  <a:srgbClr val="C400C4"/>
                </a:solidFill>
                <a:latin typeface="Calibri" pitchFamily="34" charset="0"/>
                <a:ea typeface="Calibri" pitchFamily="34" charset="-122"/>
                <a:cs typeface="Calibri" pitchFamily="34" charset="-120"/>
              </a:rPr>
              <a:t>NB 05–06</a:t>
            </a:r>
            <a:endParaRPr lang="en-US" sz="1200" dirty="0"/>
          </a:p>
        </p:txBody>
      </p:sp>
      <p:sp>
        <p:nvSpPr>
          <p:cNvPr id="29" name="Shape 27"/>
          <p:cNvSpPr/>
          <p:nvPr/>
        </p:nvSpPr>
        <p:spPr>
          <a:xfrm>
            <a:off x="9921240" y="1691640"/>
            <a:ext cx="1828800" cy="960120"/>
          </a:xfrm>
          <a:prstGeom prst="chevron">
            <a:avLst/>
          </a:prstGeom>
          <a:solidFill>
            <a:srgbClr val="C400C4"/>
          </a:solidFill>
          <a:ln w="12700">
            <a:solidFill>
              <a:srgbClr val="FFFFFF"/>
            </a:solidFill>
            <a:prstDash val="solid"/>
          </a:ln>
        </p:spPr>
      </p:sp>
      <p:sp>
        <p:nvSpPr>
          <p:cNvPr id="30" name="Text 28"/>
          <p:cNvSpPr txBox="1"/>
          <p:nvPr/>
        </p:nvSpPr>
        <p:spPr>
          <a:xfrm>
            <a:off x="10177272" y="1691640"/>
            <a:ext cx="137160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Modelo</a:t>
            </a:r>
            <a:endParaRPr lang="en-US" sz="1300" dirty="0"/>
          </a:p>
        </p:txBody>
      </p:sp>
      <p:sp>
        <p:nvSpPr>
          <p:cNvPr id="31" name="Shape 29"/>
          <p:cNvSpPr/>
          <p:nvPr/>
        </p:nvSpPr>
        <p:spPr>
          <a:xfrm>
            <a:off x="9966960" y="3063240"/>
            <a:ext cx="1691640" cy="1051560"/>
          </a:xfrm>
          <a:prstGeom prst="roundRect">
            <a:avLst>
              <a:gd name="adj" fmla="val 10435"/>
            </a:avLst>
          </a:prstGeom>
          <a:solidFill>
            <a:srgbClr val="F4EEFA"/>
          </a:solidFill>
          <a:ln w="12700">
            <a:solidFill>
              <a:srgbClr val="F4EEFA"/>
            </a:solidFill>
            <a:prstDash val="solid"/>
          </a:ln>
        </p:spPr>
      </p:sp>
      <p:sp>
        <p:nvSpPr>
          <p:cNvPr id="32" name="Text 30"/>
          <p:cNvSpPr txBox="1"/>
          <p:nvPr/>
        </p:nvSpPr>
        <p:spPr>
          <a:xfrm>
            <a:off x="10030968" y="3063240"/>
            <a:ext cx="1563624" cy="1051560"/>
          </a:xfrm>
          <a:prstGeom prst="rect">
            <a:avLst/>
          </a:prstGeom>
          <a:noFill/>
          <a:ln/>
        </p:spPr>
        <p:txBody>
          <a:bodyPr wrap="square" lIns="0" tIns="0" rIns="0" bIns="0" rtlCol="0" anchor="ctr"/>
          <a:lstStyle/>
          <a:p>
            <a:pPr algn="ctr" indent="0" marL="0">
              <a:buNone/>
            </a:pPr>
            <a:r>
              <a:rPr lang="en-US" sz="1300" dirty="0">
                <a:solidFill>
                  <a:srgbClr val="241033"/>
                </a:solidFill>
                <a:latin typeface="Calibri" pitchFamily="34" charset="0"/>
                <a:ea typeface="Calibri" pitchFamily="34" charset="-122"/>
                <a:cs typeface="Calibri" pitchFamily="34" charset="-120"/>
              </a:rPr>
              <a:t>P(positivo) = 0.97</a:t>
            </a:r>
            <a:endParaRPr lang="en-US" sz="1300" dirty="0"/>
          </a:p>
        </p:txBody>
      </p:sp>
      <p:sp>
        <p:nvSpPr>
          <p:cNvPr id="33" name="Text 31"/>
          <p:cNvSpPr txBox="1"/>
          <p:nvPr/>
        </p:nvSpPr>
        <p:spPr>
          <a:xfrm>
            <a:off x="9966960" y="4251960"/>
            <a:ext cx="1691640" cy="320040"/>
          </a:xfrm>
          <a:prstGeom prst="rect">
            <a:avLst/>
          </a:prstGeom>
          <a:noFill/>
          <a:ln/>
        </p:spPr>
        <p:txBody>
          <a:bodyPr wrap="square" lIns="0" tIns="0" rIns="0" bIns="0" rtlCol="0" anchor="t"/>
          <a:lstStyle/>
          <a:p>
            <a:pPr algn="ctr" indent="0" marL="0">
              <a:buNone/>
            </a:pPr>
            <a:r>
              <a:rPr lang="en-US" sz="1200" b="1" dirty="0">
                <a:solidFill>
                  <a:srgbClr val="C400C4"/>
                </a:solidFill>
                <a:latin typeface="Calibri" pitchFamily="34" charset="0"/>
                <a:ea typeface="Calibri" pitchFamily="34" charset="-122"/>
                <a:cs typeface="Calibri" pitchFamily="34" charset="-120"/>
              </a:rPr>
              <a:t>NB 07–08</a:t>
            </a:r>
            <a:endParaRPr lang="en-US" sz="1200" dirty="0"/>
          </a:p>
        </p:txBody>
      </p:sp>
      <p:sp>
        <p:nvSpPr>
          <p:cNvPr id="34" name="Shape 32"/>
          <p:cNvSpPr/>
          <p:nvPr/>
        </p:nvSpPr>
        <p:spPr>
          <a:xfrm>
            <a:off x="548640" y="4846320"/>
            <a:ext cx="11064240" cy="1005840"/>
          </a:xfrm>
          <a:prstGeom prst="roundRect">
            <a:avLst>
              <a:gd name="adj" fmla="val 10909"/>
            </a:avLst>
          </a:prstGeom>
          <a:solidFill>
            <a:srgbClr val="EADFF5"/>
          </a:solidFill>
          <a:ln w="12700">
            <a:solidFill>
              <a:srgbClr val="EADFF5"/>
            </a:solidFill>
            <a:prstDash val="solid"/>
          </a:ln>
        </p:spPr>
      </p:sp>
      <p:sp>
        <p:nvSpPr>
          <p:cNvPr id="35" name="Text 33"/>
          <p:cNvSpPr txBox="1"/>
          <p:nvPr/>
        </p:nvSpPr>
        <p:spPr>
          <a:xfrm>
            <a:off x="822960" y="4846320"/>
            <a:ext cx="10515600" cy="1005840"/>
          </a:xfrm>
          <a:prstGeom prst="rect">
            <a:avLst/>
          </a:prstGeom>
          <a:noFill/>
          <a:ln/>
        </p:spPr>
        <p:txBody>
          <a:bodyPr wrap="square" lIns="0" tIns="0" rIns="0" bIns="0" rtlCol="0" anchor="ctr"/>
          <a:lstStyle/>
          <a:p>
            <a:pPr indent="0" marL="0">
              <a:buNone/>
            </a:pPr>
            <a:r>
              <a:rPr lang="en-US" sz="1600" b="1" dirty="0">
                <a:solidFill>
                  <a:srgbClr val="6A0DAD"/>
                </a:solidFill>
                <a:latin typeface="Calibri" pitchFamily="34" charset="0"/>
                <a:ea typeface="Calibri" pitchFamily="34" charset="-122"/>
                <a:cs typeface="Calibri" pitchFamily="34" charset="-120"/>
              </a:rPr>
              <a:t>Regla de oro: </a:t>
            </a:r>
            <a:pPr indent="0" marL="0">
              <a:buNone/>
            </a:pPr>
            <a:r>
              <a:rPr lang="en-US" sz="1600" dirty="0">
                <a:solidFill>
                  <a:srgbClr val="241033"/>
                </a:solidFill>
                <a:latin typeface="Calibri" pitchFamily="34" charset="0"/>
                <a:ea typeface="Calibri" pitchFamily="34" charset="-122"/>
                <a:cs typeface="Calibri" pitchFamily="34" charset="-120"/>
              </a:rPr>
              <a:t>el texto nuevo en producción debe pasar exactamente por los mismos pasos (misma limpieza, mismo tokenizer, mismo maxlen) que el texto de entrenamiento.</a:t>
            </a:r>
            <a:endParaRPr lang="en-US" sz="16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1463040"/>
            <a:ext cx="2743200" cy="1280160"/>
          </a:xfrm>
          <a:prstGeom prst="rect">
            <a:avLst/>
          </a:prstGeom>
          <a:noFill/>
          <a:ln/>
        </p:spPr>
        <p:txBody>
          <a:bodyPr wrap="square" lIns="0" tIns="0" rIns="0" bIns="0" rtlCol="0" anchor="t"/>
          <a:lstStyle/>
          <a:p>
            <a:pPr indent="0" marL="0">
              <a:buNone/>
            </a:pPr>
            <a:r>
              <a:rPr lang="en-US" sz="9600" b="1" dirty="0">
                <a:solidFill>
                  <a:srgbClr val="C400C4"/>
                </a:solidFill>
                <a:latin typeface="Calibri" pitchFamily="34" charset="0"/>
                <a:ea typeface="Calibri" pitchFamily="34" charset="-122"/>
                <a:cs typeface="Calibri" pitchFamily="34" charset="-120"/>
              </a:rPr>
              <a:t>01</a:t>
            </a:r>
            <a:endParaRPr lang="en-US" sz="9600" dirty="0"/>
          </a:p>
        </p:txBody>
      </p:sp>
      <p:sp>
        <p:nvSpPr>
          <p:cNvPr id="3" name="Text 1"/>
          <p:cNvSpPr txBox="1"/>
          <p:nvPr/>
        </p:nvSpPr>
        <p:spPr>
          <a:xfrm>
            <a:off x="731520" y="2788920"/>
            <a:ext cx="73152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Preparar el texto</a:t>
            </a:r>
            <a:endParaRPr lang="en-US" sz="4400" dirty="0"/>
          </a:p>
        </p:txBody>
      </p:sp>
      <p:sp>
        <p:nvSpPr>
          <p:cNvPr id="4" name="Text 2"/>
          <p:cNvSpPr txBox="1"/>
          <p:nvPr/>
        </p:nvSpPr>
        <p:spPr>
          <a:xfrm>
            <a:off x="731520" y="3657600"/>
            <a:ext cx="6949440" cy="822960"/>
          </a:xfrm>
          <a:prstGeom prst="rect">
            <a:avLst/>
          </a:prstGeom>
          <a:noFill/>
          <a:ln/>
        </p:spPr>
        <p:txBody>
          <a:bodyPr wrap="square" lIns="0" tIns="0" rIns="0" bIns="0" rtlCol="0" anchor="t"/>
          <a:lstStyle/>
          <a:p>
            <a:pPr indent="0" marL="0">
              <a:buNone/>
            </a:pPr>
            <a:r>
              <a:rPr lang="en-US" sz="1900" dirty="0">
                <a:solidFill>
                  <a:srgbClr val="B98BE0"/>
                </a:solidFill>
                <a:latin typeface="Calibri" pitchFamily="34" charset="0"/>
                <a:ea typeface="Calibri" pitchFamily="34" charset="-122"/>
                <a:cs typeface="Calibri" pitchFamily="34" charset="-120"/>
              </a:rPr>
              <a:t>Una computadora no entiende palabras: entiende números. Primero hay que limpiar, dividir y ordenar.</a:t>
            </a:r>
            <a:endParaRPr lang="en-US" sz="1900" dirty="0"/>
          </a:p>
        </p:txBody>
      </p:sp>
      <p:sp>
        <p:nvSpPr>
          <p:cNvPr id="5" name="Shape 3"/>
          <p:cNvSpPr/>
          <p:nvPr/>
        </p:nvSpPr>
        <p:spPr>
          <a:xfrm>
            <a:off x="731520" y="4709160"/>
            <a:ext cx="3108960" cy="411480"/>
          </a:xfrm>
          <a:prstGeom prst="roundRect">
            <a:avLst>
              <a:gd name="adj" fmla="val 13333"/>
            </a:avLst>
          </a:prstGeom>
          <a:solidFill>
            <a:srgbClr val="C400C4"/>
          </a:solidFill>
          <a:ln w="12700">
            <a:solidFill>
              <a:srgbClr val="C400C4"/>
            </a:solidFill>
            <a:prstDash val="solid"/>
          </a:ln>
        </p:spPr>
      </p:sp>
      <p:sp>
        <p:nvSpPr>
          <p:cNvPr id="6" name="Text 4"/>
          <p:cNvSpPr txBox="1"/>
          <p:nvPr/>
        </p:nvSpPr>
        <p:spPr>
          <a:xfrm>
            <a:off x="731520" y="4709160"/>
            <a:ext cx="31089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Notebooks 01 · 02 · 03 · 04</a:t>
            </a:r>
            <a:endParaRPr lang="en-US" sz="1300" dirty="0"/>
          </a:p>
        </p:txBody>
      </p:sp>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8BE0"/>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Preprocesamiento: cada regla se justifica</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NOTEBOOK 02</a:t>
            </a:r>
            <a:endParaRPr lang="en-US" sz="1100" dirty="0"/>
          </a:p>
        </p:txBody>
      </p:sp>
      <p:sp>
        <p:nvSpPr>
          <p:cNvPr id="4" name="Shape 2"/>
          <p:cNvSpPr/>
          <p:nvPr/>
        </p:nvSpPr>
        <p:spPr>
          <a:xfrm>
            <a:off x="548640" y="1417320"/>
            <a:ext cx="5394960" cy="2514600"/>
          </a:xfrm>
          <a:prstGeom prst="roundRect">
            <a:avLst>
              <a:gd name="adj" fmla="val 3636"/>
            </a:avLst>
          </a:prstGeom>
          <a:solidFill>
            <a:srgbClr val="241033"/>
          </a:solidFill>
          <a:ln w="12700">
            <a:solidFill>
              <a:srgbClr val="241033"/>
            </a:solidFill>
            <a:prstDash val="solid"/>
          </a:ln>
        </p:spPr>
      </p:sp>
      <p:sp>
        <p:nvSpPr>
          <p:cNvPr id="5" name="Text 3"/>
          <p:cNvSpPr txBox="1"/>
          <p:nvPr/>
        </p:nvSpPr>
        <p:spPr>
          <a:xfrm>
            <a:off x="777240" y="1581912"/>
            <a:ext cx="4937760" cy="2185416"/>
          </a:xfrm>
          <a:prstGeom prst="rect">
            <a:avLst/>
          </a:prstGeom>
          <a:noFill/>
          <a:ln/>
        </p:spPr>
        <p:txBody>
          <a:bodyPr wrap="square" lIns="0" tIns="0" rIns="0" bIns="0" rtlCol="0" anchor="t"/>
          <a:lstStyle/>
          <a:p>
            <a:pPr indent="0" marL="0">
              <a:spcAft>
                <a:spcPts val="200"/>
              </a:spcAft>
              <a:buNone/>
            </a:pPr>
            <a:r>
              <a:rPr lang="en-US" sz="1400" dirty="0">
                <a:solidFill>
                  <a:srgbClr val="EDE4F7"/>
                </a:solidFill>
                <a:latin typeface="Courier New" pitchFamily="34" charset="0"/>
                <a:ea typeface="Courier New" pitchFamily="34" charset="-122"/>
                <a:cs typeface="Courier New" pitchFamily="34" charset="-120"/>
              </a:rPr>
              <a:t>"¡¡Me ENCANTÓ el curso!! 😀</a:t>
            </a:r>
            <a:endParaRPr lang="en-US" sz="1400" dirty="0"/>
          </a:p>
          <a:p>
            <a:pPr indent="0" marL="0">
              <a:spcAft>
                <a:spcPts val="200"/>
              </a:spcAft>
              <a:buNone/>
            </a:pPr>
            <a:r>
              <a:rPr lang="en-US" sz="1400" dirty="0">
                <a:solidFill>
                  <a:srgbClr val="EDE4F7"/>
                </a:solidFill>
                <a:latin typeface="Courier New" pitchFamily="34" charset="0"/>
                <a:ea typeface="Courier New" pitchFamily="34" charset="-122"/>
                <a:cs typeface="Courier New" pitchFamily="34" charset="-120"/>
              </a:rPr>
              <a:t> 5 estrellas @profe"</a:t>
            </a:r>
            <a:endParaRPr lang="en-US" sz="1400" dirty="0"/>
          </a:p>
          <a:p>
            <a:pPr indent="0" marL="0">
              <a:spcAft>
                <a:spcPts val="200"/>
              </a:spcAft>
              <a:buNone/>
            </a:pPr>
            <a:endParaRPr lang="en-US" sz="1400" dirty="0"/>
          </a:p>
          <a:p>
            <a:pPr indent="0" marL="0">
              <a:spcAft>
                <a:spcPts val="200"/>
              </a:spcAft>
              <a:buNone/>
            </a:pPr>
            <a:r>
              <a:rPr lang="en-US" sz="1400" dirty="0">
                <a:solidFill>
                  <a:srgbClr val="EDE4F7"/>
                </a:solidFill>
                <a:latin typeface="Courier New" pitchFamily="34" charset="0"/>
                <a:ea typeface="Courier New" pitchFamily="34" charset="-122"/>
                <a:cs typeface="Courier New" pitchFamily="34" charset="-120"/>
              </a:rPr>
              <a:t>  ↓ minúsculas · sin @menciones · sin signos</a:t>
            </a:r>
            <a:endParaRPr lang="en-US" sz="1400" dirty="0"/>
          </a:p>
          <a:p>
            <a:pPr indent="0" marL="0">
              <a:spcAft>
                <a:spcPts val="200"/>
              </a:spcAft>
              <a:buNone/>
            </a:pPr>
            <a:r>
              <a:rPr lang="en-US" sz="1400" dirty="0">
                <a:solidFill>
                  <a:srgbClr val="EDE4F7"/>
                </a:solidFill>
                <a:latin typeface="Courier New" pitchFamily="34" charset="0"/>
                <a:ea typeface="Courier New" pitchFamily="34" charset="-122"/>
                <a:cs typeface="Courier New" pitchFamily="34" charset="-120"/>
              </a:rPr>
              <a:t>  ↓ (números y emojis: depende del problema)</a:t>
            </a:r>
            <a:endParaRPr lang="en-US" sz="1400" dirty="0"/>
          </a:p>
          <a:p>
            <a:pPr indent="0" marL="0">
              <a:spcAft>
                <a:spcPts val="200"/>
              </a:spcAft>
              <a:buNone/>
            </a:pPr>
            <a:endParaRPr lang="en-US" sz="1400" dirty="0"/>
          </a:p>
          <a:p>
            <a:pPr indent="0" marL="0">
              <a:spcAft>
                <a:spcPts val="200"/>
              </a:spcAft>
              <a:buNone/>
            </a:pPr>
            <a:r>
              <a:rPr lang="en-US" sz="1400" dirty="0">
                <a:solidFill>
                  <a:srgbClr val="EDE4F7"/>
                </a:solidFill>
                <a:latin typeface="Courier New" pitchFamily="34" charset="0"/>
                <a:ea typeface="Courier New" pitchFamily="34" charset="-122"/>
                <a:cs typeface="Courier New" pitchFamily="34" charset="-120"/>
              </a:rPr>
              <a:t>"me encantó el curso 5 estrellas"</a:t>
            </a:r>
            <a:endParaRPr lang="en-US" sz="1400" dirty="0"/>
          </a:p>
        </p:txBody>
      </p:sp>
      <p:sp>
        <p:nvSpPr>
          <p:cNvPr id="6" name="Text 4"/>
          <p:cNvSpPr txBox="1"/>
          <p:nvPr/>
        </p:nvSpPr>
        <p:spPr>
          <a:xfrm>
            <a:off x="548640" y="4160520"/>
            <a:ext cx="5394960" cy="731520"/>
          </a:xfrm>
          <a:prstGeom prst="rect">
            <a:avLst/>
          </a:prstGeom>
          <a:noFill/>
          <a:ln/>
        </p:spPr>
        <p:txBody>
          <a:bodyPr wrap="square" lIns="0" tIns="0" rIns="0" bIns="0" rtlCol="0" anchor="t"/>
          <a:lstStyle/>
          <a:p>
            <a:pPr indent="0" marL="0">
              <a:buNone/>
            </a:pPr>
            <a:r>
              <a:rPr lang="en-US" sz="1600" i="1" dirty="0">
                <a:solidFill>
                  <a:srgbClr val="6A0DAD"/>
                </a:solidFill>
                <a:latin typeface="Calibri" pitchFamily="34" charset="0"/>
                <a:ea typeface="Calibri" pitchFamily="34" charset="-122"/>
                <a:cs typeface="Calibri" pitchFamily="34" charset="-120"/>
              </a:rPr>
              <a:t>Limpieza mínima y conservadora: quitar ruido evidente, no información.</a:t>
            </a:r>
            <a:endParaRPr lang="en-US" sz="1600" dirty="0"/>
          </a:p>
        </p:txBody>
      </p:sp>
      <p:sp>
        <p:nvSpPr>
          <p:cNvPr id="7" name="Text 5"/>
          <p:cNvSpPr txBox="1"/>
          <p:nvPr/>
        </p:nvSpPr>
        <p:spPr>
          <a:xfrm>
            <a:off x="6355080" y="1417320"/>
            <a:ext cx="2011680" cy="320040"/>
          </a:xfrm>
          <a:prstGeom prst="rect">
            <a:avLst/>
          </a:prstGeom>
          <a:noFill/>
          <a:ln/>
        </p:spPr>
        <p:txBody>
          <a:bodyPr wrap="square" lIns="0" tIns="0" rIns="0" bIns="0" rtlCol="0" anchor="t"/>
          <a:lstStyle/>
          <a:p>
            <a:pPr indent="0" marL="0">
              <a:buNone/>
            </a:pPr>
            <a:r>
              <a:rPr lang="en-US" sz="1300" b="1" dirty="0">
                <a:solidFill>
                  <a:srgbClr val="6E6480"/>
                </a:solidFill>
                <a:latin typeface="Calibri" pitchFamily="34" charset="0"/>
                <a:ea typeface="Calibri" pitchFamily="34" charset="-122"/>
                <a:cs typeface="Calibri" pitchFamily="34" charset="-120"/>
              </a:rPr>
              <a:t>Paso</a:t>
            </a:r>
            <a:endParaRPr lang="en-US" sz="1300" dirty="0"/>
          </a:p>
        </p:txBody>
      </p:sp>
      <p:sp>
        <p:nvSpPr>
          <p:cNvPr id="8" name="Text 6"/>
          <p:cNvSpPr txBox="1"/>
          <p:nvPr/>
        </p:nvSpPr>
        <p:spPr>
          <a:xfrm>
            <a:off x="8366760" y="1417320"/>
            <a:ext cx="1280160" cy="320040"/>
          </a:xfrm>
          <a:prstGeom prst="rect">
            <a:avLst/>
          </a:prstGeom>
          <a:noFill/>
          <a:ln/>
        </p:spPr>
        <p:txBody>
          <a:bodyPr wrap="square" lIns="0" tIns="0" rIns="0" bIns="0" rtlCol="0" anchor="t"/>
          <a:lstStyle/>
          <a:p>
            <a:pPr indent="0" marL="0">
              <a:buNone/>
            </a:pPr>
            <a:r>
              <a:rPr lang="en-US" sz="1300" b="1" dirty="0">
                <a:solidFill>
                  <a:srgbClr val="6E6480"/>
                </a:solidFill>
                <a:latin typeface="Calibri" pitchFamily="34" charset="0"/>
                <a:ea typeface="Calibri" pitchFamily="34" charset="-122"/>
                <a:cs typeface="Calibri" pitchFamily="34" charset="-120"/>
              </a:rPr>
              <a:t>¿Aplicarlo?</a:t>
            </a:r>
            <a:endParaRPr lang="en-US" sz="1300" dirty="0"/>
          </a:p>
        </p:txBody>
      </p:sp>
      <p:sp>
        <p:nvSpPr>
          <p:cNvPr id="9" name="Text 7"/>
          <p:cNvSpPr txBox="1"/>
          <p:nvPr/>
        </p:nvSpPr>
        <p:spPr>
          <a:xfrm>
            <a:off x="9692640" y="1417320"/>
            <a:ext cx="1920240" cy="320040"/>
          </a:xfrm>
          <a:prstGeom prst="rect">
            <a:avLst/>
          </a:prstGeom>
          <a:noFill/>
          <a:ln/>
        </p:spPr>
        <p:txBody>
          <a:bodyPr wrap="square" lIns="0" tIns="0" rIns="0" bIns="0" rtlCol="0" anchor="t"/>
          <a:lstStyle/>
          <a:p>
            <a:pPr indent="0" marL="0">
              <a:buNone/>
            </a:pPr>
            <a:r>
              <a:rPr lang="en-US" sz="1300" b="1" dirty="0">
                <a:solidFill>
                  <a:srgbClr val="6E6480"/>
                </a:solidFill>
                <a:latin typeface="Calibri" pitchFamily="34" charset="0"/>
                <a:ea typeface="Calibri" pitchFamily="34" charset="-122"/>
                <a:cs typeface="Calibri" pitchFamily="34" charset="-120"/>
              </a:rPr>
              <a:t>Por qué</a:t>
            </a:r>
            <a:endParaRPr lang="en-US" sz="1300" dirty="0"/>
          </a:p>
        </p:txBody>
      </p:sp>
      <p:sp>
        <p:nvSpPr>
          <p:cNvPr id="10" name="Shape 8"/>
          <p:cNvSpPr/>
          <p:nvPr/>
        </p:nvSpPr>
        <p:spPr>
          <a:xfrm>
            <a:off x="6355080" y="1810512"/>
            <a:ext cx="5257800" cy="676656"/>
          </a:xfrm>
          <a:prstGeom prst="roundRect">
            <a:avLst>
              <a:gd name="adj" fmla="val 16216"/>
            </a:avLst>
          </a:prstGeom>
          <a:solidFill>
            <a:srgbClr val="F4EEFA"/>
          </a:solidFill>
          <a:ln w="12700">
            <a:solidFill>
              <a:srgbClr val="F4EEFA"/>
            </a:solidFill>
            <a:prstDash val="solid"/>
          </a:ln>
        </p:spPr>
      </p:sp>
      <p:sp>
        <p:nvSpPr>
          <p:cNvPr id="11" name="Text 9"/>
          <p:cNvSpPr txBox="1"/>
          <p:nvPr/>
        </p:nvSpPr>
        <p:spPr>
          <a:xfrm>
            <a:off x="6492240" y="1810512"/>
            <a:ext cx="1828800" cy="676656"/>
          </a:xfrm>
          <a:prstGeom prst="rect">
            <a:avLst/>
          </a:prstGeom>
          <a:noFill/>
          <a:ln/>
        </p:spPr>
        <p:txBody>
          <a:bodyPr wrap="square" lIns="0" tIns="0" rIns="0" bIns="0" rtlCol="0" anchor="ctr"/>
          <a:lstStyle/>
          <a:p>
            <a:pPr indent="0" marL="0">
              <a:buNone/>
            </a:pPr>
            <a:r>
              <a:rPr lang="en-US" sz="1500" b="1" dirty="0">
                <a:solidFill>
                  <a:srgbClr val="241033"/>
                </a:solidFill>
                <a:latin typeface="Calibri" pitchFamily="34" charset="0"/>
                <a:ea typeface="Calibri" pitchFamily="34" charset="-122"/>
                <a:cs typeface="Calibri" pitchFamily="34" charset="-120"/>
              </a:rPr>
              <a:t>Minúsculas</a:t>
            </a:r>
            <a:endParaRPr lang="en-US" sz="1500" dirty="0"/>
          </a:p>
        </p:txBody>
      </p:sp>
      <p:sp>
        <p:nvSpPr>
          <p:cNvPr id="12" name="Text 10"/>
          <p:cNvSpPr txBox="1"/>
          <p:nvPr/>
        </p:nvSpPr>
        <p:spPr>
          <a:xfrm>
            <a:off x="8366760" y="1810512"/>
            <a:ext cx="1280160" cy="676656"/>
          </a:xfrm>
          <a:prstGeom prst="rect">
            <a:avLst/>
          </a:prstGeom>
          <a:noFill/>
          <a:ln/>
        </p:spPr>
        <p:txBody>
          <a:bodyPr wrap="square" lIns="0" tIns="0" rIns="0" bIns="0" rtlCol="0" anchor="ctr"/>
          <a:lstStyle/>
          <a:p>
            <a:pPr indent="0" marL="0">
              <a:buNone/>
            </a:pPr>
            <a:r>
              <a:rPr lang="en-US" sz="1400" b="1" dirty="0">
                <a:solidFill>
                  <a:srgbClr val="2E9E5B"/>
                </a:solidFill>
                <a:latin typeface="Calibri" pitchFamily="34" charset="0"/>
                <a:ea typeface="Calibri" pitchFamily="34" charset="-122"/>
                <a:cs typeface="Calibri" pitchFamily="34" charset="-120"/>
              </a:rPr>
              <a:t>Casi siempre</a:t>
            </a:r>
            <a:endParaRPr lang="en-US" sz="1400" dirty="0"/>
          </a:p>
        </p:txBody>
      </p:sp>
      <p:sp>
        <p:nvSpPr>
          <p:cNvPr id="13" name="Text 11"/>
          <p:cNvSpPr txBox="1"/>
          <p:nvPr/>
        </p:nvSpPr>
        <p:spPr>
          <a:xfrm>
            <a:off x="9692640" y="1810512"/>
            <a:ext cx="1874520" cy="676656"/>
          </a:xfrm>
          <a:prstGeom prst="rect">
            <a:avLst/>
          </a:prstGeom>
          <a:noFill/>
          <a:ln/>
        </p:spPr>
        <p:txBody>
          <a:bodyPr wrap="square" lIns="0" tIns="0" rIns="0" bIns="0" rtlCol="0" anchor="ctr"/>
          <a:lstStyle/>
          <a:p>
            <a:pPr indent="0" marL="0">
              <a:buNone/>
            </a:pPr>
            <a:r>
              <a:rPr lang="en-US" sz="1200" dirty="0">
                <a:solidFill>
                  <a:srgbClr val="3D3350"/>
                </a:solidFill>
                <a:latin typeface="Calibri" pitchFamily="34" charset="0"/>
                <a:ea typeface="Calibri" pitchFamily="34" charset="-122"/>
                <a:cs typeface="Calibri" pitchFamily="34" charset="-120"/>
              </a:rPr>
              <a:t>NLP = nlp = Nlp</a:t>
            </a:r>
            <a:endParaRPr lang="en-US" sz="1200" dirty="0"/>
          </a:p>
        </p:txBody>
      </p:sp>
      <p:sp>
        <p:nvSpPr>
          <p:cNvPr id="14" name="Shape 12"/>
          <p:cNvSpPr/>
          <p:nvPr/>
        </p:nvSpPr>
        <p:spPr>
          <a:xfrm>
            <a:off x="6355080" y="2596896"/>
            <a:ext cx="5257800" cy="676656"/>
          </a:xfrm>
          <a:prstGeom prst="roundRect">
            <a:avLst>
              <a:gd name="adj" fmla="val 16216"/>
            </a:avLst>
          </a:prstGeom>
          <a:solidFill>
            <a:srgbClr val="FFFFFF"/>
          </a:solidFill>
          <a:ln w="12700">
            <a:solidFill>
              <a:srgbClr val="FFFFFF"/>
            </a:solidFill>
            <a:prstDash val="solid"/>
          </a:ln>
        </p:spPr>
      </p:sp>
      <p:sp>
        <p:nvSpPr>
          <p:cNvPr id="15" name="Text 13"/>
          <p:cNvSpPr txBox="1"/>
          <p:nvPr/>
        </p:nvSpPr>
        <p:spPr>
          <a:xfrm>
            <a:off x="6492240" y="2596896"/>
            <a:ext cx="1828800" cy="676656"/>
          </a:xfrm>
          <a:prstGeom prst="rect">
            <a:avLst/>
          </a:prstGeom>
          <a:noFill/>
          <a:ln/>
        </p:spPr>
        <p:txBody>
          <a:bodyPr wrap="square" lIns="0" tIns="0" rIns="0" bIns="0" rtlCol="0" anchor="ctr"/>
          <a:lstStyle/>
          <a:p>
            <a:pPr indent="0" marL="0">
              <a:buNone/>
            </a:pPr>
            <a:r>
              <a:rPr lang="en-US" sz="1500" b="1" dirty="0">
                <a:solidFill>
                  <a:srgbClr val="241033"/>
                </a:solidFill>
                <a:latin typeface="Calibri" pitchFamily="34" charset="0"/>
                <a:ea typeface="Calibri" pitchFamily="34" charset="-122"/>
                <a:cs typeface="Calibri" pitchFamily="34" charset="-120"/>
              </a:rPr>
              <a:t>URLs y @menciones</a:t>
            </a:r>
            <a:endParaRPr lang="en-US" sz="1500" dirty="0"/>
          </a:p>
        </p:txBody>
      </p:sp>
      <p:sp>
        <p:nvSpPr>
          <p:cNvPr id="16" name="Text 14"/>
          <p:cNvSpPr txBox="1"/>
          <p:nvPr/>
        </p:nvSpPr>
        <p:spPr>
          <a:xfrm>
            <a:off x="8366760" y="2596896"/>
            <a:ext cx="1280160" cy="676656"/>
          </a:xfrm>
          <a:prstGeom prst="rect">
            <a:avLst/>
          </a:prstGeom>
          <a:noFill/>
          <a:ln/>
        </p:spPr>
        <p:txBody>
          <a:bodyPr wrap="square" lIns="0" tIns="0" rIns="0" bIns="0" rtlCol="0" anchor="ctr"/>
          <a:lstStyle/>
          <a:p>
            <a:pPr indent="0" marL="0">
              <a:buNone/>
            </a:pPr>
            <a:r>
              <a:rPr lang="en-US" sz="1400" b="1" dirty="0">
                <a:solidFill>
                  <a:srgbClr val="B7791F"/>
                </a:solidFill>
                <a:latin typeface="Calibri" pitchFamily="34" charset="0"/>
                <a:ea typeface="Calibri" pitchFamily="34" charset="-122"/>
                <a:cs typeface="Calibri" pitchFamily="34" charset="-120"/>
              </a:rPr>
              <a:t>Depende</a:t>
            </a:r>
            <a:endParaRPr lang="en-US" sz="1400" dirty="0"/>
          </a:p>
        </p:txBody>
      </p:sp>
      <p:sp>
        <p:nvSpPr>
          <p:cNvPr id="17" name="Text 15"/>
          <p:cNvSpPr txBox="1"/>
          <p:nvPr/>
        </p:nvSpPr>
        <p:spPr>
          <a:xfrm>
            <a:off x="9692640" y="2596896"/>
            <a:ext cx="1874520" cy="676656"/>
          </a:xfrm>
          <a:prstGeom prst="rect">
            <a:avLst/>
          </a:prstGeom>
          <a:noFill/>
          <a:ln/>
        </p:spPr>
        <p:txBody>
          <a:bodyPr wrap="square" lIns="0" tIns="0" rIns="0" bIns="0" rtlCol="0" anchor="ctr"/>
          <a:lstStyle/>
          <a:p>
            <a:pPr indent="0" marL="0">
              <a:buNone/>
            </a:pPr>
            <a:r>
              <a:rPr lang="en-US" sz="1200" dirty="0">
                <a:solidFill>
                  <a:srgbClr val="3D3350"/>
                </a:solidFill>
                <a:latin typeface="Calibri" pitchFamily="34" charset="0"/>
                <a:ea typeface="Calibri" pitchFamily="34" charset="-122"/>
                <a:cs typeface="Calibri" pitchFamily="34" charset="-120"/>
              </a:rPr>
              <a:t>Ruido en sentimiento, señal en spam</a:t>
            </a:r>
            <a:endParaRPr lang="en-US" sz="1200" dirty="0"/>
          </a:p>
        </p:txBody>
      </p:sp>
      <p:sp>
        <p:nvSpPr>
          <p:cNvPr id="18" name="Shape 16"/>
          <p:cNvSpPr/>
          <p:nvPr/>
        </p:nvSpPr>
        <p:spPr>
          <a:xfrm>
            <a:off x="6355080" y="3383280"/>
            <a:ext cx="5257800" cy="676656"/>
          </a:xfrm>
          <a:prstGeom prst="roundRect">
            <a:avLst>
              <a:gd name="adj" fmla="val 16216"/>
            </a:avLst>
          </a:prstGeom>
          <a:solidFill>
            <a:srgbClr val="F4EEFA"/>
          </a:solidFill>
          <a:ln w="12700">
            <a:solidFill>
              <a:srgbClr val="F4EEFA"/>
            </a:solidFill>
            <a:prstDash val="solid"/>
          </a:ln>
        </p:spPr>
      </p:sp>
      <p:sp>
        <p:nvSpPr>
          <p:cNvPr id="19" name="Text 17"/>
          <p:cNvSpPr txBox="1"/>
          <p:nvPr/>
        </p:nvSpPr>
        <p:spPr>
          <a:xfrm>
            <a:off x="6492240" y="3383280"/>
            <a:ext cx="1828800" cy="676656"/>
          </a:xfrm>
          <a:prstGeom prst="rect">
            <a:avLst/>
          </a:prstGeom>
          <a:noFill/>
          <a:ln/>
        </p:spPr>
        <p:txBody>
          <a:bodyPr wrap="square" lIns="0" tIns="0" rIns="0" bIns="0" rtlCol="0" anchor="ctr"/>
          <a:lstStyle/>
          <a:p>
            <a:pPr indent="0" marL="0">
              <a:buNone/>
            </a:pPr>
            <a:r>
              <a:rPr lang="en-US" sz="1500" b="1" dirty="0">
                <a:solidFill>
                  <a:srgbClr val="241033"/>
                </a:solidFill>
                <a:latin typeface="Calibri" pitchFamily="34" charset="0"/>
                <a:ea typeface="Calibri" pitchFamily="34" charset="-122"/>
                <a:cs typeface="Calibri" pitchFamily="34" charset="-120"/>
              </a:rPr>
              <a:t>Números</a:t>
            </a:r>
            <a:endParaRPr lang="en-US" sz="1500" dirty="0"/>
          </a:p>
        </p:txBody>
      </p:sp>
      <p:sp>
        <p:nvSpPr>
          <p:cNvPr id="20" name="Text 18"/>
          <p:cNvSpPr txBox="1"/>
          <p:nvPr/>
        </p:nvSpPr>
        <p:spPr>
          <a:xfrm>
            <a:off x="8366760" y="3383280"/>
            <a:ext cx="1280160" cy="676656"/>
          </a:xfrm>
          <a:prstGeom prst="rect">
            <a:avLst/>
          </a:prstGeom>
          <a:noFill/>
          <a:ln/>
        </p:spPr>
        <p:txBody>
          <a:bodyPr wrap="square" lIns="0" tIns="0" rIns="0" bIns="0" rtlCol="0" anchor="ctr"/>
          <a:lstStyle/>
          <a:p>
            <a:pPr indent="0" marL="0">
              <a:buNone/>
            </a:pPr>
            <a:r>
              <a:rPr lang="en-US" sz="1400" b="1" dirty="0">
                <a:solidFill>
                  <a:srgbClr val="B7791F"/>
                </a:solidFill>
                <a:latin typeface="Calibri" pitchFamily="34" charset="0"/>
                <a:ea typeface="Calibri" pitchFamily="34" charset="-122"/>
                <a:cs typeface="Calibri" pitchFamily="34" charset="-120"/>
              </a:rPr>
              <a:t>Depende</a:t>
            </a:r>
            <a:endParaRPr lang="en-US" sz="1400" dirty="0"/>
          </a:p>
        </p:txBody>
      </p:sp>
      <p:sp>
        <p:nvSpPr>
          <p:cNvPr id="21" name="Text 19"/>
          <p:cNvSpPr txBox="1"/>
          <p:nvPr/>
        </p:nvSpPr>
        <p:spPr>
          <a:xfrm>
            <a:off x="9692640" y="3383280"/>
            <a:ext cx="1874520" cy="676656"/>
          </a:xfrm>
          <a:prstGeom prst="rect">
            <a:avLst/>
          </a:prstGeom>
          <a:noFill/>
          <a:ln/>
        </p:spPr>
        <p:txBody>
          <a:bodyPr wrap="square" lIns="0" tIns="0" rIns="0" bIns="0" rtlCol="0" anchor="ctr"/>
          <a:lstStyle/>
          <a:p>
            <a:pPr indent="0" marL="0">
              <a:buNone/>
            </a:pPr>
            <a:r>
              <a:rPr lang="en-US" sz="1200" dirty="0">
                <a:solidFill>
                  <a:srgbClr val="3D3350"/>
                </a:solidFill>
                <a:latin typeface="Calibri" pitchFamily="34" charset="0"/>
                <a:ea typeface="Calibri" pitchFamily="34" charset="-122"/>
                <a:cs typeface="Calibri" pitchFamily="34" charset="-120"/>
              </a:rPr>
              <a:t>¡Precios, tallas o “5 estrellas” son señal!</a:t>
            </a:r>
            <a:endParaRPr lang="en-US" sz="1200" dirty="0"/>
          </a:p>
        </p:txBody>
      </p:sp>
      <p:sp>
        <p:nvSpPr>
          <p:cNvPr id="22" name="Shape 20"/>
          <p:cNvSpPr/>
          <p:nvPr/>
        </p:nvSpPr>
        <p:spPr>
          <a:xfrm>
            <a:off x="6355080" y="4169664"/>
            <a:ext cx="5257800" cy="676656"/>
          </a:xfrm>
          <a:prstGeom prst="roundRect">
            <a:avLst>
              <a:gd name="adj" fmla="val 16216"/>
            </a:avLst>
          </a:prstGeom>
          <a:solidFill>
            <a:srgbClr val="FFFFFF"/>
          </a:solidFill>
          <a:ln w="12700">
            <a:solidFill>
              <a:srgbClr val="FFFFFF"/>
            </a:solidFill>
            <a:prstDash val="solid"/>
          </a:ln>
        </p:spPr>
      </p:sp>
      <p:sp>
        <p:nvSpPr>
          <p:cNvPr id="23" name="Text 21"/>
          <p:cNvSpPr txBox="1"/>
          <p:nvPr/>
        </p:nvSpPr>
        <p:spPr>
          <a:xfrm>
            <a:off x="6492240" y="4169664"/>
            <a:ext cx="1828800" cy="676656"/>
          </a:xfrm>
          <a:prstGeom prst="rect">
            <a:avLst/>
          </a:prstGeom>
          <a:noFill/>
          <a:ln/>
        </p:spPr>
        <p:txBody>
          <a:bodyPr wrap="square" lIns="0" tIns="0" rIns="0" bIns="0" rtlCol="0" anchor="ctr"/>
          <a:lstStyle/>
          <a:p>
            <a:pPr indent="0" marL="0">
              <a:buNone/>
            </a:pPr>
            <a:r>
              <a:rPr lang="en-US" sz="1500" b="1" dirty="0">
                <a:solidFill>
                  <a:srgbClr val="241033"/>
                </a:solidFill>
                <a:latin typeface="Calibri" pitchFamily="34" charset="0"/>
                <a:ea typeface="Calibri" pitchFamily="34" charset="-122"/>
                <a:cs typeface="Calibri" pitchFamily="34" charset="-120"/>
              </a:rPr>
              <a:t>Emojis</a:t>
            </a:r>
            <a:endParaRPr lang="en-US" sz="1500" dirty="0"/>
          </a:p>
        </p:txBody>
      </p:sp>
      <p:sp>
        <p:nvSpPr>
          <p:cNvPr id="24" name="Text 22"/>
          <p:cNvSpPr txBox="1"/>
          <p:nvPr/>
        </p:nvSpPr>
        <p:spPr>
          <a:xfrm>
            <a:off x="8366760" y="4169664"/>
            <a:ext cx="1280160" cy="676656"/>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Cuidado</a:t>
            </a:r>
            <a:endParaRPr lang="en-US" sz="1400" dirty="0"/>
          </a:p>
        </p:txBody>
      </p:sp>
      <p:sp>
        <p:nvSpPr>
          <p:cNvPr id="25" name="Text 23"/>
          <p:cNvSpPr txBox="1"/>
          <p:nvPr/>
        </p:nvSpPr>
        <p:spPr>
          <a:xfrm>
            <a:off x="9692640" y="4169664"/>
            <a:ext cx="1874520" cy="676656"/>
          </a:xfrm>
          <a:prstGeom prst="rect">
            <a:avLst/>
          </a:prstGeom>
          <a:noFill/>
          <a:ln/>
        </p:spPr>
        <p:txBody>
          <a:bodyPr wrap="square" lIns="0" tIns="0" rIns="0" bIns="0" rtlCol="0" anchor="ctr"/>
          <a:lstStyle/>
          <a:p>
            <a:pPr indent="0" marL="0">
              <a:buNone/>
            </a:pPr>
            <a:r>
              <a:rPr lang="en-US" sz="1200" dirty="0">
                <a:solidFill>
                  <a:srgbClr val="3D3350"/>
                </a:solidFill>
                <a:latin typeface="Calibri" pitchFamily="34" charset="0"/>
                <a:ea typeface="Calibri" pitchFamily="34" charset="-122"/>
                <a:cs typeface="Calibri" pitchFamily="34" charset="-120"/>
              </a:rPr>
              <a:t>😍 o 😡 pueden ser el sentimiento</a:t>
            </a:r>
            <a:endParaRPr lang="en-US" sz="1200" dirty="0"/>
          </a:p>
        </p:txBody>
      </p:sp>
      <p:sp>
        <p:nvSpPr>
          <p:cNvPr id="26" name="Shape 24"/>
          <p:cNvSpPr/>
          <p:nvPr/>
        </p:nvSpPr>
        <p:spPr>
          <a:xfrm>
            <a:off x="6355080" y="4956048"/>
            <a:ext cx="5257800" cy="676656"/>
          </a:xfrm>
          <a:prstGeom prst="roundRect">
            <a:avLst>
              <a:gd name="adj" fmla="val 16216"/>
            </a:avLst>
          </a:prstGeom>
          <a:solidFill>
            <a:srgbClr val="F4EEFA"/>
          </a:solidFill>
          <a:ln w="12700">
            <a:solidFill>
              <a:srgbClr val="F4EEFA"/>
            </a:solidFill>
            <a:prstDash val="solid"/>
          </a:ln>
        </p:spPr>
      </p:sp>
      <p:sp>
        <p:nvSpPr>
          <p:cNvPr id="27" name="Text 25"/>
          <p:cNvSpPr txBox="1"/>
          <p:nvPr/>
        </p:nvSpPr>
        <p:spPr>
          <a:xfrm>
            <a:off x="6492240" y="4956048"/>
            <a:ext cx="1828800" cy="676656"/>
          </a:xfrm>
          <a:prstGeom prst="rect">
            <a:avLst/>
          </a:prstGeom>
          <a:noFill/>
          <a:ln/>
        </p:spPr>
        <p:txBody>
          <a:bodyPr wrap="square" lIns="0" tIns="0" rIns="0" bIns="0" rtlCol="0" anchor="ctr"/>
          <a:lstStyle/>
          <a:p>
            <a:pPr indent="0" marL="0">
              <a:buNone/>
            </a:pPr>
            <a:r>
              <a:rPr lang="en-US" sz="1500" b="1" dirty="0">
                <a:solidFill>
                  <a:srgbClr val="241033"/>
                </a:solidFill>
                <a:latin typeface="Calibri" pitchFamily="34" charset="0"/>
                <a:ea typeface="Calibri" pitchFamily="34" charset="-122"/>
                <a:cs typeface="Calibri" pitchFamily="34" charset="-120"/>
              </a:rPr>
              <a:t>Stopwords</a:t>
            </a:r>
            <a:endParaRPr lang="en-US" sz="1500" dirty="0"/>
          </a:p>
        </p:txBody>
      </p:sp>
      <p:sp>
        <p:nvSpPr>
          <p:cNvPr id="28" name="Text 26"/>
          <p:cNvSpPr txBox="1"/>
          <p:nvPr/>
        </p:nvSpPr>
        <p:spPr>
          <a:xfrm>
            <a:off x="8366760" y="4956048"/>
            <a:ext cx="1280160" cy="676656"/>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Cuidado</a:t>
            </a:r>
            <a:endParaRPr lang="en-US" sz="1400" dirty="0"/>
          </a:p>
        </p:txBody>
      </p:sp>
      <p:sp>
        <p:nvSpPr>
          <p:cNvPr id="29" name="Text 27"/>
          <p:cNvSpPr txBox="1"/>
          <p:nvPr/>
        </p:nvSpPr>
        <p:spPr>
          <a:xfrm>
            <a:off x="9692640" y="4956048"/>
            <a:ext cx="1874520" cy="676656"/>
          </a:xfrm>
          <a:prstGeom prst="rect">
            <a:avLst/>
          </a:prstGeom>
          <a:noFill/>
          <a:ln/>
        </p:spPr>
        <p:txBody>
          <a:bodyPr wrap="square" lIns="0" tIns="0" rIns="0" bIns="0" rtlCol="0" anchor="ctr"/>
          <a:lstStyle/>
          <a:p>
            <a:pPr indent="0" marL="0">
              <a:buNone/>
            </a:pPr>
            <a:r>
              <a:rPr lang="en-US" sz="1200" dirty="0">
                <a:solidFill>
                  <a:srgbClr val="3D3350"/>
                </a:solidFill>
                <a:latin typeface="Calibri" pitchFamily="34" charset="0"/>
                <a:ea typeface="Calibri" pitchFamily="34" charset="-122"/>
                <a:cs typeface="Calibri" pitchFamily="34" charset="-120"/>
              </a:rPr>
              <a:t>Quitar “no” invierte el significado</a:t>
            </a:r>
            <a:endParaRPr lang="en-US" sz="12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El riesgo de sobrepreprocesar</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NOTEBOOK 02</a:t>
            </a:r>
            <a:endParaRPr lang="en-US" sz="1100" dirty="0"/>
          </a:p>
        </p:txBody>
      </p:sp>
      <p:sp>
        <p:nvSpPr>
          <p:cNvPr id="4" name="Shape 2"/>
          <p:cNvSpPr/>
          <p:nvPr/>
        </p:nvSpPr>
        <p:spPr>
          <a:xfrm>
            <a:off x="548640" y="1600200"/>
            <a:ext cx="4480560" cy="1005840"/>
          </a:xfrm>
          <a:prstGeom prst="roundRect">
            <a:avLst>
              <a:gd name="adj" fmla="val 10909"/>
            </a:avLst>
          </a:prstGeom>
          <a:solidFill>
            <a:srgbClr val="F4EEFA"/>
          </a:solidFill>
          <a:ln w="12700">
            <a:solidFill>
              <a:srgbClr val="F4EEFA"/>
            </a:solidFill>
            <a:prstDash val="solid"/>
          </a:ln>
        </p:spPr>
      </p:sp>
      <p:sp>
        <p:nvSpPr>
          <p:cNvPr id="5" name="Text 3"/>
          <p:cNvSpPr txBox="1"/>
          <p:nvPr/>
        </p:nvSpPr>
        <p:spPr>
          <a:xfrm>
            <a:off x="777240" y="1600200"/>
            <a:ext cx="4114800" cy="1005840"/>
          </a:xfrm>
          <a:prstGeom prst="rect">
            <a:avLst/>
          </a:prstGeom>
          <a:noFill/>
          <a:ln/>
        </p:spPr>
        <p:txBody>
          <a:bodyPr wrap="square" lIns="0" tIns="0" rIns="0" bIns="0" rtlCol="0" anchor="ctr"/>
          <a:lstStyle/>
          <a:p>
            <a:pPr indent="0" marL="0">
              <a:buNone/>
            </a:pPr>
            <a:r>
              <a:rPr lang="en-US" sz="2200" dirty="0">
                <a:solidFill>
                  <a:srgbClr val="241033"/>
                </a:solidFill>
                <a:latin typeface="Calibri" pitchFamily="34" charset="0"/>
                <a:ea typeface="Calibri" pitchFamily="34" charset="-122"/>
                <a:cs typeface="Calibri" pitchFamily="34" charset="-120"/>
              </a:rPr>
              <a:t>me gustó la película</a:t>
            </a:r>
            <a:endParaRPr lang="en-US" sz="2200" dirty="0"/>
          </a:p>
        </p:txBody>
      </p:sp>
      <p:sp>
        <p:nvSpPr>
          <p:cNvPr id="6" name="Shape 4"/>
          <p:cNvSpPr/>
          <p:nvPr/>
        </p:nvSpPr>
        <p:spPr>
          <a:xfrm>
            <a:off x="5257800" y="1874520"/>
            <a:ext cx="1005840" cy="457200"/>
          </a:xfrm>
          <a:prstGeom prst="rightArrow">
            <a:avLst/>
          </a:prstGeom>
          <a:solidFill>
            <a:srgbClr val="B98BE0"/>
          </a:solidFill>
          <a:ln w="12700">
            <a:solidFill>
              <a:srgbClr val="B98BE0"/>
            </a:solidFill>
            <a:prstDash val="solid"/>
          </a:ln>
        </p:spPr>
      </p:sp>
      <p:sp>
        <p:nvSpPr>
          <p:cNvPr id="7" name="Text 5"/>
          <p:cNvSpPr txBox="1"/>
          <p:nvPr/>
        </p:nvSpPr>
        <p:spPr>
          <a:xfrm>
            <a:off x="4937760" y="2350008"/>
            <a:ext cx="1645920" cy="274320"/>
          </a:xfrm>
          <a:prstGeom prst="rect">
            <a:avLst/>
          </a:prstGeom>
          <a:noFill/>
          <a:ln/>
        </p:spPr>
        <p:txBody>
          <a:bodyPr wrap="square" lIns="0" tIns="0" rIns="0" bIns="0" rtlCol="0" anchor="t"/>
          <a:lstStyle/>
          <a:p>
            <a:pPr algn="ctr" indent="0" marL="0">
              <a:buNone/>
            </a:pPr>
            <a:r>
              <a:rPr lang="en-US" sz="1100" dirty="0">
                <a:solidFill>
                  <a:srgbClr val="6E6480"/>
                </a:solidFill>
                <a:latin typeface="Calibri" pitchFamily="34" charset="0"/>
                <a:ea typeface="Calibri" pitchFamily="34" charset="-122"/>
                <a:cs typeface="Calibri" pitchFamily="34" charset="-120"/>
              </a:rPr>
              <a:t>quitar stopwords</a:t>
            </a:r>
            <a:endParaRPr lang="en-US" sz="1100" dirty="0"/>
          </a:p>
        </p:txBody>
      </p:sp>
      <p:sp>
        <p:nvSpPr>
          <p:cNvPr id="8" name="Shape 6"/>
          <p:cNvSpPr/>
          <p:nvPr/>
        </p:nvSpPr>
        <p:spPr>
          <a:xfrm>
            <a:off x="6492240" y="1600200"/>
            <a:ext cx="3108960" cy="1005840"/>
          </a:xfrm>
          <a:prstGeom prst="roundRect">
            <a:avLst>
              <a:gd name="adj" fmla="val 10909"/>
            </a:avLst>
          </a:prstGeom>
          <a:solidFill>
            <a:srgbClr val="241033"/>
          </a:solidFill>
          <a:ln w="12700">
            <a:solidFill>
              <a:srgbClr val="241033"/>
            </a:solidFill>
            <a:prstDash val="solid"/>
          </a:ln>
        </p:spPr>
      </p:sp>
      <p:sp>
        <p:nvSpPr>
          <p:cNvPr id="9" name="Text 7"/>
          <p:cNvSpPr txBox="1"/>
          <p:nvPr/>
        </p:nvSpPr>
        <p:spPr>
          <a:xfrm>
            <a:off x="6675120" y="1600200"/>
            <a:ext cx="274320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gustó película</a:t>
            </a:r>
            <a:endParaRPr lang="en-US" sz="2200" dirty="0"/>
          </a:p>
        </p:txBody>
      </p:sp>
      <p:sp>
        <p:nvSpPr>
          <p:cNvPr id="10" name="Shape 8"/>
          <p:cNvSpPr/>
          <p:nvPr/>
        </p:nvSpPr>
        <p:spPr>
          <a:xfrm>
            <a:off x="548640" y="2926080"/>
            <a:ext cx="4480560" cy="1005840"/>
          </a:xfrm>
          <a:prstGeom prst="roundRect">
            <a:avLst>
              <a:gd name="adj" fmla="val 10909"/>
            </a:avLst>
          </a:prstGeom>
          <a:solidFill>
            <a:srgbClr val="F4EEFA"/>
          </a:solidFill>
          <a:ln w="12700">
            <a:solidFill>
              <a:srgbClr val="F4EEFA"/>
            </a:solidFill>
            <a:prstDash val="solid"/>
          </a:ln>
        </p:spPr>
      </p:sp>
      <p:sp>
        <p:nvSpPr>
          <p:cNvPr id="11" name="Text 9"/>
          <p:cNvSpPr txBox="1"/>
          <p:nvPr/>
        </p:nvSpPr>
        <p:spPr>
          <a:xfrm>
            <a:off x="777240" y="2926080"/>
            <a:ext cx="4114800" cy="1005840"/>
          </a:xfrm>
          <a:prstGeom prst="rect">
            <a:avLst/>
          </a:prstGeom>
          <a:noFill/>
          <a:ln/>
        </p:spPr>
        <p:txBody>
          <a:bodyPr wrap="square" lIns="0" tIns="0" rIns="0" bIns="0" rtlCol="0" anchor="ctr"/>
          <a:lstStyle/>
          <a:p>
            <a:pPr indent="0" marL="0">
              <a:buNone/>
            </a:pPr>
            <a:r>
              <a:rPr lang="en-US" sz="2200" dirty="0">
                <a:solidFill>
                  <a:srgbClr val="241033"/>
                </a:solidFill>
                <a:latin typeface="Calibri" pitchFamily="34" charset="0"/>
                <a:ea typeface="Calibri" pitchFamily="34" charset="-122"/>
                <a:cs typeface="Calibri" pitchFamily="34" charset="-120"/>
              </a:rPr>
              <a:t>no me gustó la película</a:t>
            </a:r>
            <a:endParaRPr lang="en-US" sz="2200" dirty="0"/>
          </a:p>
        </p:txBody>
      </p:sp>
      <p:sp>
        <p:nvSpPr>
          <p:cNvPr id="12" name="Shape 10"/>
          <p:cNvSpPr/>
          <p:nvPr/>
        </p:nvSpPr>
        <p:spPr>
          <a:xfrm>
            <a:off x="5257800" y="3200400"/>
            <a:ext cx="1005840" cy="457200"/>
          </a:xfrm>
          <a:prstGeom prst="rightArrow">
            <a:avLst/>
          </a:prstGeom>
          <a:solidFill>
            <a:srgbClr val="B98BE0"/>
          </a:solidFill>
          <a:ln w="12700">
            <a:solidFill>
              <a:srgbClr val="B98BE0"/>
            </a:solidFill>
            <a:prstDash val="solid"/>
          </a:ln>
        </p:spPr>
      </p:sp>
      <p:sp>
        <p:nvSpPr>
          <p:cNvPr id="13" name="Text 11"/>
          <p:cNvSpPr txBox="1"/>
          <p:nvPr/>
        </p:nvSpPr>
        <p:spPr>
          <a:xfrm>
            <a:off x="4937760" y="3675888"/>
            <a:ext cx="1645920" cy="274320"/>
          </a:xfrm>
          <a:prstGeom prst="rect">
            <a:avLst/>
          </a:prstGeom>
          <a:noFill/>
          <a:ln/>
        </p:spPr>
        <p:txBody>
          <a:bodyPr wrap="square" lIns="0" tIns="0" rIns="0" bIns="0" rtlCol="0" anchor="t"/>
          <a:lstStyle/>
          <a:p>
            <a:pPr algn="ctr" indent="0" marL="0">
              <a:buNone/>
            </a:pPr>
            <a:r>
              <a:rPr lang="en-US" sz="1100" dirty="0">
                <a:solidFill>
                  <a:srgbClr val="6E6480"/>
                </a:solidFill>
                <a:latin typeface="Calibri" pitchFamily="34" charset="0"/>
                <a:ea typeface="Calibri" pitchFamily="34" charset="-122"/>
                <a:cs typeface="Calibri" pitchFamily="34" charset="-120"/>
              </a:rPr>
              <a:t>quitar stopwords</a:t>
            </a:r>
            <a:endParaRPr lang="en-US" sz="1100" dirty="0"/>
          </a:p>
        </p:txBody>
      </p:sp>
      <p:sp>
        <p:nvSpPr>
          <p:cNvPr id="14" name="Shape 12"/>
          <p:cNvSpPr/>
          <p:nvPr/>
        </p:nvSpPr>
        <p:spPr>
          <a:xfrm>
            <a:off x="6492240" y="2926080"/>
            <a:ext cx="3108960" cy="1005840"/>
          </a:xfrm>
          <a:prstGeom prst="roundRect">
            <a:avLst>
              <a:gd name="adj" fmla="val 10909"/>
            </a:avLst>
          </a:prstGeom>
          <a:solidFill>
            <a:srgbClr val="241033"/>
          </a:solidFill>
          <a:ln w="12700">
            <a:solidFill>
              <a:srgbClr val="241033"/>
            </a:solidFill>
            <a:prstDash val="solid"/>
          </a:ln>
        </p:spPr>
      </p:sp>
      <p:sp>
        <p:nvSpPr>
          <p:cNvPr id="15" name="Text 13"/>
          <p:cNvSpPr txBox="1"/>
          <p:nvPr/>
        </p:nvSpPr>
        <p:spPr>
          <a:xfrm>
            <a:off x="6675120" y="2926080"/>
            <a:ext cx="2743200" cy="100584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gustó película</a:t>
            </a:r>
            <a:endParaRPr lang="en-US" sz="2200" dirty="0"/>
          </a:p>
        </p:txBody>
      </p:sp>
      <p:sp>
        <p:nvSpPr>
          <p:cNvPr id="16" name="Shape 14"/>
          <p:cNvSpPr/>
          <p:nvPr/>
        </p:nvSpPr>
        <p:spPr>
          <a:xfrm>
            <a:off x="10012680" y="2240280"/>
            <a:ext cx="1005840" cy="1005840"/>
          </a:xfrm>
          <a:prstGeom prst="ellipse">
            <a:avLst/>
          </a:prstGeom>
          <a:solidFill>
            <a:srgbClr val="C400C4"/>
          </a:solidFill>
          <a:ln w="12700">
            <a:solidFill>
              <a:srgbClr val="C400C4"/>
            </a:solidFill>
            <a:prstDash val="solid"/>
          </a:ln>
        </p:spPr>
      </p:sp>
      <p:pic>
        <p:nvPicPr>
          <p:cNvPr id="17" name="Image 0" descr="preencoded.png">    </p:cNvPr>
          <p:cNvPicPr>
            <a:picLocks noChangeAspect="1"/>
          </p:cNvPicPr>
          <p:nvPr/>
        </p:nvPicPr>
        <p:blipFill>
          <a:blip r:embed="rId1"/>
          <a:stretch>
            <a:fillRect/>
          </a:stretch>
        </p:blipFill>
        <p:spPr>
          <a:xfrm>
            <a:off x="10254082" y="2481682"/>
            <a:ext cx="523037" cy="523037"/>
          </a:xfrm>
          <a:prstGeom prst="rect">
            <a:avLst/>
          </a:prstGeom>
        </p:spPr>
      </p:pic>
      <p:sp>
        <p:nvSpPr>
          <p:cNvPr id="18" name="Text 15"/>
          <p:cNvSpPr txBox="1"/>
          <p:nvPr/>
        </p:nvSpPr>
        <p:spPr>
          <a:xfrm>
            <a:off x="9784080" y="3337560"/>
            <a:ext cx="1554480" cy="411480"/>
          </a:xfrm>
          <a:prstGeom prst="rect">
            <a:avLst/>
          </a:prstGeom>
          <a:noFill/>
          <a:ln/>
        </p:spPr>
        <p:txBody>
          <a:bodyPr wrap="square" lIns="0" tIns="0" rIns="0" bIns="0" rtlCol="0" anchor="t"/>
          <a:lstStyle/>
          <a:p>
            <a:pPr algn="ctr" indent="0" marL="0">
              <a:buNone/>
            </a:pPr>
            <a:r>
              <a:rPr lang="en-US" sz="1800" b="1" dirty="0">
                <a:solidFill>
                  <a:srgbClr val="C400C4"/>
                </a:solidFill>
                <a:latin typeface="Calibri" pitchFamily="34" charset="0"/>
                <a:ea typeface="Calibri" pitchFamily="34" charset="-122"/>
                <a:cs typeface="Calibri" pitchFamily="34" charset="-120"/>
              </a:rPr>
              <a:t>¡Idénticas!</a:t>
            </a:r>
            <a:endParaRPr lang="en-US" sz="1800" dirty="0"/>
          </a:p>
        </p:txBody>
      </p:sp>
      <p:sp>
        <p:nvSpPr>
          <p:cNvPr id="19" name="Shape 16"/>
          <p:cNvSpPr/>
          <p:nvPr/>
        </p:nvSpPr>
        <p:spPr>
          <a:xfrm>
            <a:off x="548640" y="4526280"/>
            <a:ext cx="11064240" cy="1325880"/>
          </a:xfrm>
          <a:prstGeom prst="roundRect">
            <a:avLst>
              <a:gd name="adj" fmla="val 8276"/>
            </a:avLst>
          </a:prstGeom>
          <a:solidFill>
            <a:srgbClr val="EADFF5"/>
          </a:solidFill>
          <a:ln w="12700">
            <a:solidFill>
              <a:srgbClr val="EADFF5"/>
            </a:solidFill>
            <a:prstDash val="solid"/>
          </a:ln>
        </p:spPr>
      </p:sp>
      <p:sp>
        <p:nvSpPr>
          <p:cNvPr id="20" name="Text 17"/>
          <p:cNvSpPr txBox="1"/>
          <p:nvPr/>
        </p:nvSpPr>
        <p:spPr>
          <a:xfrm>
            <a:off x="822960" y="4617720"/>
            <a:ext cx="10515600" cy="1143000"/>
          </a:xfrm>
          <a:prstGeom prst="rect">
            <a:avLst/>
          </a:prstGeom>
          <a:noFill/>
          <a:ln/>
        </p:spPr>
        <p:txBody>
          <a:bodyPr wrap="square" lIns="0" tIns="0" rIns="0" bIns="0" rtlCol="0" anchor="ctr"/>
          <a:lstStyle/>
          <a:p>
            <a:pPr indent="0" marL="0">
              <a:spcAft>
                <a:spcPts val="600"/>
              </a:spcAft>
              <a:buNone/>
            </a:pPr>
            <a:r>
              <a:rPr lang="en-US" sz="1600" b="1" dirty="0">
                <a:solidFill>
                  <a:srgbClr val="6A0DAD"/>
                </a:solidFill>
                <a:latin typeface="Calibri" pitchFamily="34" charset="0"/>
                <a:ea typeface="Calibri" pitchFamily="34" charset="-122"/>
                <a:cs typeface="Calibri" pitchFamily="34" charset="-120"/>
              </a:rPr>
              <a:t>La negación desapareció. </a:t>
            </a:r>
            <a:pPr indent="0" marL="0">
              <a:spcAft>
                <a:spcPts val="600"/>
              </a:spcAft>
              <a:buNone/>
            </a:pPr>
            <a:r>
              <a:rPr lang="en-US" sz="1600" dirty="0">
                <a:solidFill>
                  <a:srgbClr val="3D3350"/>
                </a:solidFill>
                <a:latin typeface="Calibri" pitchFamily="34" charset="0"/>
                <a:ea typeface="Calibri" pitchFamily="34" charset="-122"/>
                <a:cs typeface="Calibri" pitchFamily="34" charset="-120"/>
              </a:rPr>
              <a:t>Para un clasificador de sentimiento ambas frases ahora son iguales.</a:t>
            </a:r>
            <a:endParaRPr lang="en-US" sz="1600" dirty="0"/>
          </a:p>
          <a:p>
            <a:pPr indent="0" marL="0">
              <a:spcAft>
                <a:spcPts val="600"/>
              </a:spcAft>
              <a:buNone/>
            </a:pPr>
            <a:r>
              <a:rPr lang="en-US" sz="1600" b="1" dirty="0">
                <a:solidFill>
                  <a:srgbClr val="6A0DAD"/>
                </a:solidFill>
                <a:latin typeface="Calibri" pitchFamily="34" charset="0"/>
                <a:ea typeface="Calibri" pitchFamily="34" charset="-122"/>
                <a:cs typeface="Calibri" pitchFamily="34" charset="-120"/>
              </a:rPr>
              <a:t>Solución: </a:t>
            </a:r>
            <a:pPr indent="0" marL="0">
              <a:spcAft>
                <a:spcPts val="600"/>
              </a:spcAft>
              <a:buNone/>
            </a:pPr>
            <a:r>
              <a:rPr lang="en-US" sz="1600" dirty="0">
                <a:solidFill>
                  <a:srgbClr val="3D3350"/>
                </a:solidFill>
                <a:latin typeface="Calibri" pitchFamily="34" charset="0"/>
                <a:ea typeface="Calibri" pitchFamily="34" charset="-122"/>
                <a:cs typeface="Calibri" pitchFamily="34" charset="-120"/>
              </a:rPr>
              <a:t>listas de stopwords adaptadas al problema (conservar “no”, “nunca”, “muy”) o no quitarlas en modelos neuronales.</a:t>
            </a:r>
            <a:endParaRPr lang="en-US" sz="16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Stemming vs. lematización</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NORMALIZAR PALABRAS</a:t>
            </a:r>
            <a:endParaRPr lang="en-US" sz="1100" dirty="0"/>
          </a:p>
        </p:txBody>
      </p:sp>
      <p:sp>
        <p:nvSpPr>
          <p:cNvPr id="4" name="Shape 2"/>
          <p:cNvSpPr/>
          <p:nvPr/>
        </p:nvSpPr>
        <p:spPr>
          <a:xfrm>
            <a:off x="548640" y="1371600"/>
            <a:ext cx="5440680" cy="4526280"/>
          </a:xfrm>
          <a:prstGeom prst="roundRect">
            <a:avLst>
              <a:gd name="adj" fmla="val 2424"/>
            </a:avLst>
          </a:prstGeom>
          <a:solidFill>
            <a:srgbClr val="F4EEFA"/>
          </a:solidFill>
          <a:ln w="12700">
            <a:solidFill>
              <a:srgbClr val="F4EEFA"/>
            </a:solidFill>
            <a:prstDash val="solid"/>
          </a:ln>
        </p:spPr>
      </p:sp>
      <p:sp>
        <p:nvSpPr>
          <p:cNvPr id="5" name="Shape 3"/>
          <p:cNvSpPr/>
          <p:nvPr/>
        </p:nvSpPr>
        <p:spPr>
          <a:xfrm>
            <a:off x="822960" y="1600200"/>
            <a:ext cx="640080" cy="640080"/>
          </a:xfrm>
          <a:prstGeom prst="ellipse">
            <a:avLst/>
          </a:prstGeom>
          <a:solidFill>
            <a:srgbClr val="6A0DAD"/>
          </a:solidFill>
          <a:ln w="12700">
            <a:solidFill>
              <a:srgbClr val="6A0DAD"/>
            </a:solidFill>
            <a:prstDash val="solid"/>
          </a:ln>
        </p:spPr>
      </p:sp>
      <p:pic>
        <p:nvPicPr>
          <p:cNvPr id="6" name="Image 0" descr="preencoded.png">    </p:cNvPr>
          <p:cNvPicPr>
            <a:picLocks noChangeAspect="1"/>
          </p:cNvPicPr>
          <p:nvPr/>
        </p:nvPicPr>
        <p:blipFill>
          <a:blip r:embed="rId1"/>
          <a:stretch>
            <a:fillRect/>
          </a:stretch>
        </p:blipFill>
        <p:spPr>
          <a:xfrm>
            <a:off x="976579" y="1753819"/>
            <a:ext cx="332842" cy="332842"/>
          </a:xfrm>
          <a:prstGeom prst="rect">
            <a:avLst/>
          </a:prstGeom>
        </p:spPr>
      </p:pic>
      <p:sp>
        <p:nvSpPr>
          <p:cNvPr id="7" name="Text 4"/>
          <p:cNvSpPr txBox="1"/>
          <p:nvPr/>
        </p:nvSpPr>
        <p:spPr>
          <a:xfrm>
            <a:off x="1645920" y="1627632"/>
            <a:ext cx="4023360" cy="548640"/>
          </a:xfrm>
          <a:prstGeom prst="rect">
            <a:avLst/>
          </a:prstGeom>
          <a:noFill/>
          <a:ln/>
        </p:spPr>
        <p:txBody>
          <a:bodyPr wrap="square" lIns="0" tIns="0" rIns="0" bIns="0" rtlCol="0" anchor="ctr"/>
          <a:lstStyle/>
          <a:p>
            <a:pPr indent="0" marL="0">
              <a:buNone/>
            </a:pPr>
            <a:r>
              <a:rPr lang="en-US" sz="2400" b="1" dirty="0">
                <a:solidFill>
                  <a:srgbClr val="241033"/>
                </a:solidFill>
                <a:latin typeface="Calibri" pitchFamily="34" charset="0"/>
                <a:ea typeface="Calibri" pitchFamily="34" charset="-122"/>
                <a:cs typeface="Calibri" pitchFamily="34" charset="-120"/>
              </a:rPr>
              <a:t>Stemming</a:t>
            </a:r>
            <a:endParaRPr lang="en-US" sz="2400" dirty="0"/>
          </a:p>
        </p:txBody>
      </p:sp>
      <p:sp>
        <p:nvSpPr>
          <p:cNvPr id="8" name="Text 5"/>
          <p:cNvSpPr txBox="1"/>
          <p:nvPr/>
        </p:nvSpPr>
        <p:spPr>
          <a:xfrm>
            <a:off x="822960" y="2377440"/>
            <a:ext cx="4937760" cy="685800"/>
          </a:xfrm>
          <a:prstGeom prst="rect">
            <a:avLst/>
          </a:prstGeom>
          <a:noFill/>
          <a:ln/>
        </p:spPr>
        <p:txBody>
          <a:bodyPr wrap="square" lIns="0" tIns="0" rIns="0" bIns="0" rtlCol="0" anchor="t"/>
          <a:lstStyle/>
          <a:p>
            <a:pPr indent="0" marL="0">
              <a:buNone/>
            </a:pPr>
            <a:r>
              <a:rPr lang="en-US" sz="1500" dirty="0">
                <a:solidFill>
                  <a:srgbClr val="3D3350"/>
                </a:solidFill>
                <a:latin typeface="Calibri" pitchFamily="34" charset="0"/>
                <a:ea typeface="Calibri" pitchFamily="34" charset="-122"/>
                <a:cs typeface="Calibri" pitchFamily="34" charset="-120"/>
              </a:rPr>
              <a:t>Recorta sufijos con reglas (Porter / Snowball).</a:t>
            </a:r>
            <a:endParaRPr lang="en-US" sz="1500" dirty="0"/>
          </a:p>
        </p:txBody>
      </p:sp>
      <p:sp>
        <p:nvSpPr>
          <p:cNvPr id="9" name="Shape 6"/>
          <p:cNvSpPr/>
          <p:nvPr/>
        </p:nvSpPr>
        <p:spPr>
          <a:xfrm>
            <a:off x="822960" y="3108960"/>
            <a:ext cx="4892040" cy="1143000"/>
          </a:xfrm>
          <a:prstGeom prst="roundRect">
            <a:avLst>
              <a:gd name="adj" fmla="val 8000"/>
            </a:avLst>
          </a:prstGeom>
          <a:solidFill>
            <a:srgbClr val="241033"/>
          </a:solidFill>
          <a:ln w="12700">
            <a:solidFill>
              <a:srgbClr val="241033"/>
            </a:solidFill>
            <a:prstDash val="solid"/>
          </a:ln>
        </p:spPr>
      </p:sp>
      <p:sp>
        <p:nvSpPr>
          <p:cNvPr id="10" name="Text 7"/>
          <p:cNvSpPr txBox="1"/>
          <p:nvPr/>
        </p:nvSpPr>
        <p:spPr>
          <a:xfrm>
            <a:off x="1051560" y="3273552"/>
            <a:ext cx="4434840" cy="813816"/>
          </a:xfrm>
          <a:prstGeom prst="rect">
            <a:avLst/>
          </a:prstGeom>
          <a:noFill/>
          <a:ln/>
        </p:spPr>
        <p:txBody>
          <a:bodyPr wrap="square" lIns="0" tIns="0" rIns="0" bIns="0" rtlCol="0" anchor="t"/>
          <a:lstStyle/>
          <a:p>
            <a:pPr indent="0" marL="0">
              <a:spcAft>
                <a:spcPts val="200"/>
              </a:spcAft>
              <a:buNone/>
            </a:pPr>
            <a:r>
              <a:rPr lang="en-US" sz="1400" dirty="0">
                <a:solidFill>
                  <a:srgbClr val="EDE4F7"/>
                </a:solidFill>
                <a:latin typeface="Courier New" pitchFamily="34" charset="0"/>
                <a:ea typeface="Courier New" pitchFamily="34" charset="-122"/>
                <a:cs typeface="Courier New" pitchFamily="34" charset="-120"/>
              </a:rPr>
              <a:t>corriendo → corr</a:t>
            </a:r>
            <a:endParaRPr lang="en-US" sz="1400" dirty="0"/>
          </a:p>
          <a:p>
            <a:pPr indent="0" marL="0">
              <a:spcAft>
                <a:spcPts val="200"/>
              </a:spcAft>
              <a:buNone/>
            </a:pPr>
            <a:r>
              <a:rPr lang="en-US" sz="1400" dirty="0">
                <a:solidFill>
                  <a:srgbClr val="EDE4F7"/>
                </a:solidFill>
                <a:latin typeface="Courier New" pitchFamily="34" charset="0"/>
                <a:ea typeface="Courier New" pitchFamily="34" charset="-122"/>
                <a:cs typeface="Courier New" pitchFamily="34" charset="-120"/>
              </a:rPr>
              <a:t>corrió → corr</a:t>
            </a:r>
            <a:endParaRPr lang="en-US" sz="1400" dirty="0"/>
          </a:p>
          <a:p>
            <a:pPr indent="0" marL="0">
              <a:spcAft>
                <a:spcPts val="200"/>
              </a:spcAft>
              <a:buNone/>
            </a:pPr>
            <a:r>
              <a:rPr lang="en-US" sz="1400" dirty="0">
                <a:solidFill>
                  <a:srgbClr val="EDE4F7"/>
                </a:solidFill>
                <a:latin typeface="Courier New" pitchFamily="34" charset="0"/>
                <a:ea typeface="Courier New" pitchFamily="34" charset="-122"/>
                <a:cs typeface="Courier New" pitchFamily="34" charset="-120"/>
              </a:rPr>
              <a:t>aprendizaje → aprendizaj</a:t>
            </a:r>
            <a:endParaRPr lang="en-US" sz="1400" dirty="0"/>
          </a:p>
        </p:txBody>
      </p:sp>
      <p:sp>
        <p:nvSpPr>
          <p:cNvPr id="11" name="Text 8"/>
          <p:cNvSpPr txBox="1"/>
          <p:nvPr/>
        </p:nvSpPr>
        <p:spPr>
          <a:xfrm>
            <a:off x="822960" y="4434840"/>
            <a:ext cx="4937760" cy="1325880"/>
          </a:xfrm>
          <a:prstGeom prst="rect">
            <a:avLst/>
          </a:prstGeom>
          <a:noFill/>
          <a:ln/>
        </p:spPr>
        <p:txBody>
          <a:bodyPr wrap="square" lIns="0" tIns="0" rIns="0" bIns="0" rtlCol="0" anchor="t"/>
          <a:lstStyle/>
          <a:p>
            <a:pPr indent="0" marL="0">
              <a:spcAft>
                <a:spcPts val="500"/>
              </a:spcAft>
              <a:buNone/>
            </a:pPr>
            <a:r>
              <a:rPr lang="en-US" sz="1500" b="1" dirty="0">
                <a:solidFill>
                  <a:srgbClr val="6A0DAD"/>
                </a:solidFill>
                <a:latin typeface="Calibri" pitchFamily="34" charset="0"/>
                <a:ea typeface="Calibri" pitchFamily="34" charset="-122"/>
                <a:cs typeface="Calibri" pitchFamily="34" charset="-120"/>
              </a:rPr>
              <a:t>✓ </a:t>
            </a:r>
            <a:pPr indent="0" marL="0">
              <a:spcAft>
                <a:spcPts val="500"/>
              </a:spcAft>
              <a:buNone/>
            </a:pPr>
            <a:r>
              <a:rPr lang="en-US" sz="1500" dirty="0">
                <a:solidFill>
                  <a:srgbClr val="3D3350"/>
                </a:solidFill>
                <a:latin typeface="Calibri" pitchFamily="34" charset="0"/>
                <a:ea typeface="Calibri" pitchFamily="34" charset="-122"/>
                <a:cs typeface="Calibri" pitchFamily="34" charset="-120"/>
              </a:rPr>
              <a:t>Rápido y simple</a:t>
            </a:r>
            <a:endParaRPr lang="en-US" sz="1500" dirty="0"/>
          </a:p>
          <a:p>
            <a:pPr indent="0" marL="0">
              <a:spcAft>
                <a:spcPts val="500"/>
              </a:spcAft>
              <a:buNone/>
            </a:pPr>
            <a:r>
              <a:rPr lang="en-US" sz="1500" b="1" dirty="0">
                <a:solidFill>
                  <a:srgbClr val="6A0DAD"/>
                </a:solidFill>
                <a:latin typeface="Calibri" pitchFamily="34" charset="0"/>
                <a:ea typeface="Calibri" pitchFamily="34" charset="-122"/>
                <a:cs typeface="Calibri" pitchFamily="34" charset="-120"/>
              </a:rPr>
              <a:t>✗ </a:t>
            </a:r>
            <a:pPr indent="0" marL="0">
              <a:spcAft>
                <a:spcPts val="500"/>
              </a:spcAft>
              <a:buNone/>
            </a:pPr>
            <a:r>
              <a:rPr lang="en-US" sz="1500" dirty="0">
                <a:solidFill>
                  <a:srgbClr val="3D3350"/>
                </a:solidFill>
                <a:latin typeface="Calibri" pitchFamily="34" charset="0"/>
                <a:ea typeface="Calibri" pitchFamily="34" charset="-122"/>
                <a:cs typeface="Calibri" pitchFamily="34" charset="-120"/>
              </a:rPr>
              <a:t>Genera raíces que no son palabras</a:t>
            </a:r>
            <a:endParaRPr lang="en-US" sz="1500" dirty="0"/>
          </a:p>
          <a:p>
            <a:pPr indent="0" marL="0">
              <a:spcAft>
                <a:spcPts val="500"/>
              </a:spcAft>
              <a:buNone/>
            </a:pPr>
            <a:r>
              <a:rPr lang="en-US" sz="1500" b="1" dirty="0">
                <a:solidFill>
                  <a:srgbClr val="6A0DAD"/>
                </a:solidFill>
                <a:latin typeface="Calibri" pitchFamily="34" charset="0"/>
                <a:ea typeface="Calibri" pitchFamily="34" charset="-122"/>
                <a:cs typeface="Calibri" pitchFamily="34" charset="-120"/>
              </a:rPr>
              <a:t>Úsalo en: </a:t>
            </a:r>
            <a:pPr indent="0" marL="0">
              <a:spcAft>
                <a:spcPts val="500"/>
              </a:spcAft>
              <a:buNone/>
            </a:pPr>
            <a:r>
              <a:rPr lang="en-US" sz="1500" dirty="0">
                <a:solidFill>
                  <a:srgbClr val="3D3350"/>
                </a:solidFill>
                <a:latin typeface="Calibri" pitchFamily="34" charset="0"/>
                <a:ea typeface="Calibri" pitchFamily="34" charset="-122"/>
                <a:cs typeface="Calibri" pitchFamily="34" charset="-120"/>
              </a:rPr>
              <a:t>Buscadores, procesamiento rápido</a:t>
            </a:r>
            <a:endParaRPr lang="en-US" sz="1500" dirty="0"/>
          </a:p>
        </p:txBody>
      </p:sp>
      <p:sp>
        <p:nvSpPr>
          <p:cNvPr id="12" name="Shape 9"/>
          <p:cNvSpPr/>
          <p:nvPr/>
        </p:nvSpPr>
        <p:spPr>
          <a:xfrm>
            <a:off x="6172200" y="1371600"/>
            <a:ext cx="5440680" cy="4526280"/>
          </a:xfrm>
          <a:prstGeom prst="roundRect">
            <a:avLst>
              <a:gd name="adj" fmla="val 2424"/>
            </a:avLst>
          </a:prstGeom>
          <a:solidFill>
            <a:srgbClr val="F4EEFA"/>
          </a:solidFill>
          <a:ln w="12700">
            <a:solidFill>
              <a:srgbClr val="F4EEFA"/>
            </a:solidFill>
            <a:prstDash val="solid"/>
          </a:ln>
        </p:spPr>
      </p:sp>
      <p:sp>
        <p:nvSpPr>
          <p:cNvPr id="13" name="Shape 10"/>
          <p:cNvSpPr/>
          <p:nvPr/>
        </p:nvSpPr>
        <p:spPr>
          <a:xfrm>
            <a:off x="6446520" y="1600200"/>
            <a:ext cx="640080" cy="640080"/>
          </a:xfrm>
          <a:prstGeom prst="ellipse">
            <a:avLst/>
          </a:prstGeom>
          <a:solidFill>
            <a:srgbClr val="C400C4"/>
          </a:solidFill>
          <a:ln w="12700">
            <a:solidFill>
              <a:srgbClr val="C400C4"/>
            </a:solidFill>
            <a:prstDash val="solid"/>
          </a:ln>
        </p:spPr>
      </p:sp>
      <p:pic>
        <p:nvPicPr>
          <p:cNvPr id="14" name="Image 1" descr="preencoded.png">    </p:cNvPr>
          <p:cNvPicPr>
            <a:picLocks noChangeAspect="1"/>
          </p:cNvPicPr>
          <p:nvPr/>
        </p:nvPicPr>
        <p:blipFill>
          <a:blip r:embed="rId2"/>
          <a:stretch>
            <a:fillRect/>
          </a:stretch>
        </p:blipFill>
        <p:spPr>
          <a:xfrm>
            <a:off x="6600139" y="1753819"/>
            <a:ext cx="332842" cy="332842"/>
          </a:xfrm>
          <a:prstGeom prst="rect">
            <a:avLst/>
          </a:prstGeom>
        </p:spPr>
      </p:pic>
      <p:sp>
        <p:nvSpPr>
          <p:cNvPr id="15" name="Text 11"/>
          <p:cNvSpPr txBox="1"/>
          <p:nvPr/>
        </p:nvSpPr>
        <p:spPr>
          <a:xfrm>
            <a:off x="7269480" y="1627632"/>
            <a:ext cx="4023360" cy="548640"/>
          </a:xfrm>
          <a:prstGeom prst="rect">
            <a:avLst/>
          </a:prstGeom>
          <a:noFill/>
          <a:ln/>
        </p:spPr>
        <p:txBody>
          <a:bodyPr wrap="square" lIns="0" tIns="0" rIns="0" bIns="0" rtlCol="0" anchor="ctr"/>
          <a:lstStyle/>
          <a:p>
            <a:pPr indent="0" marL="0">
              <a:buNone/>
            </a:pPr>
            <a:r>
              <a:rPr lang="en-US" sz="2400" b="1" dirty="0">
                <a:solidFill>
                  <a:srgbClr val="241033"/>
                </a:solidFill>
                <a:latin typeface="Calibri" pitchFamily="34" charset="0"/>
                <a:ea typeface="Calibri" pitchFamily="34" charset="-122"/>
                <a:cs typeface="Calibri" pitchFamily="34" charset="-120"/>
              </a:rPr>
              <a:t>Lematización</a:t>
            </a:r>
            <a:endParaRPr lang="en-US" sz="2400" dirty="0"/>
          </a:p>
        </p:txBody>
      </p:sp>
      <p:sp>
        <p:nvSpPr>
          <p:cNvPr id="16" name="Text 12"/>
          <p:cNvSpPr txBox="1"/>
          <p:nvPr/>
        </p:nvSpPr>
        <p:spPr>
          <a:xfrm>
            <a:off x="6446520" y="2377440"/>
            <a:ext cx="4937760" cy="685800"/>
          </a:xfrm>
          <a:prstGeom prst="rect">
            <a:avLst/>
          </a:prstGeom>
          <a:noFill/>
          <a:ln/>
        </p:spPr>
        <p:txBody>
          <a:bodyPr wrap="square" lIns="0" tIns="0" rIns="0" bIns="0" rtlCol="0" anchor="t"/>
          <a:lstStyle/>
          <a:p>
            <a:pPr indent="0" marL="0">
              <a:buNone/>
            </a:pPr>
            <a:r>
              <a:rPr lang="en-US" sz="1500" dirty="0">
                <a:solidFill>
                  <a:srgbClr val="3D3350"/>
                </a:solidFill>
                <a:latin typeface="Calibri" pitchFamily="34" charset="0"/>
                <a:ea typeface="Calibri" pitchFamily="34" charset="-122"/>
                <a:cs typeface="Calibri" pitchFamily="34" charset="-120"/>
              </a:rPr>
              <a:t>Lleva a la forma de diccionario usando morfología y categoría gramatical.</a:t>
            </a:r>
            <a:endParaRPr lang="en-US" sz="1500" dirty="0"/>
          </a:p>
        </p:txBody>
      </p:sp>
      <p:sp>
        <p:nvSpPr>
          <p:cNvPr id="17" name="Shape 13"/>
          <p:cNvSpPr/>
          <p:nvPr/>
        </p:nvSpPr>
        <p:spPr>
          <a:xfrm>
            <a:off x="6446520" y="3108960"/>
            <a:ext cx="4892040" cy="1143000"/>
          </a:xfrm>
          <a:prstGeom prst="roundRect">
            <a:avLst>
              <a:gd name="adj" fmla="val 8000"/>
            </a:avLst>
          </a:prstGeom>
          <a:solidFill>
            <a:srgbClr val="241033"/>
          </a:solidFill>
          <a:ln w="12700">
            <a:solidFill>
              <a:srgbClr val="241033"/>
            </a:solidFill>
            <a:prstDash val="solid"/>
          </a:ln>
        </p:spPr>
      </p:sp>
      <p:sp>
        <p:nvSpPr>
          <p:cNvPr id="18" name="Text 14"/>
          <p:cNvSpPr txBox="1"/>
          <p:nvPr/>
        </p:nvSpPr>
        <p:spPr>
          <a:xfrm>
            <a:off x="6675120" y="3273552"/>
            <a:ext cx="4434840" cy="813816"/>
          </a:xfrm>
          <a:prstGeom prst="rect">
            <a:avLst/>
          </a:prstGeom>
          <a:noFill/>
          <a:ln/>
        </p:spPr>
        <p:txBody>
          <a:bodyPr wrap="square" lIns="0" tIns="0" rIns="0" bIns="0" rtlCol="0" anchor="t"/>
          <a:lstStyle/>
          <a:p>
            <a:pPr indent="0" marL="0">
              <a:spcAft>
                <a:spcPts val="200"/>
              </a:spcAft>
              <a:buNone/>
            </a:pPr>
            <a:r>
              <a:rPr lang="en-US" sz="1400" dirty="0">
                <a:solidFill>
                  <a:srgbClr val="EDE4F7"/>
                </a:solidFill>
                <a:latin typeface="Courier New" pitchFamily="34" charset="0"/>
                <a:ea typeface="Courier New" pitchFamily="34" charset="-122"/>
                <a:cs typeface="Courier New" pitchFamily="34" charset="-120"/>
              </a:rPr>
              <a:t>corriendo → correr</a:t>
            </a:r>
            <a:endParaRPr lang="en-US" sz="1400" dirty="0"/>
          </a:p>
          <a:p>
            <a:pPr indent="0" marL="0">
              <a:spcAft>
                <a:spcPts val="200"/>
              </a:spcAft>
              <a:buNone/>
            </a:pPr>
            <a:r>
              <a:rPr lang="en-US" sz="1400" dirty="0">
                <a:solidFill>
                  <a:srgbClr val="EDE4F7"/>
                </a:solidFill>
                <a:latin typeface="Courier New" pitchFamily="34" charset="0"/>
                <a:ea typeface="Courier New" pitchFamily="34" charset="-122"/>
                <a:cs typeface="Courier New" pitchFamily="34" charset="-120"/>
              </a:rPr>
              <a:t>corrió → correr</a:t>
            </a:r>
            <a:endParaRPr lang="en-US" sz="1400" dirty="0"/>
          </a:p>
          <a:p>
            <a:pPr indent="0" marL="0">
              <a:spcAft>
                <a:spcPts val="200"/>
              </a:spcAft>
              <a:buNone/>
            </a:pPr>
            <a:r>
              <a:rPr lang="en-US" sz="1400" dirty="0">
                <a:solidFill>
                  <a:srgbClr val="EDE4F7"/>
                </a:solidFill>
                <a:latin typeface="Courier New" pitchFamily="34" charset="0"/>
                <a:ea typeface="Courier New" pitchFamily="34" charset="-122"/>
                <a:cs typeface="Courier New" pitchFamily="34" charset="-120"/>
              </a:rPr>
              <a:t>mejores → mejor</a:t>
            </a:r>
            <a:endParaRPr lang="en-US" sz="1400" dirty="0"/>
          </a:p>
        </p:txBody>
      </p:sp>
      <p:sp>
        <p:nvSpPr>
          <p:cNvPr id="19" name="Text 15"/>
          <p:cNvSpPr txBox="1"/>
          <p:nvPr/>
        </p:nvSpPr>
        <p:spPr>
          <a:xfrm>
            <a:off x="6446520" y="4434840"/>
            <a:ext cx="4937760" cy="1325880"/>
          </a:xfrm>
          <a:prstGeom prst="rect">
            <a:avLst/>
          </a:prstGeom>
          <a:noFill/>
          <a:ln/>
        </p:spPr>
        <p:txBody>
          <a:bodyPr wrap="square" lIns="0" tIns="0" rIns="0" bIns="0" rtlCol="0" anchor="t"/>
          <a:lstStyle/>
          <a:p>
            <a:pPr indent="0" marL="0">
              <a:spcAft>
                <a:spcPts val="500"/>
              </a:spcAft>
              <a:buNone/>
            </a:pPr>
            <a:r>
              <a:rPr lang="en-US" sz="1500" b="1" dirty="0">
                <a:solidFill>
                  <a:srgbClr val="6A0DAD"/>
                </a:solidFill>
                <a:latin typeface="Calibri" pitchFamily="34" charset="0"/>
                <a:ea typeface="Calibri" pitchFamily="34" charset="-122"/>
                <a:cs typeface="Calibri" pitchFamily="34" charset="-120"/>
              </a:rPr>
              <a:t>✓ </a:t>
            </a:r>
            <a:pPr indent="0" marL="0">
              <a:spcAft>
                <a:spcPts val="500"/>
              </a:spcAft>
              <a:buNone/>
            </a:pPr>
            <a:r>
              <a:rPr lang="en-US" sz="1500" dirty="0">
                <a:solidFill>
                  <a:srgbClr val="3D3350"/>
                </a:solidFill>
                <a:latin typeface="Calibri" pitchFamily="34" charset="0"/>
                <a:ea typeface="Calibri" pitchFamily="34" charset="-122"/>
                <a:cs typeface="Calibri" pitchFamily="34" charset="-120"/>
              </a:rPr>
              <a:t>Preciso, maneja irregulares</a:t>
            </a:r>
            <a:endParaRPr lang="en-US" sz="1500" dirty="0"/>
          </a:p>
          <a:p>
            <a:pPr indent="0" marL="0">
              <a:spcAft>
                <a:spcPts val="500"/>
              </a:spcAft>
              <a:buNone/>
            </a:pPr>
            <a:r>
              <a:rPr lang="en-US" sz="1500" b="1" dirty="0">
                <a:solidFill>
                  <a:srgbClr val="6A0DAD"/>
                </a:solidFill>
                <a:latin typeface="Calibri" pitchFamily="34" charset="0"/>
                <a:ea typeface="Calibri" pitchFamily="34" charset="-122"/>
                <a:cs typeface="Calibri" pitchFamily="34" charset="-120"/>
              </a:rPr>
              <a:t>✗ </a:t>
            </a:r>
            <a:pPr indent="0" marL="0">
              <a:spcAft>
                <a:spcPts val="500"/>
              </a:spcAft>
              <a:buNone/>
            </a:pPr>
            <a:r>
              <a:rPr lang="en-US" sz="1500" dirty="0">
                <a:solidFill>
                  <a:srgbClr val="3D3350"/>
                </a:solidFill>
                <a:latin typeface="Calibri" pitchFamily="34" charset="0"/>
                <a:ea typeface="Calibri" pitchFamily="34" charset="-122"/>
                <a:cs typeface="Calibri" pitchFamily="34" charset="-120"/>
              </a:rPr>
              <a:t>Más lento (spaCy, stanza)</a:t>
            </a:r>
            <a:endParaRPr lang="en-US" sz="1500" dirty="0"/>
          </a:p>
          <a:p>
            <a:pPr indent="0" marL="0">
              <a:spcAft>
                <a:spcPts val="500"/>
              </a:spcAft>
              <a:buNone/>
            </a:pPr>
            <a:r>
              <a:rPr lang="en-US" sz="1500" b="1" dirty="0">
                <a:solidFill>
                  <a:srgbClr val="6A0DAD"/>
                </a:solidFill>
                <a:latin typeface="Calibri" pitchFamily="34" charset="0"/>
                <a:ea typeface="Calibri" pitchFamily="34" charset="-122"/>
                <a:cs typeface="Calibri" pitchFamily="34" charset="-120"/>
              </a:rPr>
              <a:t>Úsalo en: </a:t>
            </a:r>
            <a:pPr indent="0" marL="0">
              <a:spcAft>
                <a:spcPts val="500"/>
              </a:spcAft>
              <a:buNone/>
            </a:pPr>
            <a:r>
              <a:rPr lang="en-US" sz="1500" dirty="0">
                <a:solidFill>
                  <a:srgbClr val="3D3350"/>
                </a:solidFill>
                <a:latin typeface="Calibri" pitchFamily="34" charset="0"/>
                <a:ea typeface="Calibri" pitchFamily="34" charset="-122"/>
                <a:cs typeface="Calibri" pitchFamily="34" charset="-120"/>
              </a:rPr>
              <a:t>Clasificación, tareas semánticas</a:t>
            </a:r>
            <a:endParaRPr lang="en-US" sz="1500" dirty="0"/>
          </a:p>
        </p:txBody>
      </p:sp>
      <p:sp>
        <p:nvSpPr>
          <p:cNvPr id="20" name="Text 16"/>
          <p:cNvSpPr txBox="1"/>
          <p:nvPr/>
        </p:nvSpPr>
        <p:spPr>
          <a:xfrm>
            <a:off x="548640" y="5989320"/>
            <a:ext cx="10058400" cy="274320"/>
          </a:xfrm>
          <a:prstGeom prst="rect">
            <a:avLst/>
          </a:prstGeom>
          <a:noFill/>
          <a:ln/>
        </p:spPr>
        <p:txBody>
          <a:bodyPr wrap="square" lIns="0" tIns="0" rIns="0" bIns="0" rtlCol="0" anchor="t"/>
          <a:lstStyle/>
          <a:p>
            <a:pPr indent="0" marL="0">
              <a:buNone/>
            </a:pPr>
            <a:r>
              <a:rPr lang="en-US" sz="1100" i="1" dirty="0">
                <a:solidFill>
                  <a:srgbClr val="6E6480"/>
                </a:solidFill>
                <a:latin typeface="Calibri" pitchFamily="34" charset="0"/>
                <a:ea typeface="Calibri" pitchFamily="34" charset="-122"/>
                <a:cs typeface="Calibri" pitchFamily="34" charset="-120"/>
              </a:rPr>
              <a:t>Fuente: IBM, Stemming vs. lemmatization · salidas de stemming reales del notebook 02 (SnowballStemmer)</a:t>
            </a:r>
            <a:endParaRPr lang="en-US" sz="11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Tokenización: ¿en qué unidades cortamos el texto?</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NOTEBOOK 03</a:t>
            </a:r>
            <a:endParaRPr lang="en-US" sz="1100" dirty="0"/>
          </a:p>
        </p:txBody>
      </p:sp>
      <p:sp>
        <p:nvSpPr>
          <p:cNvPr id="4" name="Text 2"/>
          <p:cNvSpPr txBox="1"/>
          <p:nvPr/>
        </p:nvSpPr>
        <p:spPr>
          <a:xfrm>
            <a:off x="548640" y="1417320"/>
            <a:ext cx="1920240" cy="1188720"/>
          </a:xfrm>
          <a:prstGeom prst="rect">
            <a:avLst/>
          </a:prstGeom>
          <a:noFill/>
          <a:ln/>
        </p:spPr>
        <p:txBody>
          <a:bodyPr wrap="square" lIns="0" tIns="0" rIns="0" bIns="0" rtlCol="0" anchor="ctr"/>
          <a:lstStyle/>
          <a:p>
            <a:pPr indent="0" marL="0">
              <a:buNone/>
            </a:pPr>
            <a:r>
              <a:rPr lang="en-US" sz="2100" b="1" dirty="0">
                <a:solidFill>
                  <a:srgbClr val="6A0DAD"/>
                </a:solidFill>
                <a:latin typeface="Calibri" pitchFamily="34" charset="0"/>
                <a:ea typeface="Calibri" pitchFamily="34" charset="-122"/>
                <a:cs typeface="Calibri" pitchFamily="34" charset="-120"/>
              </a:rPr>
              <a:t>Palabra</a:t>
            </a:r>
            <a:endParaRPr lang="en-US" sz="2100" dirty="0"/>
          </a:p>
        </p:txBody>
      </p:sp>
      <p:sp>
        <p:nvSpPr>
          <p:cNvPr id="5" name="Shape 3"/>
          <p:cNvSpPr/>
          <p:nvPr/>
        </p:nvSpPr>
        <p:spPr>
          <a:xfrm>
            <a:off x="2514600" y="1719072"/>
            <a:ext cx="658368" cy="566928"/>
          </a:xfrm>
          <a:prstGeom prst="roundRect">
            <a:avLst>
              <a:gd name="adj" fmla="val 12903"/>
            </a:avLst>
          </a:prstGeom>
          <a:solidFill>
            <a:srgbClr val="6A0DAD"/>
          </a:solidFill>
          <a:ln w="12700">
            <a:solidFill>
              <a:srgbClr val="FFFFFF"/>
            </a:solidFill>
            <a:prstDash val="solid"/>
          </a:ln>
        </p:spPr>
      </p:sp>
      <p:sp>
        <p:nvSpPr>
          <p:cNvPr id="6" name="Text 4"/>
          <p:cNvSpPr txBox="1"/>
          <p:nvPr/>
        </p:nvSpPr>
        <p:spPr>
          <a:xfrm>
            <a:off x="2514600" y="1719072"/>
            <a:ext cx="65836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el</a:t>
            </a:r>
            <a:endParaRPr lang="en-US" sz="1600" dirty="0"/>
          </a:p>
        </p:txBody>
      </p:sp>
      <p:sp>
        <p:nvSpPr>
          <p:cNvPr id="7" name="Shape 5"/>
          <p:cNvSpPr/>
          <p:nvPr/>
        </p:nvSpPr>
        <p:spPr>
          <a:xfrm>
            <a:off x="3264408" y="1719072"/>
            <a:ext cx="1280160" cy="566928"/>
          </a:xfrm>
          <a:prstGeom prst="roundRect">
            <a:avLst>
              <a:gd name="adj" fmla="val 12903"/>
            </a:avLst>
          </a:prstGeom>
          <a:solidFill>
            <a:srgbClr val="6A0DAD"/>
          </a:solidFill>
          <a:ln w="12700">
            <a:solidFill>
              <a:srgbClr val="FFFFFF"/>
            </a:solidFill>
            <a:prstDash val="solid"/>
          </a:ln>
        </p:spPr>
      </p:sp>
      <p:sp>
        <p:nvSpPr>
          <p:cNvPr id="8" name="Text 6"/>
          <p:cNvSpPr txBox="1"/>
          <p:nvPr/>
        </p:nvSpPr>
        <p:spPr>
          <a:xfrm>
            <a:off x="3264408" y="1719072"/>
            <a:ext cx="128016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modelo</a:t>
            </a:r>
            <a:endParaRPr lang="en-US" sz="1600" dirty="0"/>
          </a:p>
        </p:txBody>
      </p:sp>
      <p:sp>
        <p:nvSpPr>
          <p:cNvPr id="9" name="Shape 7"/>
          <p:cNvSpPr/>
          <p:nvPr/>
        </p:nvSpPr>
        <p:spPr>
          <a:xfrm>
            <a:off x="4636008" y="1719072"/>
            <a:ext cx="1435608" cy="566928"/>
          </a:xfrm>
          <a:prstGeom prst="roundRect">
            <a:avLst>
              <a:gd name="adj" fmla="val 12903"/>
            </a:avLst>
          </a:prstGeom>
          <a:solidFill>
            <a:srgbClr val="6A0DAD"/>
          </a:solidFill>
          <a:ln w="12700">
            <a:solidFill>
              <a:srgbClr val="FFFFFF"/>
            </a:solidFill>
            <a:prstDash val="solid"/>
          </a:ln>
        </p:spPr>
      </p:sp>
      <p:sp>
        <p:nvSpPr>
          <p:cNvPr id="10" name="Text 8"/>
          <p:cNvSpPr txBox="1"/>
          <p:nvPr/>
        </p:nvSpPr>
        <p:spPr>
          <a:xfrm>
            <a:off x="4636008" y="1719072"/>
            <a:ext cx="143560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aprende</a:t>
            </a:r>
            <a:endParaRPr lang="en-US" sz="1600" dirty="0"/>
          </a:p>
        </p:txBody>
      </p:sp>
      <p:sp>
        <p:nvSpPr>
          <p:cNvPr id="11" name="Shape 9"/>
          <p:cNvSpPr/>
          <p:nvPr/>
        </p:nvSpPr>
        <p:spPr>
          <a:xfrm>
            <a:off x="6949440" y="1508760"/>
            <a:ext cx="4663440" cy="1005840"/>
          </a:xfrm>
          <a:prstGeom prst="roundRect">
            <a:avLst>
              <a:gd name="adj" fmla="val 10909"/>
            </a:avLst>
          </a:prstGeom>
          <a:solidFill>
            <a:srgbClr val="F4EEFA"/>
          </a:solidFill>
          <a:ln w="12700">
            <a:solidFill>
              <a:srgbClr val="F4EEFA"/>
            </a:solidFill>
            <a:prstDash val="solid"/>
          </a:ln>
        </p:spPr>
      </p:sp>
      <p:sp>
        <p:nvSpPr>
          <p:cNvPr id="12" name="Text 10"/>
          <p:cNvSpPr txBox="1"/>
          <p:nvPr/>
        </p:nvSpPr>
        <p:spPr>
          <a:xfrm>
            <a:off x="7132320" y="1508760"/>
            <a:ext cx="4343400" cy="1005840"/>
          </a:xfrm>
          <a:prstGeom prst="rect">
            <a:avLst/>
          </a:prstGeom>
          <a:noFill/>
          <a:ln/>
        </p:spPr>
        <p:txBody>
          <a:bodyPr wrap="square" lIns="0" tIns="0" rIns="0" bIns="0" rtlCol="0" anchor="ctr"/>
          <a:lstStyle/>
          <a:p>
            <a:pPr indent="0" marL="0">
              <a:buNone/>
            </a:pPr>
            <a:r>
              <a:rPr lang="en-US" sz="1500" dirty="0">
                <a:solidFill>
                  <a:srgbClr val="241033"/>
                </a:solidFill>
                <a:latin typeface="Calibri" pitchFamily="34" charset="0"/>
                <a:ea typeface="Calibri" pitchFamily="34" charset="-122"/>
                <a:cs typeface="Calibri" pitchFamily="34" charset="-120"/>
              </a:rPr>
              <a:t>Intuitiva. Vocabulario enorme y palabras desconocidas (OOV).</a:t>
            </a:r>
            <a:endParaRPr lang="en-US" sz="1500" dirty="0"/>
          </a:p>
        </p:txBody>
      </p:sp>
      <p:sp>
        <p:nvSpPr>
          <p:cNvPr id="13" name="Text 11"/>
          <p:cNvSpPr txBox="1"/>
          <p:nvPr/>
        </p:nvSpPr>
        <p:spPr>
          <a:xfrm>
            <a:off x="548640" y="2880360"/>
            <a:ext cx="1920240" cy="1188720"/>
          </a:xfrm>
          <a:prstGeom prst="rect">
            <a:avLst/>
          </a:prstGeom>
          <a:noFill/>
          <a:ln/>
        </p:spPr>
        <p:txBody>
          <a:bodyPr wrap="square" lIns="0" tIns="0" rIns="0" bIns="0" rtlCol="0" anchor="ctr"/>
          <a:lstStyle/>
          <a:p>
            <a:pPr indent="0" marL="0">
              <a:buNone/>
            </a:pPr>
            <a:r>
              <a:rPr lang="en-US" sz="2100" b="1" dirty="0">
                <a:solidFill>
                  <a:srgbClr val="6A0DAD"/>
                </a:solidFill>
                <a:latin typeface="Calibri" pitchFamily="34" charset="0"/>
                <a:ea typeface="Calibri" pitchFamily="34" charset="-122"/>
                <a:cs typeface="Calibri" pitchFamily="34" charset="-120"/>
              </a:rPr>
              <a:t>Carácter</a:t>
            </a:r>
            <a:endParaRPr lang="en-US" sz="2100" dirty="0"/>
          </a:p>
        </p:txBody>
      </p:sp>
      <p:sp>
        <p:nvSpPr>
          <p:cNvPr id="14" name="Shape 12"/>
          <p:cNvSpPr/>
          <p:nvPr/>
        </p:nvSpPr>
        <p:spPr>
          <a:xfrm>
            <a:off x="2514600" y="3182112"/>
            <a:ext cx="502920" cy="566928"/>
          </a:xfrm>
          <a:prstGeom prst="roundRect">
            <a:avLst>
              <a:gd name="adj" fmla="val 14545"/>
            </a:avLst>
          </a:prstGeom>
          <a:solidFill>
            <a:srgbClr val="6A0DAD"/>
          </a:solidFill>
          <a:ln w="12700">
            <a:solidFill>
              <a:srgbClr val="FFFFFF"/>
            </a:solidFill>
            <a:prstDash val="solid"/>
          </a:ln>
        </p:spPr>
      </p:sp>
      <p:sp>
        <p:nvSpPr>
          <p:cNvPr id="15" name="Text 13"/>
          <p:cNvSpPr txBox="1"/>
          <p:nvPr/>
        </p:nvSpPr>
        <p:spPr>
          <a:xfrm>
            <a:off x="2514600" y="3182112"/>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m</a:t>
            </a:r>
            <a:endParaRPr lang="en-US" sz="1600" dirty="0"/>
          </a:p>
        </p:txBody>
      </p:sp>
      <p:sp>
        <p:nvSpPr>
          <p:cNvPr id="16" name="Shape 14"/>
          <p:cNvSpPr/>
          <p:nvPr/>
        </p:nvSpPr>
        <p:spPr>
          <a:xfrm>
            <a:off x="3108960" y="3182112"/>
            <a:ext cx="502920" cy="566928"/>
          </a:xfrm>
          <a:prstGeom prst="roundRect">
            <a:avLst>
              <a:gd name="adj" fmla="val 14545"/>
            </a:avLst>
          </a:prstGeom>
          <a:solidFill>
            <a:srgbClr val="6A0DAD"/>
          </a:solidFill>
          <a:ln w="12700">
            <a:solidFill>
              <a:srgbClr val="FFFFFF"/>
            </a:solidFill>
            <a:prstDash val="solid"/>
          </a:ln>
        </p:spPr>
      </p:sp>
      <p:sp>
        <p:nvSpPr>
          <p:cNvPr id="17" name="Text 15"/>
          <p:cNvSpPr txBox="1"/>
          <p:nvPr/>
        </p:nvSpPr>
        <p:spPr>
          <a:xfrm>
            <a:off x="3108960" y="3182112"/>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o</a:t>
            </a:r>
            <a:endParaRPr lang="en-US" sz="1600" dirty="0"/>
          </a:p>
        </p:txBody>
      </p:sp>
      <p:sp>
        <p:nvSpPr>
          <p:cNvPr id="18" name="Shape 16"/>
          <p:cNvSpPr/>
          <p:nvPr/>
        </p:nvSpPr>
        <p:spPr>
          <a:xfrm>
            <a:off x="3703320" y="3182112"/>
            <a:ext cx="502920" cy="566928"/>
          </a:xfrm>
          <a:prstGeom prst="roundRect">
            <a:avLst>
              <a:gd name="adj" fmla="val 14545"/>
            </a:avLst>
          </a:prstGeom>
          <a:solidFill>
            <a:srgbClr val="6A0DAD"/>
          </a:solidFill>
          <a:ln w="12700">
            <a:solidFill>
              <a:srgbClr val="FFFFFF"/>
            </a:solidFill>
            <a:prstDash val="solid"/>
          </a:ln>
        </p:spPr>
      </p:sp>
      <p:sp>
        <p:nvSpPr>
          <p:cNvPr id="19" name="Text 17"/>
          <p:cNvSpPr txBox="1"/>
          <p:nvPr/>
        </p:nvSpPr>
        <p:spPr>
          <a:xfrm>
            <a:off x="3703320" y="3182112"/>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d</a:t>
            </a:r>
            <a:endParaRPr lang="en-US" sz="1600" dirty="0"/>
          </a:p>
        </p:txBody>
      </p:sp>
      <p:sp>
        <p:nvSpPr>
          <p:cNvPr id="20" name="Shape 18"/>
          <p:cNvSpPr/>
          <p:nvPr/>
        </p:nvSpPr>
        <p:spPr>
          <a:xfrm>
            <a:off x="4297680" y="3182112"/>
            <a:ext cx="502920" cy="566928"/>
          </a:xfrm>
          <a:prstGeom prst="roundRect">
            <a:avLst>
              <a:gd name="adj" fmla="val 14545"/>
            </a:avLst>
          </a:prstGeom>
          <a:solidFill>
            <a:srgbClr val="6A0DAD"/>
          </a:solidFill>
          <a:ln w="12700">
            <a:solidFill>
              <a:srgbClr val="FFFFFF"/>
            </a:solidFill>
            <a:prstDash val="solid"/>
          </a:ln>
        </p:spPr>
      </p:sp>
      <p:sp>
        <p:nvSpPr>
          <p:cNvPr id="21" name="Text 19"/>
          <p:cNvSpPr txBox="1"/>
          <p:nvPr/>
        </p:nvSpPr>
        <p:spPr>
          <a:xfrm>
            <a:off x="4297680" y="3182112"/>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e</a:t>
            </a:r>
            <a:endParaRPr lang="en-US" sz="1600" dirty="0"/>
          </a:p>
        </p:txBody>
      </p:sp>
      <p:sp>
        <p:nvSpPr>
          <p:cNvPr id="22" name="Shape 20"/>
          <p:cNvSpPr/>
          <p:nvPr/>
        </p:nvSpPr>
        <p:spPr>
          <a:xfrm>
            <a:off x="4892040" y="3182112"/>
            <a:ext cx="502920" cy="566928"/>
          </a:xfrm>
          <a:prstGeom prst="roundRect">
            <a:avLst>
              <a:gd name="adj" fmla="val 14545"/>
            </a:avLst>
          </a:prstGeom>
          <a:solidFill>
            <a:srgbClr val="6A0DAD"/>
          </a:solidFill>
          <a:ln w="12700">
            <a:solidFill>
              <a:srgbClr val="FFFFFF"/>
            </a:solidFill>
            <a:prstDash val="solid"/>
          </a:ln>
        </p:spPr>
      </p:sp>
      <p:sp>
        <p:nvSpPr>
          <p:cNvPr id="23" name="Text 21"/>
          <p:cNvSpPr txBox="1"/>
          <p:nvPr/>
        </p:nvSpPr>
        <p:spPr>
          <a:xfrm>
            <a:off x="4892040" y="3182112"/>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l</a:t>
            </a:r>
            <a:endParaRPr lang="en-US" sz="1600" dirty="0"/>
          </a:p>
        </p:txBody>
      </p:sp>
      <p:sp>
        <p:nvSpPr>
          <p:cNvPr id="24" name="Shape 22"/>
          <p:cNvSpPr/>
          <p:nvPr/>
        </p:nvSpPr>
        <p:spPr>
          <a:xfrm>
            <a:off x="5486400" y="3182112"/>
            <a:ext cx="502920" cy="566928"/>
          </a:xfrm>
          <a:prstGeom prst="roundRect">
            <a:avLst>
              <a:gd name="adj" fmla="val 14545"/>
            </a:avLst>
          </a:prstGeom>
          <a:solidFill>
            <a:srgbClr val="6A0DAD"/>
          </a:solidFill>
          <a:ln w="12700">
            <a:solidFill>
              <a:srgbClr val="FFFFFF"/>
            </a:solidFill>
            <a:prstDash val="solid"/>
          </a:ln>
        </p:spPr>
      </p:sp>
      <p:sp>
        <p:nvSpPr>
          <p:cNvPr id="25" name="Text 23"/>
          <p:cNvSpPr txBox="1"/>
          <p:nvPr/>
        </p:nvSpPr>
        <p:spPr>
          <a:xfrm>
            <a:off x="5486400" y="3182112"/>
            <a:ext cx="50292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o</a:t>
            </a:r>
            <a:endParaRPr lang="en-US" sz="1600" dirty="0"/>
          </a:p>
        </p:txBody>
      </p:sp>
      <p:sp>
        <p:nvSpPr>
          <p:cNvPr id="26" name="Shape 24"/>
          <p:cNvSpPr/>
          <p:nvPr/>
        </p:nvSpPr>
        <p:spPr>
          <a:xfrm>
            <a:off x="6949440" y="2971800"/>
            <a:ext cx="4663440" cy="1005840"/>
          </a:xfrm>
          <a:prstGeom prst="roundRect">
            <a:avLst>
              <a:gd name="adj" fmla="val 10909"/>
            </a:avLst>
          </a:prstGeom>
          <a:solidFill>
            <a:srgbClr val="F4EEFA"/>
          </a:solidFill>
          <a:ln w="12700">
            <a:solidFill>
              <a:srgbClr val="F4EEFA"/>
            </a:solidFill>
            <a:prstDash val="solid"/>
          </a:ln>
        </p:spPr>
      </p:sp>
      <p:sp>
        <p:nvSpPr>
          <p:cNvPr id="27" name="Text 25"/>
          <p:cNvSpPr txBox="1"/>
          <p:nvPr/>
        </p:nvSpPr>
        <p:spPr>
          <a:xfrm>
            <a:off x="7132320" y="2971800"/>
            <a:ext cx="4343400" cy="1005840"/>
          </a:xfrm>
          <a:prstGeom prst="rect">
            <a:avLst/>
          </a:prstGeom>
          <a:noFill/>
          <a:ln/>
        </p:spPr>
        <p:txBody>
          <a:bodyPr wrap="square" lIns="0" tIns="0" rIns="0" bIns="0" rtlCol="0" anchor="ctr"/>
          <a:lstStyle/>
          <a:p>
            <a:pPr indent="0" marL="0">
              <a:buNone/>
            </a:pPr>
            <a:r>
              <a:rPr lang="en-US" sz="1500" dirty="0">
                <a:solidFill>
                  <a:srgbClr val="241033"/>
                </a:solidFill>
                <a:latin typeface="Calibri" pitchFamily="34" charset="0"/>
                <a:ea typeface="Calibri" pitchFamily="34" charset="-122"/>
                <a:cs typeface="Calibri" pitchFamily="34" charset="-120"/>
              </a:rPr>
              <a:t>Sin OOV y vocabulario mínimo (28 en el NB 03). Secuencias muy largas.</a:t>
            </a:r>
            <a:endParaRPr lang="en-US" sz="1500" dirty="0"/>
          </a:p>
        </p:txBody>
      </p:sp>
      <p:sp>
        <p:nvSpPr>
          <p:cNvPr id="28" name="Text 26"/>
          <p:cNvSpPr txBox="1"/>
          <p:nvPr/>
        </p:nvSpPr>
        <p:spPr>
          <a:xfrm>
            <a:off x="548640" y="4343400"/>
            <a:ext cx="1920240" cy="1188720"/>
          </a:xfrm>
          <a:prstGeom prst="rect">
            <a:avLst/>
          </a:prstGeom>
          <a:noFill/>
          <a:ln/>
        </p:spPr>
        <p:txBody>
          <a:bodyPr wrap="square" lIns="0" tIns="0" rIns="0" bIns="0" rtlCol="0" anchor="ctr"/>
          <a:lstStyle/>
          <a:p>
            <a:pPr indent="0" marL="0">
              <a:buNone/>
            </a:pPr>
            <a:r>
              <a:rPr lang="en-US" sz="2100" b="1" dirty="0">
                <a:solidFill>
                  <a:srgbClr val="6A0DAD"/>
                </a:solidFill>
                <a:latin typeface="Calibri" pitchFamily="34" charset="0"/>
                <a:ea typeface="Calibri" pitchFamily="34" charset="-122"/>
                <a:cs typeface="Calibri" pitchFamily="34" charset="-120"/>
              </a:rPr>
              <a:t>Subpalabra</a:t>
            </a:r>
            <a:endParaRPr lang="en-US" sz="2100" dirty="0"/>
          </a:p>
        </p:txBody>
      </p:sp>
      <p:sp>
        <p:nvSpPr>
          <p:cNvPr id="29" name="Shape 27"/>
          <p:cNvSpPr/>
          <p:nvPr/>
        </p:nvSpPr>
        <p:spPr>
          <a:xfrm>
            <a:off x="2514600" y="4645152"/>
            <a:ext cx="1124712" cy="566928"/>
          </a:xfrm>
          <a:prstGeom prst="roundRect">
            <a:avLst>
              <a:gd name="adj" fmla="val 12903"/>
            </a:avLst>
          </a:prstGeom>
          <a:solidFill>
            <a:srgbClr val="C400C4"/>
          </a:solidFill>
          <a:ln w="12700">
            <a:solidFill>
              <a:srgbClr val="FFFFFF"/>
            </a:solidFill>
            <a:prstDash val="solid"/>
          </a:ln>
        </p:spPr>
      </p:sp>
      <p:sp>
        <p:nvSpPr>
          <p:cNvPr id="30" name="Text 28"/>
          <p:cNvSpPr txBox="1"/>
          <p:nvPr/>
        </p:nvSpPr>
        <p:spPr>
          <a:xfrm>
            <a:off x="2514600" y="4645152"/>
            <a:ext cx="1124712"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token</a:t>
            </a:r>
            <a:endParaRPr lang="en-US" sz="1600" dirty="0"/>
          </a:p>
        </p:txBody>
      </p:sp>
      <p:sp>
        <p:nvSpPr>
          <p:cNvPr id="31" name="Shape 29"/>
          <p:cNvSpPr/>
          <p:nvPr/>
        </p:nvSpPr>
        <p:spPr>
          <a:xfrm>
            <a:off x="3730752" y="4645152"/>
            <a:ext cx="1124712" cy="566928"/>
          </a:xfrm>
          <a:prstGeom prst="roundRect">
            <a:avLst>
              <a:gd name="adj" fmla="val 12903"/>
            </a:avLst>
          </a:prstGeom>
          <a:solidFill>
            <a:srgbClr val="C400C4"/>
          </a:solidFill>
          <a:ln w="12700">
            <a:solidFill>
              <a:srgbClr val="FFFFFF"/>
            </a:solidFill>
            <a:prstDash val="solid"/>
          </a:ln>
        </p:spPr>
      </p:sp>
      <p:sp>
        <p:nvSpPr>
          <p:cNvPr id="32" name="Text 30"/>
          <p:cNvSpPr txBox="1"/>
          <p:nvPr/>
        </p:nvSpPr>
        <p:spPr>
          <a:xfrm>
            <a:off x="3730752" y="4645152"/>
            <a:ext cx="1124712"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##iza</a:t>
            </a:r>
            <a:endParaRPr lang="en-US" sz="1600" dirty="0"/>
          </a:p>
        </p:txBody>
      </p:sp>
      <p:sp>
        <p:nvSpPr>
          <p:cNvPr id="33" name="Shape 31"/>
          <p:cNvSpPr/>
          <p:nvPr/>
        </p:nvSpPr>
        <p:spPr>
          <a:xfrm>
            <a:off x="4946904" y="4645152"/>
            <a:ext cx="1280160" cy="566928"/>
          </a:xfrm>
          <a:prstGeom prst="roundRect">
            <a:avLst>
              <a:gd name="adj" fmla="val 12903"/>
            </a:avLst>
          </a:prstGeom>
          <a:solidFill>
            <a:srgbClr val="C400C4"/>
          </a:solidFill>
          <a:ln w="12700">
            <a:solidFill>
              <a:srgbClr val="FFFFFF"/>
            </a:solidFill>
            <a:prstDash val="solid"/>
          </a:ln>
        </p:spPr>
      </p:sp>
      <p:sp>
        <p:nvSpPr>
          <p:cNvPr id="34" name="Text 32"/>
          <p:cNvSpPr txBox="1"/>
          <p:nvPr/>
        </p:nvSpPr>
        <p:spPr>
          <a:xfrm>
            <a:off x="4946904" y="4645152"/>
            <a:ext cx="128016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ourier New" pitchFamily="34" charset="0"/>
                <a:ea typeface="Courier New" pitchFamily="34" charset="-122"/>
                <a:cs typeface="Courier New" pitchFamily="34" charset="-120"/>
              </a:rPr>
              <a:t>##ción</a:t>
            </a:r>
            <a:endParaRPr lang="en-US" sz="1600" dirty="0"/>
          </a:p>
        </p:txBody>
      </p:sp>
      <p:sp>
        <p:nvSpPr>
          <p:cNvPr id="35" name="Shape 33"/>
          <p:cNvSpPr/>
          <p:nvPr/>
        </p:nvSpPr>
        <p:spPr>
          <a:xfrm>
            <a:off x="6949440" y="4434840"/>
            <a:ext cx="4663440" cy="1005840"/>
          </a:xfrm>
          <a:prstGeom prst="roundRect">
            <a:avLst>
              <a:gd name="adj" fmla="val 10909"/>
            </a:avLst>
          </a:prstGeom>
          <a:solidFill>
            <a:srgbClr val="F4EEFA"/>
          </a:solidFill>
          <a:ln w="12700">
            <a:solidFill>
              <a:srgbClr val="F4EEFA"/>
            </a:solidFill>
            <a:prstDash val="solid"/>
          </a:ln>
        </p:spPr>
      </p:sp>
      <p:sp>
        <p:nvSpPr>
          <p:cNvPr id="36" name="Text 34"/>
          <p:cNvSpPr txBox="1"/>
          <p:nvPr/>
        </p:nvSpPr>
        <p:spPr>
          <a:xfrm>
            <a:off x="7132320" y="4434840"/>
            <a:ext cx="4343400" cy="1005840"/>
          </a:xfrm>
          <a:prstGeom prst="rect">
            <a:avLst/>
          </a:prstGeom>
          <a:noFill/>
          <a:ln/>
        </p:spPr>
        <p:txBody>
          <a:bodyPr wrap="square" lIns="0" tIns="0" rIns="0" bIns="0" rtlCol="0" anchor="ctr"/>
          <a:lstStyle/>
          <a:p>
            <a:pPr indent="0" marL="0">
              <a:buNone/>
            </a:pPr>
            <a:r>
              <a:rPr lang="en-US" sz="1500" dirty="0">
                <a:solidFill>
                  <a:srgbClr val="241033"/>
                </a:solidFill>
                <a:latin typeface="Calibri" pitchFamily="34" charset="0"/>
                <a:ea typeface="Calibri" pitchFamily="34" charset="-122"/>
                <a:cs typeface="Calibri" pitchFamily="34" charset="-120"/>
              </a:rPr>
              <a:t>Equilibrio: la usan BERT y GPT (BPE, WordPiece). Próxima clase.</a:t>
            </a:r>
            <a:endParaRPr lang="en-US" sz="1500" dirty="0"/>
          </a:p>
        </p:txBody>
      </p:sp>
      <p:sp>
        <p:nvSpPr>
          <p:cNvPr id="37" name="Text 35"/>
          <p:cNvSpPr txBox="1"/>
          <p:nvPr/>
        </p:nvSpPr>
        <p:spPr>
          <a:xfrm>
            <a:off x="548640" y="5806440"/>
            <a:ext cx="10972800" cy="320040"/>
          </a:xfrm>
          <a:prstGeom prst="rect">
            <a:avLst/>
          </a:prstGeom>
          <a:noFill/>
          <a:ln/>
        </p:spPr>
        <p:txBody>
          <a:bodyPr wrap="square" lIns="0" tIns="0" rIns="0" bIns="0" rtlCol="0" anchor="t"/>
          <a:lstStyle/>
          <a:p>
            <a:pPr indent="0" marL="0">
              <a:buNone/>
            </a:pPr>
            <a:r>
              <a:rPr lang="en-US" sz="1400" i="1" dirty="0">
                <a:solidFill>
                  <a:srgbClr val="C400C4"/>
                </a:solidFill>
                <a:latin typeface="Calibri" pitchFamily="34" charset="0"/>
                <a:ea typeface="Calibri" pitchFamily="34" charset="-122"/>
                <a:cs typeface="Calibri" pitchFamily="34" charset="-120"/>
              </a:rPr>
              <a:t>Un token es la unidad mínima que el modelo procesa. Los LLMs cobran y limitan su contexto por tokens.</a:t>
            </a:r>
            <a:endParaRPr lang="en-US" sz="14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Tokenizer de Keras: palabras → índices</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NOTEBOOK 03</a:t>
            </a:r>
            <a:endParaRPr lang="en-US" sz="1100" dirty="0"/>
          </a:p>
        </p:txBody>
      </p:sp>
      <p:sp>
        <p:nvSpPr>
          <p:cNvPr id="4" name="Shape 2"/>
          <p:cNvSpPr/>
          <p:nvPr/>
        </p:nvSpPr>
        <p:spPr>
          <a:xfrm>
            <a:off x="548640" y="1371600"/>
            <a:ext cx="6035040" cy="3017520"/>
          </a:xfrm>
          <a:prstGeom prst="roundRect">
            <a:avLst>
              <a:gd name="adj" fmla="val 3030"/>
            </a:avLst>
          </a:prstGeom>
          <a:solidFill>
            <a:srgbClr val="241033"/>
          </a:solidFill>
          <a:ln w="12700">
            <a:solidFill>
              <a:srgbClr val="241033"/>
            </a:solidFill>
            <a:prstDash val="solid"/>
          </a:ln>
        </p:spPr>
      </p:sp>
      <p:sp>
        <p:nvSpPr>
          <p:cNvPr id="5" name="Text 3"/>
          <p:cNvSpPr txBox="1"/>
          <p:nvPr/>
        </p:nvSpPr>
        <p:spPr>
          <a:xfrm>
            <a:off x="777240" y="1536192"/>
            <a:ext cx="5577840" cy="2688336"/>
          </a:xfrm>
          <a:prstGeom prst="rect">
            <a:avLst/>
          </a:prstGeom>
          <a:noFill/>
          <a:ln/>
        </p:spPr>
        <p:txBody>
          <a:bodyPr wrap="square" lIns="0" tIns="0" rIns="0" bIns="0" rtlCol="0" anchor="t"/>
          <a:lstStyle/>
          <a:p>
            <a:pPr indent="0" marL="0">
              <a:spcAft>
                <a:spcPts val="200"/>
              </a:spcAft>
              <a:buNone/>
            </a:pPr>
            <a:r>
              <a:rPr lang="en-US" sz="1200" dirty="0">
                <a:solidFill>
                  <a:srgbClr val="EDE4F7"/>
                </a:solidFill>
                <a:latin typeface="Courier New" pitchFamily="34" charset="0"/>
                <a:ea typeface="Courier New" pitchFamily="34" charset="-122"/>
                <a:cs typeface="Courier New" pitchFamily="34" charset="-120"/>
              </a:rPr>
              <a:t>from tensorflow.keras.preprocessing.text import Tokenizer</a:t>
            </a:r>
            <a:endParaRPr lang="en-US" sz="1200" dirty="0"/>
          </a:p>
          <a:p>
            <a:pPr indent="0" marL="0">
              <a:spcAft>
                <a:spcPts val="200"/>
              </a:spcAft>
              <a:buNone/>
            </a:pPr>
            <a:endParaRPr lang="en-US" sz="1200" dirty="0"/>
          </a:p>
          <a:p>
            <a:pPr indent="0" marL="0">
              <a:spcAft>
                <a:spcPts val="200"/>
              </a:spcAft>
              <a:buNone/>
            </a:pPr>
            <a:r>
              <a:rPr lang="en-US" sz="1200" dirty="0">
                <a:solidFill>
                  <a:srgbClr val="EDE4F7"/>
                </a:solidFill>
                <a:latin typeface="Courier New" pitchFamily="34" charset="0"/>
                <a:ea typeface="Courier New" pitchFamily="34" charset="-122"/>
                <a:cs typeface="Courier New" pitchFamily="34" charset="-120"/>
              </a:rPr>
              <a:t>tokenizer = Tokenizer(num_words=1000, oov_token="&lt;OOV&gt;")</a:t>
            </a:r>
            <a:endParaRPr lang="en-US" sz="1200" dirty="0"/>
          </a:p>
          <a:p>
            <a:pPr indent="0" marL="0">
              <a:spcAft>
                <a:spcPts val="200"/>
              </a:spcAft>
              <a:buNone/>
            </a:pPr>
            <a:r>
              <a:rPr lang="en-US" sz="1200" dirty="0">
                <a:solidFill>
                  <a:srgbClr val="EDE4F7"/>
                </a:solidFill>
                <a:latin typeface="Courier New" pitchFamily="34" charset="0"/>
                <a:ea typeface="Courier New" pitchFamily="34" charset="-122"/>
                <a:cs typeface="Courier New" pitchFamily="34" charset="-120"/>
              </a:rPr>
              <a:t>tokenizer.fit_on_texts(textos_train)   # aprende vocabulario</a:t>
            </a:r>
            <a:endParaRPr lang="en-US" sz="1200" dirty="0"/>
          </a:p>
          <a:p>
            <a:pPr indent="0" marL="0">
              <a:spcAft>
                <a:spcPts val="200"/>
              </a:spcAft>
              <a:buNone/>
            </a:pPr>
            <a:endParaRPr lang="en-US" sz="1200" dirty="0"/>
          </a:p>
          <a:p>
            <a:pPr indent="0" marL="0">
              <a:spcAft>
                <a:spcPts val="200"/>
              </a:spcAft>
              <a:buNone/>
            </a:pPr>
            <a:r>
              <a:rPr lang="en-US" sz="1200" dirty="0">
                <a:solidFill>
                  <a:srgbClr val="EDE4F7"/>
                </a:solidFill>
                <a:latin typeface="Courier New" pitchFamily="34" charset="0"/>
                <a:ea typeface="Courier New" pitchFamily="34" charset="-122"/>
                <a:cs typeface="Courier New" pitchFamily="34" charset="-120"/>
              </a:rPr>
              <a:t>seq = tokenizer.texts_to_sequences(</a:t>
            </a:r>
            <a:endParaRPr lang="en-US" sz="1200" dirty="0"/>
          </a:p>
          <a:p>
            <a:pPr indent="0" marL="0">
              <a:spcAft>
                <a:spcPts val="200"/>
              </a:spcAft>
              <a:buNone/>
            </a:pPr>
            <a:r>
              <a:rPr lang="en-US" sz="1200" dirty="0">
                <a:solidFill>
                  <a:srgbClr val="EDE4F7"/>
                </a:solidFill>
                <a:latin typeface="Courier New" pitchFamily="34" charset="0"/>
                <a:ea typeface="Courier New" pitchFamily="34" charset="-122"/>
                <a:cs typeface="Courier New" pitchFamily="34" charset="-120"/>
              </a:rPr>
              <a:t>    ["el modelo aprende patrones"])</a:t>
            </a:r>
            <a:endParaRPr lang="en-US" sz="1200" dirty="0"/>
          </a:p>
          <a:p>
            <a:pPr indent="0" marL="0">
              <a:spcAft>
                <a:spcPts val="200"/>
              </a:spcAft>
              <a:buNone/>
            </a:pPr>
            <a:r>
              <a:rPr lang="en-US" sz="1200" dirty="0">
                <a:solidFill>
                  <a:srgbClr val="EDE4F7"/>
                </a:solidFill>
                <a:latin typeface="Courier New" pitchFamily="34" charset="0"/>
                <a:ea typeface="Courier New" pitchFamily="34" charset="-122"/>
                <a:cs typeface="Courier New" pitchFamily="34" charset="-120"/>
              </a:rPr>
              <a:t># [[2, 18, 19, 20]]</a:t>
            </a:r>
            <a:endParaRPr lang="en-US" sz="1200" dirty="0"/>
          </a:p>
        </p:txBody>
      </p:sp>
      <p:sp>
        <p:nvSpPr>
          <p:cNvPr id="6" name="Text 4"/>
          <p:cNvSpPr txBox="1"/>
          <p:nvPr/>
        </p:nvSpPr>
        <p:spPr>
          <a:xfrm>
            <a:off x="548640" y="4617720"/>
            <a:ext cx="6035040" cy="137160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rgbClr val="6A0DAD"/>
                </a:solidFill>
                <a:latin typeface="Calibri" pitchFamily="34" charset="0"/>
                <a:ea typeface="Calibri" pitchFamily="34" charset="-122"/>
                <a:cs typeface="Calibri" pitchFamily="34" charset="-120"/>
              </a:rPr>
              <a:t>fit_on_texts  </a:t>
            </a:r>
            <a:pPr indent="0" marL="0">
              <a:spcAft>
                <a:spcPts val="600"/>
              </a:spcAft>
              <a:buNone/>
            </a:pPr>
            <a:r>
              <a:rPr lang="en-US" sz="1500" dirty="0">
                <a:solidFill>
                  <a:srgbClr val="3D3350"/>
                </a:solidFill>
                <a:latin typeface="Calibri" pitchFamily="34" charset="0"/>
                <a:ea typeface="Calibri" pitchFamily="34" charset="-122"/>
                <a:cs typeface="Calibri" pitchFamily="34" charset="-120"/>
              </a:rPr>
              <a:t>construye el vocabulario ordenado por frecuencia</a:t>
            </a:r>
            <a:endParaRPr lang="en-US" sz="1500" dirty="0"/>
          </a:p>
          <a:p>
            <a:pPr marL="203200" indent="-203200">
              <a:spcAft>
                <a:spcPts val="600"/>
              </a:spcAft>
              <a:buSzPct val="100000"/>
              <a:buChar char="•"/>
            </a:pPr>
            <a:r>
              <a:rPr lang="en-US" sz="1500" b="1" dirty="0">
                <a:solidFill>
                  <a:srgbClr val="6A0DAD"/>
                </a:solidFill>
                <a:latin typeface="Calibri" pitchFamily="34" charset="0"/>
                <a:ea typeface="Calibri" pitchFamily="34" charset="-122"/>
                <a:cs typeface="Calibri" pitchFamily="34" charset="-120"/>
              </a:rPr>
              <a:t>word_index  </a:t>
            </a:r>
            <a:pPr indent="0" marL="0">
              <a:spcAft>
                <a:spcPts val="600"/>
              </a:spcAft>
              <a:buNone/>
            </a:pPr>
            <a:r>
              <a:rPr lang="en-US" sz="1500" dirty="0">
                <a:solidFill>
                  <a:srgbClr val="3D3350"/>
                </a:solidFill>
                <a:latin typeface="Calibri" pitchFamily="34" charset="0"/>
                <a:ea typeface="Calibri" pitchFamily="34" charset="-122"/>
                <a:cs typeface="Calibri" pitchFamily="34" charset="-120"/>
              </a:rPr>
              <a:t>diccionario palabra → índice</a:t>
            </a:r>
            <a:endParaRPr lang="en-US" sz="1500" dirty="0"/>
          </a:p>
          <a:p>
            <a:pPr marL="203200" indent="-203200">
              <a:spcAft>
                <a:spcPts val="600"/>
              </a:spcAft>
              <a:buSzPct val="100000"/>
              <a:buChar char="•"/>
            </a:pPr>
            <a:r>
              <a:rPr lang="en-US" sz="1500" b="1" dirty="0">
                <a:solidFill>
                  <a:srgbClr val="6A0DAD"/>
                </a:solidFill>
                <a:latin typeface="Calibri" pitchFamily="34" charset="0"/>
                <a:ea typeface="Calibri" pitchFamily="34" charset="-122"/>
                <a:cs typeface="Calibri" pitchFamily="34" charset="-120"/>
              </a:rPr>
              <a:t>texts_to_sequences  </a:t>
            </a:r>
            <a:pPr indent="0" marL="0">
              <a:spcAft>
                <a:spcPts val="600"/>
              </a:spcAft>
              <a:buNone/>
            </a:pPr>
            <a:r>
              <a:rPr lang="en-US" sz="1500" dirty="0">
                <a:solidFill>
                  <a:srgbClr val="3D3350"/>
                </a:solidFill>
                <a:latin typeface="Calibri" pitchFamily="34" charset="0"/>
                <a:ea typeface="Calibri" pitchFamily="34" charset="-122"/>
                <a:cs typeface="Calibri" pitchFamily="34" charset="-120"/>
              </a:rPr>
              <a:t>convierte cada texto en lista de enteros</a:t>
            </a:r>
            <a:endParaRPr lang="en-US" sz="1500" dirty="0"/>
          </a:p>
        </p:txBody>
      </p:sp>
      <p:sp>
        <p:nvSpPr>
          <p:cNvPr id="7" name="Text 5"/>
          <p:cNvSpPr txBox="1"/>
          <p:nvPr/>
        </p:nvSpPr>
        <p:spPr>
          <a:xfrm>
            <a:off x="6995160" y="1371600"/>
            <a:ext cx="4572000" cy="365760"/>
          </a:xfrm>
          <a:prstGeom prst="rect">
            <a:avLst/>
          </a:prstGeom>
          <a:noFill/>
          <a:ln/>
        </p:spPr>
        <p:txBody>
          <a:bodyPr wrap="square" lIns="0" tIns="0" rIns="0" bIns="0" rtlCol="0" anchor="t"/>
          <a:lstStyle/>
          <a:p>
            <a:pPr indent="0" marL="0">
              <a:buNone/>
            </a:pPr>
            <a:r>
              <a:rPr lang="en-US" sz="1600" b="1" dirty="0">
                <a:solidFill>
                  <a:srgbClr val="241033"/>
                </a:solidFill>
                <a:latin typeface="Calibri" pitchFamily="34" charset="0"/>
                <a:ea typeface="Calibri" pitchFamily="34" charset="-122"/>
                <a:cs typeface="Calibri" pitchFamily="34" charset="-120"/>
              </a:rPr>
              <a:t>word_index</a:t>
            </a:r>
            <a:endParaRPr lang="en-US" sz="1600" dirty="0"/>
          </a:p>
        </p:txBody>
      </p:sp>
      <p:sp>
        <p:nvSpPr>
          <p:cNvPr id="8" name="Shape 6"/>
          <p:cNvSpPr/>
          <p:nvPr/>
        </p:nvSpPr>
        <p:spPr>
          <a:xfrm>
            <a:off x="6995160" y="1783080"/>
            <a:ext cx="685800" cy="429768"/>
          </a:xfrm>
          <a:prstGeom prst="rect">
            <a:avLst/>
          </a:prstGeom>
          <a:solidFill>
            <a:srgbClr val="B98BE0"/>
          </a:solidFill>
          <a:ln w="12700">
            <a:solidFill>
              <a:srgbClr val="FFFFFF"/>
            </a:solidFill>
            <a:prstDash val="solid"/>
          </a:ln>
        </p:spPr>
      </p:sp>
      <p:sp>
        <p:nvSpPr>
          <p:cNvPr id="9" name="Text 7"/>
          <p:cNvSpPr txBox="1"/>
          <p:nvPr/>
        </p:nvSpPr>
        <p:spPr>
          <a:xfrm>
            <a:off x="6995160" y="1783080"/>
            <a:ext cx="685800" cy="42976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0</a:t>
            </a:r>
            <a:endParaRPr lang="en-US" sz="1500" dirty="0"/>
          </a:p>
        </p:txBody>
      </p:sp>
      <p:sp>
        <p:nvSpPr>
          <p:cNvPr id="10" name="Shape 8"/>
          <p:cNvSpPr/>
          <p:nvPr/>
        </p:nvSpPr>
        <p:spPr>
          <a:xfrm>
            <a:off x="7726680" y="1783080"/>
            <a:ext cx="3886200" cy="429768"/>
          </a:xfrm>
          <a:prstGeom prst="roundRect">
            <a:avLst>
              <a:gd name="adj" fmla="val 25532"/>
            </a:avLst>
          </a:prstGeom>
          <a:solidFill>
            <a:srgbClr val="F4EEFA"/>
          </a:solidFill>
          <a:ln w="12700">
            <a:solidFill>
              <a:srgbClr val="F4EEFA"/>
            </a:solidFill>
            <a:prstDash val="solid"/>
          </a:ln>
        </p:spPr>
      </p:sp>
      <p:sp>
        <p:nvSpPr>
          <p:cNvPr id="11" name="Text 9"/>
          <p:cNvSpPr txBox="1"/>
          <p:nvPr/>
        </p:nvSpPr>
        <p:spPr>
          <a:xfrm>
            <a:off x="7863840" y="1783080"/>
            <a:ext cx="3657600" cy="429768"/>
          </a:xfrm>
          <a:prstGeom prst="rect">
            <a:avLst/>
          </a:prstGeom>
          <a:noFill/>
          <a:ln/>
        </p:spPr>
        <p:txBody>
          <a:bodyPr wrap="square" lIns="0" tIns="0" rIns="0" bIns="0" rtlCol="0" anchor="ctr"/>
          <a:lstStyle/>
          <a:p>
            <a:pPr indent="0" marL="0">
              <a:buNone/>
            </a:pPr>
            <a:r>
              <a:rPr lang="en-US" sz="1400" dirty="0">
                <a:solidFill>
                  <a:srgbClr val="241033"/>
                </a:solidFill>
                <a:latin typeface="Courier New" pitchFamily="34" charset="0"/>
                <a:ea typeface="Courier New" pitchFamily="34" charset="-122"/>
                <a:cs typeface="Courier New" pitchFamily="34" charset="-120"/>
              </a:rPr>
              <a:t>reservado para padding</a:t>
            </a:r>
            <a:endParaRPr lang="en-US" sz="1400" dirty="0"/>
          </a:p>
        </p:txBody>
      </p:sp>
      <p:sp>
        <p:nvSpPr>
          <p:cNvPr id="12" name="Shape 10"/>
          <p:cNvSpPr/>
          <p:nvPr/>
        </p:nvSpPr>
        <p:spPr>
          <a:xfrm>
            <a:off x="6995160" y="2286000"/>
            <a:ext cx="685800" cy="429768"/>
          </a:xfrm>
          <a:prstGeom prst="rect">
            <a:avLst/>
          </a:prstGeom>
          <a:solidFill>
            <a:srgbClr val="C400C4"/>
          </a:solidFill>
          <a:ln w="12700">
            <a:solidFill>
              <a:srgbClr val="FFFFFF"/>
            </a:solidFill>
            <a:prstDash val="solid"/>
          </a:ln>
        </p:spPr>
      </p:sp>
      <p:sp>
        <p:nvSpPr>
          <p:cNvPr id="13" name="Text 11"/>
          <p:cNvSpPr txBox="1"/>
          <p:nvPr/>
        </p:nvSpPr>
        <p:spPr>
          <a:xfrm>
            <a:off x="6995160" y="2286000"/>
            <a:ext cx="685800" cy="42976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1</a:t>
            </a:r>
            <a:endParaRPr lang="en-US" sz="1500" dirty="0"/>
          </a:p>
        </p:txBody>
      </p:sp>
      <p:sp>
        <p:nvSpPr>
          <p:cNvPr id="14" name="Shape 12"/>
          <p:cNvSpPr/>
          <p:nvPr/>
        </p:nvSpPr>
        <p:spPr>
          <a:xfrm>
            <a:off x="7726680" y="2286000"/>
            <a:ext cx="3886200" cy="429768"/>
          </a:xfrm>
          <a:prstGeom prst="roundRect">
            <a:avLst>
              <a:gd name="adj" fmla="val 25532"/>
            </a:avLst>
          </a:prstGeom>
          <a:solidFill>
            <a:srgbClr val="F4EEFA"/>
          </a:solidFill>
          <a:ln w="12700">
            <a:solidFill>
              <a:srgbClr val="F4EEFA"/>
            </a:solidFill>
            <a:prstDash val="solid"/>
          </a:ln>
        </p:spPr>
      </p:sp>
      <p:sp>
        <p:nvSpPr>
          <p:cNvPr id="15" name="Text 13"/>
          <p:cNvSpPr txBox="1"/>
          <p:nvPr/>
        </p:nvSpPr>
        <p:spPr>
          <a:xfrm>
            <a:off x="7863840" y="2286000"/>
            <a:ext cx="3657600" cy="429768"/>
          </a:xfrm>
          <a:prstGeom prst="rect">
            <a:avLst/>
          </a:prstGeom>
          <a:noFill/>
          <a:ln/>
        </p:spPr>
        <p:txBody>
          <a:bodyPr wrap="square" lIns="0" tIns="0" rIns="0" bIns="0" rtlCol="0" anchor="ctr"/>
          <a:lstStyle/>
          <a:p>
            <a:pPr indent="0" marL="0">
              <a:buNone/>
            </a:pPr>
            <a:r>
              <a:rPr lang="en-US" sz="1400" dirty="0">
                <a:solidFill>
                  <a:srgbClr val="241033"/>
                </a:solidFill>
                <a:latin typeface="Courier New" pitchFamily="34" charset="0"/>
                <a:ea typeface="Courier New" pitchFamily="34" charset="-122"/>
                <a:cs typeface="Courier New" pitchFamily="34" charset="-120"/>
              </a:rPr>
              <a:t>&lt;OOV&gt;  palabra desconocida</a:t>
            </a:r>
            <a:endParaRPr lang="en-US" sz="1400" dirty="0"/>
          </a:p>
        </p:txBody>
      </p:sp>
      <p:sp>
        <p:nvSpPr>
          <p:cNvPr id="16" name="Shape 14"/>
          <p:cNvSpPr/>
          <p:nvPr/>
        </p:nvSpPr>
        <p:spPr>
          <a:xfrm>
            <a:off x="6995160" y="2788920"/>
            <a:ext cx="685800" cy="429768"/>
          </a:xfrm>
          <a:prstGeom prst="rect">
            <a:avLst/>
          </a:prstGeom>
          <a:solidFill>
            <a:srgbClr val="6A0DAD"/>
          </a:solidFill>
          <a:ln w="12700">
            <a:solidFill>
              <a:srgbClr val="FFFFFF"/>
            </a:solidFill>
            <a:prstDash val="solid"/>
          </a:ln>
        </p:spPr>
      </p:sp>
      <p:sp>
        <p:nvSpPr>
          <p:cNvPr id="17" name="Text 15"/>
          <p:cNvSpPr txBox="1"/>
          <p:nvPr/>
        </p:nvSpPr>
        <p:spPr>
          <a:xfrm>
            <a:off x="6995160" y="2788920"/>
            <a:ext cx="685800" cy="42976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a:t>
            </a:r>
            <a:endParaRPr lang="en-US" sz="1500" dirty="0"/>
          </a:p>
        </p:txBody>
      </p:sp>
      <p:sp>
        <p:nvSpPr>
          <p:cNvPr id="18" name="Shape 16"/>
          <p:cNvSpPr/>
          <p:nvPr/>
        </p:nvSpPr>
        <p:spPr>
          <a:xfrm>
            <a:off x="7726680" y="2788920"/>
            <a:ext cx="3886200" cy="429768"/>
          </a:xfrm>
          <a:prstGeom prst="roundRect">
            <a:avLst>
              <a:gd name="adj" fmla="val 25532"/>
            </a:avLst>
          </a:prstGeom>
          <a:solidFill>
            <a:srgbClr val="F4EEFA"/>
          </a:solidFill>
          <a:ln w="12700">
            <a:solidFill>
              <a:srgbClr val="F4EEFA"/>
            </a:solidFill>
            <a:prstDash val="solid"/>
          </a:ln>
        </p:spPr>
      </p:sp>
      <p:sp>
        <p:nvSpPr>
          <p:cNvPr id="19" name="Text 17"/>
          <p:cNvSpPr txBox="1"/>
          <p:nvPr/>
        </p:nvSpPr>
        <p:spPr>
          <a:xfrm>
            <a:off x="7863840" y="2788920"/>
            <a:ext cx="3657600" cy="429768"/>
          </a:xfrm>
          <a:prstGeom prst="rect">
            <a:avLst/>
          </a:prstGeom>
          <a:noFill/>
          <a:ln/>
        </p:spPr>
        <p:txBody>
          <a:bodyPr wrap="square" lIns="0" tIns="0" rIns="0" bIns="0" rtlCol="0" anchor="ctr"/>
          <a:lstStyle/>
          <a:p>
            <a:pPr indent="0" marL="0">
              <a:buNone/>
            </a:pPr>
            <a:r>
              <a:rPr lang="en-US" sz="1400" dirty="0">
                <a:solidFill>
                  <a:srgbClr val="241033"/>
                </a:solidFill>
                <a:latin typeface="Courier New" pitchFamily="34" charset="0"/>
                <a:ea typeface="Courier New" pitchFamily="34" charset="-122"/>
                <a:cs typeface="Courier New" pitchFamily="34" charset="-120"/>
              </a:rPr>
              <a:t>el</a:t>
            </a:r>
            <a:endParaRPr lang="en-US" sz="1400" dirty="0"/>
          </a:p>
        </p:txBody>
      </p:sp>
      <p:sp>
        <p:nvSpPr>
          <p:cNvPr id="20" name="Shape 18"/>
          <p:cNvSpPr/>
          <p:nvPr/>
        </p:nvSpPr>
        <p:spPr>
          <a:xfrm>
            <a:off x="6995160" y="3291840"/>
            <a:ext cx="685800" cy="429768"/>
          </a:xfrm>
          <a:prstGeom prst="rect">
            <a:avLst/>
          </a:prstGeom>
          <a:solidFill>
            <a:srgbClr val="6A0DAD"/>
          </a:solidFill>
          <a:ln w="12700">
            <a:solidFill>
              <a:srgbClr val="FFFFFF"/>
            </a:solidFill>
            <a:prstDash val="solid"/>
          </a:ln>
        </p:spPr>
      </p:sp>
      <p:sp>
        <p:nvSpPr>
          <p:cNvPr id="21" name="Text 19"/>
          <p:cNvSpPr txBox="1"/>
          <p:nvPr/>
        </p:nvSpPr>
        <p:spPr>
          <a:xfrm>
            <a:off x="6995160" y="3291840"/>
            <a:ext cx="685800" cy="42976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3</a:t>
            </a:r>
            <a:endParaRPr lang="en-US" sz="1500" dirty="0"/>
          </a:p>
        </p:txBody>
      </p:sp>
      <p:sp>
        <p:nvSpPr>
          <p:cNvPr id="22" name="Shape 20"/>
          <p:cNvSpPr/>
          <p:nvPr/>
        </p:nvSpPr>
        <p:spPr>
          <a:xfrm>
            <a:off x="7726680" y="3291840"/>
            <a:ext cx="3886200" cy="429768"/>
          </a:xfrm>
          <a:prstGeom prst="roundRect">
            <a:avLst>
              <a:gd name="adj" fmla="val 25532"/>
            </a:avLst>
          </a:prstGeom>
          <a:solidFill>
            <a:srgbClr val="F4EEFA"/>
          </a:solidFill>
          <a:ln w="12700">
            <a:solidFill>
              <a:srgbClr val="F4EEFA"/>
            </a:solidFill>
            <a:prstDash val="solid"/>
          </a:ln>
        </p:spPr>
      </p:sp>
      <p:sp>
        <p:nvSpPr>
          <p:cNvPr id="23" name="Text 21"/>
          <p:cNvSpPr txBox="1"/>
          <p:nvPr/>
        </p:nvSpPr>
        <p:spPr>
          <a:xfrm>
            <a:off x="7863840" y="3291840"/>
            <a:ext cx="3657600" cy="429768"/>
          </a:xfrm>
          <a:prstGeom prst="rect">
            <a:avLst/>
          </a:prstGeom>
          <a:noFill/>
          <a:ln/>
        </p:spPr>
        <p:txBody>
          <a:bodyPr wrap="square" lIns="0" tIns="0" rIns="0" bIns="0" rtlCol="0" anchor="ctr"/>
          <a:lstStyle/>
          <a:p>
            <a:pPr indent="0" marL="0">
              <a:buNone/>
            </a:pPr>
            <a:r>
              <a:rPr lang="en-US" sz="1400" dirty="0">
                <a:solidFill>
                  <a:srgbClr val="241033"/>
                </a:solidFill>
                <a:latin typeface="Courier New" pitchFamily="34" charset="0"/>
                <a:ea typeface="Courier New" pitchFamily="34" charset="-122"/>
                <a:cs typeface="Courier New" pitchFamily="34" charset="-120"/>
              </a:rPr>
              <a:t>la</a:t>
            </a:r>
            <a:endParaRPr lang="en-US" sz="1400" dirty="0"/>
          </a:p>
        </p:txBody>
      </p:sp>
      <p:sp>
        <p:nvSpPr>
          <p:cNvPr id="24" name="Shape 22"/>
          <p:cNvSpPr/>
          <p:nvPr/>
        </p:nvSpPr>
        <p:spPr>
          <a:xfrm>
            <a:off x="6995160" y="3794760"/>
            <a:ext cx="685800" cy="429768"/>
          </a:xfrm>
          <a:prstGeom prst="rect">
            <a:avLst/>
          </a:prstGeom>
          <a:solidFill>
            <a:srgbClr val="6A0DAD"/>
          </a:solidFill>
          <a:ln w="12700">
            <a:solidFill>
              <a:srgbClr val="FFFFFF"/>
            </a:solidFill>
            <a:prstDash val="solid"/>
          </a:ln>
        </p:spPr>
      </p:sp>
      <p:sp>
        <p:nvSpPr>
          <p:cNvPr id="25" name="Text 23"/>
          <p:cNvSpPr txBox="1"/>
          <p:nvPr/>
        </p:nvSpPr>
        <p:spPr>
          <a:xfrm>
            <a:off x="6995160" y="3794760"/>
            <a:ext cx="685800" cy="42976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26" name="Shape 24"/>
          <p:cNvSpPr/>
          <p:nvPr/>
        </p:nvSpPr>
        <p:spPr>
          <a:xfrm>
            <a:off x="7726680" y="3794760"/>
            <a:ext cx="3886200" cy="429768"/>
          </a:xfrm>
          <a:prstGeom prst="roundRect">
            <a:avLst>
              <a:gd name="adj" fmla="val 25532"/>
            </a:avLst>
          </a:prstGeom>
          <a:solidFill>
            <a:srgbClr val="F4EEFA"/>
          </a:solidFill>
          <a:ln w="12700">
            <a:solidFill>
              <a:srgbClr val="F4EEFA"/>
            </a:solidFill>
            <a:prstDash val="solid"/>
          </a:ln>
        </p:spPr>
      </p:sp>
      <p:sp>
        <p:nvSpPr>
          <p:cNvPr id="27" name="Text 25"/>
          <p:cNvSpPr txBox="1"/>
          <p:nvPr/>
        </p:nvSpPr>
        <p:spPr>
          <a:xfrm>
            <a:off x="7863840" y="3794760"/>
            <a:ext cx="3657600" cy="429768"/>
          </a:xfrm>
          <a:prstGeom prst="rect">
            <a:avLst/>
          </a:prstGeom>
          <a:noFill/>
          <a:ln/>
        </p:spPr>
        <p:txBody>
          <a:bodyPr wrap="square" lIns="0" tIns="0" rIns="0" bIns="0" rtlCol="0" anchor="ctr"/>
          <a:lstStyle/>
          <a:p>
            <a:pPr indent="0" marL="0">
              <a:buNone/>
            </a:pPr>
            <a:r>
              <a:rPr lang="en-US" sz="1400" dirty="0">
                <a:solidFill>
                  <a:srgbClr val="241033"/>
                </a:solidFill>
                <a:latin typeface="Courier New" pitchFamily="34" charset="0"/>
                <a:ea typeface="Courier New" pitchFamily="34" charset="-122"/>
                <a:cs typeface="Courier New" pitchFamily="34" charset="-120"/>
              </a:rPr>
              <a:t>por frecuencia</a:t>
            </a:r>
            <a:endParaRPr lang="en-US" sz="1400" dirty="0"/>
          </a:p>
        </p:txBody>
      </p:sp>
      <p:sp>
        <p:nvSpPr>
          <p:cNvPr id="28" name="Shape 26"/>
          <p:cNvSpPr/>
          <p:nvPr/>
        </p:nvSpPr>
        <p:spPr>
          <a:xfrm>
            <a:off x="6995160" y="4480560"/>
            <a:ext cx="4617720" cy="1508760"/>
          </a:xfrm>
          <a:prstGeom prst="roundRect">
            <a:avLst>
              <a:gd name="adj" fmla="val 7273"/>
            </a:avLst>
          </a:prstGeom>
          <a:solidFill>
            <a:srgbClr val="EADFF5"/>
          </a:solidFill>
          <a:ln w="12700">
            <a:solidFill>
              <a:srgbClr val="EADFF5"/>
            </a:solidFill>
            <a:prstDash val="solid"/>
          </a:ln>
        </p:spPr>
      </p:sp>
      <p:sp>
        <p:nvSpPr>
          <p:cNvPr id="29" name="Text 27"/>
          <p:cNvSpPr txBox="1"/>
          <p:nvPr/>
        </p:nvSpPr>
        <p:spPr>
          <a:xfrm>
            <a:off x="7178040" y="4572000"/>
            <a:ext cx="4297680" cy="1325880"/>
          </a:xfrm>
          <a:prstGeom prst="rect">
            <a:avLst/>
          </a:prstGeom>
          <a:noFill/>
          <a:ln/>
        </p:spPr>
        <p:txBody>
          <a:bodyPr wrap="square" lIns="0" tIns="0" rIns="0" bIns="0" rtlCol="0" anchor="t"/>
          <a:lstStyle/>
          <a:p>
            <a:pPr indent="0" marL="0">
              <a:buNone/>
            </a:pPr>
            <a:r>
              <a:rPr lang="en-US" sz="1400" b="1" dirty="0">
                <a:solidFill>
                  <a:srgbClr val="6A0DAD"/>
                </a:solidFill>
                <a:latin typeface="Calibri" pitchFamily="34" charset="0"/>
                <a:ea typeface="Calibri" pitchFamily="34" charset="-122"/>
                <a:cs typeface="Calibri" pitchFamily="34" charset="-120"/>
              </a:rPr>
              <a:t>Texto nuevo en producción:
</a:t>
            </a:r>
            <a:pPr indent="0" marL="0">
              <a:buNone/>
            </a:pPr>
            <a:r>
              <a:rPr lang="en-US" sz="1200" dirty="0">
                <a:solidFill>
                  <a:srgbClr val="241033"/>
                </a:solidFill>
                <a:latin typeface="Courier New" pitchFamily="34" charset="0"/>
                <a:ea typeface="Courier New" pitchFamily="34" charset="-122"/>
                <a:cs typeface="Courier New" pitchFamily="34" charset="-120"/>
              </a:rPr>
              <a:t>“…aprende embeddings increíbles con transformers”</a:t>
            </a:r>
            <a:endParaRPr lang="en-US" sz="1400" dirty="0"/>
          </a:p>
          <a:p>
            <a:pPr indent="0" marL="0">
              <a:buNone/>
            </a:pPr>
            <a:r>
              <a:rPr lang="en-US" sz="1200" dirty="0">
                <a:solidFill>
                  <a:srgbClr val="241033"/>
                </a:solidFill>
                <a:latin typeface="Courier New" pitchFamily="34" charset="0"/>
                <a:ea typeface="Courier New" pitchFamily="34" charset="-122"/>
                <a:cs typeface="Courier New" pitchFamily="34" charset="-120"/>
              </a:rPr>
              <a:t>→ …aprende embeddings &lt;OOV&gt; &lt;OOV&gt; transformers</a:t>
            </a:r>
            <a:endParaRPr lang="en-US" sz="14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Padding: todas las secuencias del mismo largo</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NOTEBOOK 04</a:t>
            </a:r>
            <a:endParaRPr lang="en-US" sz="1100" dirty="0"/>
          </a:p>
        </p:txBody>
      </p:sp>
      <p:pic>
        <p:nvPicPr>
          <p:cNvPr id="4" name="Image 0" descr="/home/claude/deck/img/padding.png">    </p:cNvPr>
          <p:cNvPicPr>
            <a:picLocks noChangeAspect="1"/>
          </p:cNvPicPr>
          <p:nvPr/>
        </p:nvPicPr>
        <p:blipFill>
          <a:blip r:embed="rId1"/>
          <a:stretch>
            <a:fillRect/>
          </a:stretch>
        </p:blipFill>
        <p:spPr>
          <a:xfrm>
            <a:off x="457200" y="1371600"/>
            <a:ext cx="6035040" cy="3218688"/>
          </a:xfrm>
          <a:prstGeom prst="rect">
            <a:avLst/>
          </a:prstGeom>
        </p:spPr>
      </p:pic>
      <p:sp>
        <p:nvSpPr>
          <p:cNvPr id="5" name="Text 2"/>
          <p:cNvSpPr txBox="1"/>
          <p:nvPr/>
        </p:nvSpPr>
        <p:spPr>
          <a:xfrm>
            <a:off x="6812280" y="1417320"/>
            <a:ext cx="4800600" cy="283464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rgbClr val="6A0DAD"/>
                </a:solidFill>
                <a:latin typeface="Calibri" pitchFamily="34" charset="0"/>
                <a:ea typeface="Calibri" pitchFamily="34" charset="-122"/>
                <a:cs typeface="Calibri" pitchFamily="34" charset="-120"/>
              </a:rPr>
              <a:t>¿Por qué?  </a:t>
            </a:r>
            <a:pPr indent="0" marL="0">
              <a:spcAft>
                <a:spcPts val="800"/>
              </a:spcAft>
              <a:buNone/>
            </a:pPr>
            <a:r>
              <a:rPr lang="en-US" sz="1500" dirty="0">
                <a:solidFill>
                  <a:srgbClr val="3D3350"/>
                </a:solidFill>
                <a:latin typeface="Calibri" pitchFamily="34" charset="0"/>
                <a:ea typeface="Calibri" pitchFamily="34" charset="-122"/>
                <a:cs typeface="Calibri" pitchFamily="34" charset="-120"/>
              </a:rPr>
              <a:t>una red procesa lotes como tensores rectangulares (n_textos × maxlen).</a:t>
            </a:r>
            <a:endParaRPr lang="en-US" sz="1500" dirty="0"/>
          </a:p>
          <a:p>
            <a:pPr marL="203200" indent="-203200">
              <a:spcAft>
                <a:spcPts val="800"/>
              </a:spcAft>
              <a:buSzPct val="100000"/>
              <a:buChar char="•"/>
            </a:pPr>
            <a:r>
              <a:rPr lang="en-US" sz="1500" b="1" dirty="0">
                <a:solidFill>
                  <a:srgbClr val="6A0DAD"/>
                </a:solidFill>
                <a:latin typeface="Calibri" pitchFamily="34" charset="0"/>
                <a:ea typeface="Calibri" pitchFamily="34" charset="-122"/>
                <a:cs typeface="Calibri" pitchFamily="34" charset="-120"/>
              </a:rPr>
              <a:t>post  </a:t>
            </a:r>
            <a:pPr indent="0" marL="0">
              <a:spcAft>
                <a:spcPts val="800"/>
              </a:spcAft>
              <a:buNone/>
            </a:pPr>
            <a:r>
              <a:rPr lang="en-US" sz="1500" dirty="0">
                <a:solidFill>
                  <a:srgbClr val="3D3350"/>
                </a:solidFill>
                <a:latin typeface="Calibri" pitchFamily="34" charset="0"/>
                <a:ea typeface="Calibri" pitchFamily="34" charset="-122"/>
                <a:cs typeface="Calibri" pitchFamily="34" charset="-120"/>
              </a:rPr>
              <a:t>ceros al final; conserva el inicio. Lo usual con mask_zero=True.</a:t>
            </a:r>
            <a:endParaRPr lang="en-US" sz="1500" dirty="0"/>
          </a:p>
          <a:p>
            <a:pPr marL="203200" indent="-203200">
              <a:spcAft>
                <a:spcPts val="800"/>
              </a:spcAft>
              <a:buSzPct val="100000"/>
              <a:buChar char="•"/>
            </a:pPr>
            <a:r>
              <a:rPr lang="en-US" sz="1500" b="1" dirty="0">
                <a:solidFill>
                  <a:srgbClr val="6A0DAD"/>
                </a:solidFill>
                <a:latin typeface="Calibri" pitchFamily="34" charset="0"/>
                <a:ea typeface="Calibri" pitchFamily="34" charset="-122"/>
                <a:cs typeface="Calibri" pitchFamily="34" charset="-120"/>
              </a:rPr>
              <a:t>pre  </a:t>
            </a:r>
            <a:pPr indent="0" marL="0">
              <a:spcAft>
                <a:spcPts val="800"/>
              </a:spcAft>
              <a:buNone/>
            </a:pPr>
            <a:r>
              <a:rPr lang="en-US" sz="1500" dirty="0">
                <a:solidFill>
                  <a:srgbClr val="3D3350"/>
                </a:solidFill>
                <a:latin typeface="Calibri" pitchFamily="34" charset="0"/>
                <a:ea typeface="Calibri" pitchFamily="34" charset="-122"/>
                <a:cs typeface="Calibri" pitchFamily="34" charset="-120"/>
              </a:rPr>
              <a:t>ceros al inicio; clásico en RNN/LSTM antiguas.</a:t>
            </a:r>
            <a:endParaRPr lang="en-US" sz="1500" dirty="0"/>
          </a:p>
          <a:p>
            <a:pPr marL="203200" indent="-203200">
              <a:spcAft>
                <a:spcPts val="800"/>
              </a:spcAft>
              <a:buSzPct val="100000"/>
              <a:buChar char="•"/>
            </a:pPr>
            <a:r>
              <a:rPr lang="en-US" sz="1500" b="1" dirty="0">
                <a:solidFill>
                  <a:srgbClr val="6A0DAD"/>
                </a:solidFill>
                <a:latin typeface="Calibri" pitchFamily="34" charset="0"/>
                <a:ea typeface="Calibri" pitchFamily="34" charset="-122"/>
                <a:cs typeface="Calibri" pitchFamily="34" charset="-120"/>
              </a:rPr>
              <a:t>truncating  </a:t>
            </a:r>
            <a:pPr indent="0" marL="0">
              <a:spcAft>
                <a:spcPts val="800"/>
              </a:spcAft>
              <a:buNone/>
            </a:pPr>
            <a:r>
              <a:rPr lang="en-US" sz="1500" dirty="0">
                <a:solidFill>
                  <a:srgbClr val="3D3350"/>
                </a:solidFill>
                <a:latin typeface="Calibri" pitchFamily="34" charset="0"/>
                <a:ea typeface="Calibri" pitchFamily="34" charset="-122"/>
                <a:cs typeface="Calibri" pitchFamily="34" charset="-120"/>
              </a:rPr>
              <a:t>decide si se recorta el inicio o el final de los textos largos.</a:t>
            </a:r>
            <a:endParaRPr lang="en-US" sz="1500" dirty="0"/>
          </a:p>
        </p:txBody>
      </p:sp>
      <p:sp>
        <p:nvSpPr>
          <p:cNvPr id="6" name="Shape 3"/>
          <p:cNvSpPr/>
          <p:nvPr/>
        </p:nvSpPr>
        <p:spPr>
          <a:xfrm>
            <a:off x="548640" y="4846320"/>
            <a:ext cx="11064240" cy="1097280"/>
          </a:xfrm>
          <a:prstGeom prst="roundRect">
            <a:avLst>
              <a:gd name="adj" fmla="val 10000"/>
            </a:avLst>
          </a:prstGeom>
          <a:solidFill>
            <a:srgbClr val="241033"/>
          </a:solidFill>
          <a:ln w="12700">
            <a:solidFill>
              <a:srgbClr val="241033"/>
            </a:solidFill>
            <a:prstDash val="solid"/>
          </a:ln>
        </p:spPr>
      </p:sp>
      <p:sp>
        <p:nvSpPr>
          <p:cNvPr id="7" name="Text 4"/>
          <p:cNvSpPr txBox="1"/>
          <p:nvPr/>
        </p:nvSpPr>
        <p:spPr>
          <a:xfrm>
            <a:off x="777240" y="4846320"/>
            <a:ext cx="1280160" cy="1097280"/>
          </a:xfrm>
          <a:prstGeom prst="rect">
            <a:avLst/>
          </a:prstGeom>
          <a:noFill/>
          <a:ln/>
        </p:spPr>
        <p:txBody>
          <a:bodyPr wrap="square" lIns="0" tIns="0" rIns="0" bIns="0" rtlCol="0" anchor="ctr"/>
          <a:lstStyle/>
          <a:p>
            <a:pPr indent="0" marL="0">
              <a:buNone/>
            </a:pPr>
            <a:r>
              <a:rPr lang="en-US" sz="4000" b="1" dirty="0">
                <a:solidFill>
                  <a:srgbClr val="C400C4"/>
                </a:solidFill>
                <a:latin typeface="Calibri" pitchFamily="34" charset="0"/>
                <a:ea typeface="Calibri" pitchFamily="34" charset="-122"/>
                <a:cs typeface="Calibri" pitchFamily="34" charset="-120"/>
              </a:rPr>
              <a:t>p95</a:t>
            </a:r>
            <a:endParaRPr lang="en-US" sz="4000" dirty="0"/>
          </a:p>
        </p:txBody>
      </p:sp>
      <p:sp>
        <p:nvSpPr>
          <p:cNvPr id="8" name="Text 5"/>
          <p:cNvSpPr txBox="1"/>
          <p:nvPr/>
        </p:nvSpPr>
        <p:spPr>
          <a:xfrm>
            <a:off x="2148840" y="4846320"/>
            <a:ext cx="9235440" cy="10972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Elige maxlen con datos, no a ojo. </a:t>
            </a:r>
            <a:pPr indent="0" marL="0">
              <a:buNone/>
            </a:pPr>
            <a:r>
              <a:rPr lang="en-US" sz="1600" dirty="0">
                <a:solidFill>
                  <a:srgbClr val="DCCDEE"/>
                </a:solidFill>
                <a:latin typeface="Calibri" pitchFamily="34" charset="0"/>
                <a:ea typeface="Calibri" pitchFamily="34" charset="-122"/>
                <a:cs typeface="Calibri" pitchFamily="34" charset="-120"/>
              </a:rPr>
              <a:t>En las opiniones de clientes el percentil 95 es 10 tokens: con maxlen = 10 solo se recorta el 4,4 % de los textos.</a:t>
            </a:r>
            <a:endParaRPr lang="en-US" sz="16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1463040"/>
            <a:ext cx="2743200" cy="1280160"/>
          </a:xfrm>
          <a:prstGeom prst="rect">
            <a:avLst/>
          </a:prstGeom>
          <a:noFill/>
          <a:ln/>
        </p:spPr>
        <p:txBody>
          <a:bodyPr wrap="square" lIns="0" tIns="0" rIns="0" bIns="0" rtlCol="0" anchor="t"/>
          <a:lstStyle/>
          <a:p>
            <a:pPr indent="0" marL="0">
              <a:buNone/>
            </a:pPr>
            <a:r>
              <a:rPr lang="en-US" sz="9600" b="1" dirty="0">
                <a:solidFill>
                  <a:srgbClr val="C400C4"/>
                </a:solidFill>
                <a:latin typeface="Calibri" pitchFamily="34" charset="0"/>
                <a:ea typeface="Calibri" pitchFamily="34" charset="-122"/>
                <a:cs typeface="Calibri" pitchFamily="34" charset="-120"/>
              </a:rPr>
              <a:t>02</a:t>
            </a:r>
            <a:endParaRPr lang="en-US" sz="9600" dirty="0"/>
          </a:p>
        </p:txBody>
      </p:sp>
      <p:sp>
        <p:nvSpPr>
          <p:cNvPr id="3" name="Text 1"/>
          <p:cNvSpPr txBox="1"/>
          <p:nvPr/>
        </p:nvSpPr>
        <p:spPr>
          <a:xfrm>
            <a:off x="731520" y="2788920"/>
            <a:ext cx="73152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Representar el texto</a:t>
            </a:r>
            <a:endParaRPr lang="en-US" sz="4400" dirty="0"/>
          </a:p>
        </p:txBody>
      </p:sp>
      <p:sp>
        <p:nvSpPr>
          <p:cNvPr id="4" name="Text 2"/>
          <p:cNvSpPr txBox="1"/>
          <p:nvPr/>
        </p:nvSpPr>
        <p:spPr>
          <a:xfrm>
            <a:off x="731520" y="3657600"/>
            <a:ext cx="6949440" cy="822960"/>
          </a:xfrm>
          <a:prstGeom prst="rect">
            <a:avLst/>
          </a:prstGeom>
          <a:noFill/>
          <a:ln/>
        </p:spPr>
        <p:txBody>
          <a:bodyPr wrap="square" lIns="0" tIns="0" rIns="0" bIns="0" rtlCol="0" anchor="t"/>
          <a:lstStyle/>
          <a:p>
            <a:pPr indent="0" marL="0">
              <a:buNone/>
            </a:pPr>
            <a:r>
              <a:rPr lang="en-US" sz="1900" dirty="0">
                <a:solidFill>
                  <a:srgbClr val="B98BE0"/>
                </a:solidFill>
                <a:latin typeface="Calibri" pitchFamily="34" charset="0"/>
                <a:ea typeface="Calibri" pitchFamily="34" charset="-122"/>
                <a:cs typeface="Calibri" pitchFamily="34" charset="-120"/>
              </a:rPr>
              <a:t>Los índices no tienen significado. Necesitamos vectores donde la distancia signifique algo.</a:t>
            </a:r>
            <a:endParaRPr lang="en-US" sz="1900" dirty="0"/>
          </a:p>
        </p:txBody>
      </p:sp>
      <p:sp>
        <p:nvSpPr>
          <p:cNvPr id="5" name="Shape 3"/>
          <p:cNvSpPr/>
          <p:nvPr/>
        </p:nvSpPr>
        <p:spPr>
          <a:xfrm>
            <a:off x="731520" y="4709160"/>
            <a:ext cx="3108960" cy="411480"/>
          </a:xfrm>
          <a:prstGeom prst="roundRect">
            <a:avLst>
              <a:gd name="adj" fmla="val 13333"/>
            </a:avLst>
          </a:prstGeom>
          <a:solidFill>
            <a:srgbClr val="C400C4"/>
          </a:solidFill>
          <a:ln w="12700">
            <a:solidFill>
              <a:srgbClr val="C400C4"/>
            </a:solidFill>
            <a:prstDash val="solid"/>
          </a:ln>
        </p:spPr>
      </p:sp>
      <p:sp>
        <p:nvSpPr>
          <p:cNvPr id="6" name="Text 4"/>
          <p:cNvSpPr txBox="1"/>
          <p:nvPr/>
        </p:nvSpPr>
        <p:spPr>
          <a:xfrm>
            <a:off x="731520" y="4709160"/>
            <a:ext cx="31089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Notebooks 05 · 06</a:t>
            </a:r>
            <a:endParaRPr lang="en-US" sz="1300" dirty="0"/>
          </a:p>
        </p:txBody>
      </p:sp>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8BE0"/>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Evolución de las representaciones de texto</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NOTEBOOK 05</a:t>
            </a:r>
            <a:endParaRPr lang="en-US" sz="1100" dirty="0"/>
          </a:p>
        </p:txBody>
      </p:sp>
      <p:sp>
        <p:nvSpPr>
          <p:cNvPr id="4" name="Shape 2"/>
          <p:cNvSpPr/>
          <p:nvPr/>
        </p:nvSpPr>
        <p:spPr>
          <a:xfrm>
            <a:off x="548640" y="1371600"/>
            <a:ext cx="11064240" cy="411480"/>
          </a:xfrm>
          <a:prstGeom prst="rightArrow">
            <a:avLst/>
          </a:prstGeom>
          <a:solidFill>
            <a:srgbClr val="EADFF5"/>
          </a:solidFill>
          <a:ln w="12700">
            <a:solidFill>
              <a:srgbClr val="EADFF5"/>
            </a:solidFill>
            <a:prstDash val="solid"/>
          </a:ln>
        </p:spPr>
      </p:sp>
      <p:sp>
        <p:nvSpPr>
          <p:cNvPr id="5" name="Text 3"/>
          <p:cNvSpPr txBox="1"/>
          <p:nvPr/>
        </p:nvSpPr>
        <p:spPr>
          <a:xfrm>
            <a:off x="822960" y="1371600"/>
            <a:ext cx="7315200" cy="411480"/>
          </a:xfrm>
          <a:prstGeom prst="rect">
            <a:avLst/>
          </a:prstGeom>
          <a:noFill/>
          <a:ln/>
        </p:spPr>
        <p:txBody>
          <a:bodyPr wrap="square" lIns="0" tIns="0" rIns="0" bIns="0" rtlCol="0" anchor="ctr"/>
          <a:lstStyle/>
          <a:p>
            <a:pPr indent="0" marL="0">
              <a:buNone/>
            </a:pPr>
            <a:r>
              <a:rPr lang="en-US" sz="1300" b="1" dirty="0">
                <a:solidFill>
                  <a:srgbClr val="6A0DAD"/>
                </a:solidFill>
                <a:latin typeface="Calibri" pitchFamily="34" charset="0"/>
                <a:ea typeface="Calibri" pitchFamily="34" charset="-122"/>
                <a:cs typeface="Calibri" pitchFamily="34" charset="-120"/>
              </a:rPr>
              <a:t>más semántica  ·  vectores más densos</a:t>
            </a:r>
            <a:endParaRPr lang="en-US" sz="1300" dirty="0"/>
          </a:p>
        </p:txBody>
      </p:sp>
      <p:sp>
        <p:nvSpPr>
          <p:cNvPr id="6" name="Shape 4"/>
          <p:cNvSpPr/>
          <p:nvPr/>
        </p:nvSpPr>
        <p:spPr>
          <a:xfrm>
            <a:off x="548640" y="2011680"/>
            <a:ext cx="2624328" cy="3886200"/>
          </a:xfrm>
          <a:prstGeom prst="roundRect">
            <a:avLst>
              <a:gd name="adj" fmla="val 4181"/>
            </a:avLst>
          </a:prstGeom>
          <a:solidFill>
            <a:srgbClr val="F4EEFA"/>
          </a:solidFill>
          <a:ln w="12700">
            <a:solidFill>
              <a:srgbClr val="F4EEFA"/>
            </a:solidFill>
            <a:prstDash val="solid"/>
          </a:ln>
        </p:spPr>
      </p:sp>
      <p:sp>
        <p:nvSpPr>
          <p:cNvPr id="7" name="Text 5"/>
          <p:cNvSpPr txBox="1"/>
          <p:nvPr/>
        </p:nvSpPr>
        <p:spPr>
          <a:xfrm>
            <a:off x="777240" y="2194560"/>
            <a:ext cx="2194560" cy="502920"/>
          </a:xfrm>
          <a:prstGeom prst="rect">
            <a:avLst/>
          </a:prstGeom>
          <a:noFill/>
          <a:ln/>
        </p:spPr>
        <p:txBody>
          <a:bodyPr wrap="square" lIns="0" tIns="0" rIns="0" bIns="0" rtlCol="0" anchor="t"/>
          <a:lstStyle/>
          <a:p>
            <a:pPr indent="0" marL="0">
              <a:buNone/>
            </a:pPr>
            <a:r>
              <a:rPr lang="en-US" sz="2100" b="1" dirty="0">
                <a:solidFill>
                  <a:srgbClr val="241033"/>
                </a:solidFill>
                <a:latin typeface="Calibri" pitchFamily="34" charset="0"/>
                <a:ea typeface="Calibri" pitchFamily="34" charset="-122"/>
                <a:cs typeface="Calibri" pitchFamily="34" charset="-120"/>
              </a:rPr>
              <a:t>One-Hot</a:t>
            </a:r>
            <a:endParaRPr lang="en-US" sz="2100" dirty="0"/>
          </a:p>
        </p:txBody>
      </p:sp>
      <p:sp>
        <p:nvSpPr>
          <p:cNvPr id="8" name="Text 6"/>
          <p:cNvSpPr txBox="1"/>
          <p:nvPr/>
        </p:nvSpPr>
        <p:spPr>
          <a:xfrm>
            <a:off x="777240" y="2743200"/>
            <a:ext cx="2194560" cy="86868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Un 1 en la posición de la palabra</a:t>
            </a:r>
            <a:endParaRPr lang="en-US" sz="1400" dirty="0"/>
          </a:p>
        </p:txBody>
      </p:sp>
      <p:sp>
        <p:nvSpPr>
          <p:cNvPr id="9" name="Text 7"/>
          <p:cNvSpPr txBox="1"/>
          <p:nvPr/>
        </p:nvSpPr>
        <p:spPr>
          <a:xfrm>
            <a:off x="777240" y="3703320"/>
            <a:ext cx="2194560" cy="868680"/>
          </a:xfrm>
          <a:prstGeom prst="rect">
            <a:avLst/>
          </a:prstGeom>
          <a:noFill/>
          <a:ln/>
        </p:spPr>
        <p:txBody>
          <a:bodyPr wrap="square" lIns="0" tIns="0" rIns="0" bIns="0" rtlCol="0" anchor="t"/>
          <a:lstStyle/>
          <a:p>
            <a:pPr indent="0" marL="0">
              <a:buNone/>
            </a:pPr>
            <a:r>
              <a:rPr lang="en-US" sz="1400" b="1" dirty="0">
                <a:solidFill>
                  <a:srgbClr val="2E9E5B"/>
                </a:solidFill>
                <a:latin typeface="Calibri" pitchFamily="34" charset="0"/>
                <a:ea typeface="Calibri" pitchFamily="34" charset="-122"/>
                <a:cs typeface="Calibri" pitchFamily="34" charset="-120"/>
              </a:rPr>
              <a:t>✓ </a:t>
            </a:r>
            <a:pPr indent="0" marL="0">
              <a:buNone/>
            </a:pPr>
            <a:r>
              <a:rPr lang="en-US" sz="1400" dirty="0">
                <a:solidFill>
                  <a:srgbClr val="241033"/>
                </a:solidFill>
                <a:latin typeface="Calibri" pitchFamily="34" charset="0"/>
                <a:ea typeface="Calibri" pitchFamily="34" charset="-122"/>
                <a:cs typeface="Calibri" pitchFamily="34" charset="-120"/>
              </a:rPr>
              <a:t>Simple e interpretable</a:t>
            </a:r>
            <a:endParaRPr lang="en-US" sz="1400" dirty="0"/>
          </a:p>
        </p:txBody>
      </p:sp>
      <p:sp>
        <p:nvSpPr>
          <p:cNvPr id="10" name="Text 8"/>
          <p:cNvSpPr txBox="1"/>
          <p:nvPr/>
        </p:nvSpPr>
        <p:spPr>
          <a:xfrm>
            <a:off x="777240" y="4617720"/>
            <a:ext cx="2194560" cy="1097280"/>
          </a:xfrm>
          <a:prstGeom prst="rect">
            <a:avLst/>
          </a:prstGeom>
          <a:noFill/>
          <a:ln/>
        </p:spPr>
        <p:txBody>
          <a:bodyPr wrap="square" lIns="0" tIns="0" rIns="0" bIns="0" rtlCol="0" anchor="t"/>
          <a:lstStyle/>
          <a:p>
            <a:pPr indent="0" marL="0">
              <a:buNone/>
            </a:pPr>
            <a:r>
              <a:rPr lang="en-US" sz="1400" b="1" dirty="0">
                <a:solidFill>
                  <a:srgbClr val="C0392B"/>
                </a:solidFill>
                <a:latin typeface="Calibri" pitchFamily="34" charset="0"/>
                <a:ea typeface="Calibri" pitchFamily="34" charset="-122"/>
                <a:cs typeface="Calibri" pitchFamily="34" charset="-120"/>
              </a:rPr>
              <a:t>✗ </a:t>
            </a:r>
            <a:pPr indent="0" marL="0">
              <a:buNone/>
            </a:pPr>
            <a:r>
              <a:rPr lang="en-US" sz="1400" dirty="0">
                <a:solidFill>
                  <a:srgbClr val="241033"/>
                </a:solidFill>
                <a:latin typeface="Calibri" pitchFamily="34" charset="0"/>
                <a:ea typeface="Calibri" pitchFamily="34" charset="-122"/>
                <a:cs typeface="Calibri" pitchFamily="34" charset="-120"/>
              </a:rPr>
              <a:t>Vectores gigantes; todas las palabras igual de distintas</a:t>
            </a:r>
            <a:endParaRPr lang="en-US" sz="1400" dirty="0"/>
          </a:p>
        </p:txBody>
      </p:sp>
      <p:sp>
        <p:nvSpPr>
          <p:cNvPr id="11" name="Shape 9"/>
          <p:cNvSpPr/>
          <p:nvPr/>
        </p:nvSpPr>
        <p:spPr>
          <a:xfrm>
            <a:off x="3355848" y="2011680"/>
            <a:ext cx="2624328" cy="3886200"/>
          </a:xfrm>
          <a:prstGeom prst="roundRect">
            <a:avLst>
              <a:gd name="adj" fmla="val 4181"/>
            </a:avLst>
          </a:prstGeom>
          <a:solidFill>
            <a:srgbClr val="F4EEFA"/>
          </a:solidFill>
          <a:ln w="12700">
            <a:solidFill>
              <a:srgbClr val="F4EEFA"/>
            </a:solidFill>
            <a:prstDash val="solid"/>
          </a:ln>
        </p:spPr>
      </p:sp>
      <p:sp>
        <p:nvSpPr>
          <p:cNvPr id="12" name="Text 10"/>
          <p:cNvSpPr txBox="1"/>
          <p:nvPr/>
        </p:nvSpPr>
        <p:spPr>
          <a:xfrm>
            <a:off x="3584448" y="2194560"/>
            <a:ext cx="2194560" cy="502920"/>
          </a:xfrm>
          <a:prstGeom prst="rect">
            <a:avLst/>
          </a:prstGeom>
          <a:noFill/>
          <a:ln/>
        </p:spPr>
        <p:txBody>
          <a:bodyPr wrap="square" lIns="0" tIns="0" rIns="0" bIns="0" rtlCol="0" anchor="t"/>
          <a:lstStyle/>
          <a:p>
            <a:pPr indent="0" marL="0">
              <a:buNone/>
            </a:pPr>
            <a:r>
              <a:rPr lang="en-US" sz="2100" b="1" dirty="0">
                <a:solidFill>
                  <a:srgbClr val="241033"/>
                </a:solidFill>
                <a:latin typeface="Calibri" pitchFamily="34" charset="0"/>
                <a:ea typeface="Calibri" pitchFamily="34" charset="-122"/>
                <a:cs typeface="Calibri" pitchFamily="34" charset="-120"/>
              </a:rPr>
              <a:t>Bag of Words</a:t>
            </a:r>
            <a:endParaRPr lang="en-US" sz="2100" dirty="0"/>
          </a:p>
        </p:txBody>
      </p:sp>
      <p:sp>
        <p:nvSpPr>
          <p:cNvPr id="13" name="Text 11"/>
          <p:cNvSpPr txBox="1"/>
          <p:nvPr/>
        </p:nvSpPr>
        <p:spPr>
          <a:xfrm>
            <a:off x="3584448" y="2743200"/>
            <a:ext cx="2194560" cy="86868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Conteo de cada palabra en el documento</a:t>
            </a:r>
            <a:endParaRPr lang="en-US" sz="1400" dirty="0"/>
          </a:p>
        </p:txBody>
      </p:sp>
      <p:sp>
        <p:nvSpPr>
          <p:cNvPr id="14" name="Text 12"/>
          <p:cNvSpPr txBox="1"/>
          <p:nvPr/>
        </p:nvSpPr>
        <p:spPr>
          <a:xfrm>
            <a:off x="3584448" y="3703320"/>
            <a:ext cx="2194560" cy="868680"/>
          </a:xfrm>
          <a:prstGeom prst="rect">
            <a:avLst/>
          </a:prstGeom>
          <a:noFill/>
          <a:ln/>
        </p:spPr>
        <p:txBody>
          <a:bodyPr wrap="square" lIns="0" tIns="0" rIns="0" bIns="0" rtlCol="0" anchor="t"/>
          <a:lstStyle/>
          <a:p>
            <a:pPr indent="0" marL="0">
              <a:buNone/>
            </a:pPr>
            <a:r>
              <a:rPr lang="en-US" sz="1400" b="1" dirty="0">
                <a:solidFill>
                  <a:srgbClr val="2E9E5B"/>
                </a:solidFill>
                <a:latin typeface="Calibri" pitchFamily="34" charset="0"/>
                <a:ea typeface="Calibri" pitchFamily="34" charset="-122"/>
                <a:cs typeface="Calibri" pitchFamily="34" charset="-120"/>
              </a:rPr>
              <a:t>✓ </a:t>
            </a:r>
            <a:pPr indent="0" marL="0">
              <a:buNone/>
            </a:pPr>
            <a:r>
              <a:rPr lang="en-US" sz="1400" dirty="0">
                <a:solidFill>
                  <a:srgbClr val="241033"/>
                </a:solidFill>
                <a:latin typeface="Calibri" pitchFamily="34" charset="0"/>
                <a:ea typeface="Calibri" pitchFamily="34" charset="-122"/>
                <a:cs typeface="Calibri" pitchFamily="34" charset="-120"/>
              </a:rPr>
              <a:t>Baseline rápido</a:t>
            </a:r>
            <a:endParaRPr lang="en-US" sz="1400" dirty="0"/>
          </a:p>
        </p:txBody>
      </p:sp>
      <p:sp>
        <p:nvSpPr>
          <p:cNvPr id="15" name="Text 13"/>
          <p:cNvSpPr txBox="1"/>
          <p:nvPr/>
        </p:nvSpPr>
        <p:spPr>
          <a:xfrm>
            <a:off x="3584448" y="4617720"/>
            <a:ext cx="2194560" cy="1097280"/>
          </a:xfrm>
          <a:prstGeom prst="rect">
            <a:avLst/>
          </a:prstGeom>
          <a:noFill/>
          <a:ln/>
        </p:spPr>
        <p:txBody>
          <a:bodyPr wrap="square" lIns="0" tIns="0" rIns="0" bIns="0" rtlCol="0" anchor="t"/>
          <a:lstStyle/>
          <a:p>
            <a:pPr indent="0" marL="0">
              <a:buNone/>
            </a:pPr>
            <a:r>
              <a:rPr lang="en-US" sz="1400" b="1" dirty="0">
                <a:solidFill>
                  <a:srgbClr val="C0392B"/>
                </a:solidFill>
                <a:latin typeface="Calibri" pitchFamily="34" charset="0"/>
                <a:ea typeface="Calibri" pitchFamily="34" charset="-122"/>
                <a:cs typeface="Calibri" pitchFamily="34" charset="-120"/>
              </a:rPr>
              <a:t>✗ </a:t>
            </a:r>
            <a:pPr indent="0" marL="0">
              <a:buNone/>
            </a:pPr>
            <a:r>
              <a:rPr lang="en-US" sz="1400" dirty="0">
                <a:solidFill>
                  <a:srgbClr val="241033"/>
                </a:solidFill>
                <a:latin typeface="Calibri" pitchFamily="34" charset="0"/>
                <a:ea typeface="Calibri" pitchFamily="34" charset="-122"/>
                <a:cs typeface="Calibri" pitchFamily="34" charset="-120"/>
              </a:rPr>
              <a:t>Pierde orden y contexto</a:t>
            </a:r>
            <a:endParaRPr lang="en-US" sz="1400" dirty="0"/>
          </a:p>
        </p:txBody>
      </p:sp>
      <p:sp>
        <p:nvSpPr>
          <p:cNvPr id="16" name="Shape 14"/>
          <p:cNvSpPr/>
          <p:nvPr/>
        </p:nvSpPr>
        <p:spPr>
          <a:xfrm>
            <a:off x="6163056" y="2011680"/>
            <a:ext cx="2624328" cy="3886200"/>
          </a:xfrm>
          <a:prstGeom prst="roundRect">
            <a:avLst>
              <a:gd name="adj" fmla="val 4181"/>
            </a:avLst>
          </a:prstGeom>
          <a:solidFill>
            <a:srgbClr val="F4EEFA"/>
          </a:solidFill>
          <a:ln w="12700">
            <a:solidFill>
              <a:srgbClr val="F4EEFA"/>
            </a:solidFill>
            <a:prstDash val="solid"/>
          </a:ln>
        </p:spPr>
      </p:sp>
      <p:sp>
        <p:nvSpPr>
          <p:cNvPr id="17" name="Text 15"/>
          <p:cNvSpPr txBox="1"/>
          <p:nvPr/>
        </p:nvSpPr>
        <p:spPr>
          <a:xfrm>
            <a:off x="6391656" y="2194560"/>
            <a:ext cx="2194560" cy="502920"/>
          </a:xfrm>
          <a:prstGeom prst="rect">
            <a:avLst/>
          </a:prstGeom>
          <a:noFill/>
          <a:ln/>
        </p:spPr>
        <p:txBody>
          <a:bodyPr wrap="square" lIns="0" tIns="0" rIns="0" bIns="0" rtlCol="0" anchor="t"/>
          <a:lstStyle/>
          <a:p>
            <a:pPr indent="0" marL="0">
              <a:buNone/>
            </a:pPr>
            <a:r>
              <a:rPr lang="en-US" sz="2100" b="1" dirty="0">
                <a:solidFill>
                  <a:srgbClr val="241033"/>
                </a:solidFill>
                <a:latin typeface="Calibri" pitchFamily="34" charset="0"/>
                <a:ea typeface="Calibri" pitchFamily="34" charset="-122"/>
                <a:cs typeface="Calibri" pitchFamily="34" charset="-120"/>
              </a:rPr>
              <a:t>TF-IDF</a:t>
            </a:r>
            <a:endParaRPr lang="en-US" sz="2100" dirty="0"/>
          </a:p>
        </p:txBody>
      </p:sp>
      <p:sp>
        <p:nvSpPr>
          <p:cNvPr id="18" name="Text 16"/>
          <p:cNvSpPr txBox="1"/>
          <p:nvPr/>
        </p:nvSpPr>
        <p:spPr>
          <a:xfrm>
            <a:off x="6391656" y="2743200"/>
            <a:ext cx="2194560" cy="86868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Conteo ponderado por rareza en el corpus</a:t>
            </a:r>
            <a:endParaRPr lang="en-US" sz="1400" dirty="0"/>
          </a:p>
        </p:txBody>
      </p:sp>
      <p:sp>
        <p:nvSpPr>
          <p:cNvPr id="19" name="Text 17"/>
          <p:cNvSpPr txBox="1"/>
          <p:nvPr/>
        </p:nvSpPr>
        <p:spPr>
          <a:xfrm>
            <a:off x="6391656" y="3703320"/>
            <a:ext cx="2194560" cy="868680"/>
          </a:xfrm>
          <a:prstGeom prst="rect">
            <a:avLst/>
          </a:prstGeom>
          <a:noFill/>
          <a:ln/>
        </p:spPr>
        <p:txBody>
          <a:bodyPr wrap="square" lIns="0" tIns="0" rIns="0" bIns="0" rtlCol="0" anchor="t"/>
          <a:lstStyle/>
          <a:p>
            <a:pPr indent="0" marL="0">
              <a:buNone/>
            </a:pPr>
            <a:r>
              <a:rPr lang="en-US" sz="1400" b="1" dirty="0">
                <a:solidFill>
                  <a:srgbClr val="2E9E5B"/>
                </a:solidFill>
                <a:latin typeface="Calibri" pitchFamily="34" charset="0"/>
                <a:ea typeface="Calibri" pitchFamily="34" charset="-122"/>
                <a:cs typeface="Calibri" pitchFamily="34" charset="-120"/>
              </a:rPr>
              <a:t>✓ </a:t>
            </a:r>
            <a:pPr indent="0" marL="0">
              <a:buNone/>
            </a:pPr>
            <a:r>
              <a:rPr lang="en-US" sz="1400" dirty="0">
                <a:solidFill>
                  <a:srgbClr val="241033"/>
                </a:solidFill>
                <a:latin typeface="Calibri" pitchFamily="34" charset="0"/>
                <a:ea typeface="Calibri" pitchFamily="34" charset="-122"/>
                <a:cs typeface="Calibri" pitchFamily="34" charset="-120"/>
              </a:rPr>
              <a:t>Destaca términos informativos</a:t>
            </a:r>
            <a:endParaRPr lang="en-US" sz="1400" dirty="0"/>
          </a:p>
        </p:txBody>
      </p:sp>
      <p:sp>
        <p:nvSpPr>
          <p:cNvPr id="20" name="Text 18"/>
          <p:cNvSpPr txBox="1"/>
          <p:nvPr/>
        </p:nvSpPr>
        <p:spPr>
          <a:xfrm>
            <a:off x="6391656" y="4617720"/>
            <a:ext cx="2194560" cy="1097280"/>
          </a:xfrm>
          <a:prstGeom prst="rect">
            <a:avLst/>
          </a:prstGeom>
          <a:noFill/>
          <a:ln/>
        </p:spPr>
        <p:txBody>
          <a:bodyPr wrap="square" lIns="0" tIns="0" rIns="0" bIns="0" rtlCol="0" anchor="t"/>
          <a:lstStyle/>
          <a:p>
            <a:pPr indent="0" marL="0">
              <a:buNone/>
            </a:pPr>
            <a:r>
              <a:rPr lang="en-US" sz="1400" b="1" dirty="0">
                <a:solidFill>
                  <a:srgbClr val="C0392B"/>
                </a:solidFill>
                <a:latin typeface="Calibri" pitchFamily="34" charset="0"/>
                <a:ea typeface="Calibri" pitchFamily="34" charset="-122"/>
                <a:cs typeface="Calibri" pitchFamily="34" charset="-120"/>
              </a:rPr>
              <a:t>✗ </a:t>
            </a:r>
            <a:pPr indent="0" marL="0">
              <a:buNone/>
            </a:pPr>
            <a:r>
              <a:rPr lang="en-US" sz="1400" dirty="0">
                <a:solidFill>
                  <a:srgbClr val="241033"/>
                </a:solidFill>
                <a:latin typeface="Calibri" pitchFamily="34" charset="0"/>
                <a:ea typeface="Calibri" pitchFamily="34" charset="-122"/>
                <a:cs typeface="Calibri" pitchFamily="34" charset="-120"/>
              </a:rPr>
              <a:t>No entiende sinónimos</a:t>
            </a:r>
            <a:endParaRPr lang="en-US" sz="1400" dirty="0"/>
          </a:p>
        </p:txBody>
      </p:sp>
      <p:sp>
        <p:nvSpPr>
          <p:cNvPr id="21" name="Shape 19"/>
          <p:cNvSpPr/>
          <p:nvPr/>
        </p:nvSpPr>
        <p:spPr>
          <a:xfrm>
            <a:off x="8970264" y="2011680"/>
            <a:ext cx="2624328" cy="3886200"/>
          </a:xfrm>
          <a:prstGeom prst="roundRect">
            <a:avLst>
              <a:gd name="adj" fmla="val 4181"/>
            </a:avLst>
          </a:prstGeom>
          <a:solidFill>
            <a:srgbClr val="241033"/>
          </a:solidFill>
          <a:ln w="12700">
            <a:solidFill>
              <a:srgbClr val="241033"/>
            </a:solidFill>
            <a:prstDash val="solid"/>
          </a:ln>
        </p:spPr>
      </p:sp>
      <p:sp>
        <p:nvSpPr>
          <p:cNvPr id="22" name="Text 20"/>
          <p:cNvSpPr txBox="1"/>
          <p:nvPr/>
        </p:nvSpPr>
        <p:spPr>
          <a:xfrm>
            <a:off x="9198864" y="2194560"/>
            <a:ext cx="2194560" cy="502920"/>
          </a:xfrm>
          <a:prstGeom prst="rect">
            <a:avLst/>
          </a:prstGeom>
          <a:noFill/>
          <a:ln/>
        </p:spPr>
        <p:txBody>
          <a:bodyPr wrap="square" lIns="0" tIns="0" rIns="0" bIns="0" rtlCol="0" anchor="t"/>
          <a:lstStyle/>
          <a:p>
            <a:pPr indent="0" marL="0">
              <a:buNone/>
            </a:pPr>
            <a:r>
              <a:rPr lang="en-US" sz="2100" b="1" dirty="0">
                <a:solidFill>
                  <a:srgbClr val="FFFFFF"/>
                </a:solidFill>
                <a:latin typeface="Calibri" pitchFamily="34" charset="0"/>
                <a:ea typeface="Calibri" pitchFamily="34" charset="-122"/>
                <a:cs typeface="Calibri" pitchFamily="34" charset="-120"/>
              </a:rPr>
              <a:t>Embeddings</a:t>
            </a:r>
            <a:endParaRPr lang="en-US" sz="2100" dirty="0"/>
          </a:p>
        </p:txBody>
      </p:sp>
      <p:sp>
        <p:nvSpPr>
          <p:cNvPr id="23" name="Text 21"/>
          <p:cNvSpPr txBox="1"/>
          <p:nvPr/>
        </p:nvSpPr>
        <p:spPr>
          <a:xfrm>
            <a:off x="9198864" y="2743200"/>
            <a:ext cx="2194560" cy="868680"/>
          </a:xfrm>
          <a:prstGeom prst="rect">
            <a:avLst/>
          </a:prstGeom>
          <a:noFill/>
          <a:ln/>
        </p:spPr>
        <p:txBody>
          <a:bodyPr wrap="square" lIns="0" tIns="0" rIns="0" bIns="0" rtlCol="0" anchor="t"/>
          <a:lstStyle/>
          <a:p>
            <a:pPr indent="0" marL="0">
              <a:buNone/>
            </a:pPr>
            <a:r>
              <a:rPr lang="en-US" sz="1400" dirty="0">
                <a:solidFill>
                  <a:srgbClr val="DCCDEE"/>
                </a:solidFill>
                <a:latin typeface="Calibri" pitchFamily="34" charset="0"/>
                <a:ea typeface="Calibri" pitchFamily="34" charset="-122"/>
                <a:cs typeface="Calibri" pitchFamily="34" charset="-120"/>
              </a:rPr>
              <a:t>Vector denso aprendido de los datos</a:t>
            </a:r>
            <a:endParaRPr lang="en-US" sz="1400" dirty="0"/>
          </a:p>
        </p:txBody>
      </p:sp>
      <p:sp>
        <p:nvSpPr>
          <p:cNvPr id="24" name="Text 22"/>
          <p:cNvSpPr txBox="1"/>
          <p:nvPr/>
        </p:nvSpPr>
        <p:spPr>
          <a:xfrm>
            <a:off x="9198864" y="3703320"/>
            <a:ext cx="2194560" cy="868680"/>
          </a:xfrm>
          <a:prstGeom prst="rect">
            <a:avLst/>
          </a:prstGeom>
          <a:noFill/>
          <a:ln/>
        </p:spPr>
        <p:txBody>
          <a:bodyPr wrap="square" lIns="0" tIns="0" rIns="0" bIns="0" rtlCol="0" anchor="t"/>
          <a:lstStyle/>
          <a:p>
            <a:pPr indent="0" marL="0">
              <a:buNone/>
            </a:pPr>
            <a:r>
              <a:rPr lang="en-US" sz="1400" b="1" dirty="0">
                <a:solidFill>
                  <a:srgbClr val="7EE2A8"/>
                </a:solidFill>
                <a:latin typeface="Calibri" pitchFamily="34" charset="0"/>
                <a:ea typeface="Calibri" pitchFamily="34" charset="-122"/>
                <a:cs typeface="Calibri" pitchFamily="34" charset="-120"/>
              </a:rPr>
              <a:t>✓ </a:t>
            </a:r>
            <a:pPr indent="0" marL="0">
              <a:buNone/>
            </a:pPr>
            <a:r>
              <a:rPr lang="en-US" sz="1400" dirty="0">
                <a:solidFill>
                  <a:srgbClr val="FFFFFF"/>
                </a:solidFill>
                <a:latin typeface="Calibri" pitchFamily="34" charset="0"/>
                <a:ea typeface="Calibri" pitchFamily="34" charset="-122"/>
                <a:cs typeface="Calibri" pitchFamily="34" charset="-120"/>
              </a:rPr>
              <a:t>Capturan similitud semántica</a:t>
            </a:r>
            <a:endParaRPr lang="en-US" sz="1400" dirty="0"/>
          </a:p>
        </p:txBody>
      </p:sp>
      <p:sp>
        <p:nvSpPr>
          <p:cNvPr id="25" name="Text 23"/>
          <p:cNvSpPr txBox="1"/>
          <p:nvPr/>
        </p:nvSpPr>
        <p:spPr>
          <a:xfrm>
            <a:off x="9198864" y="4617720"/>
            <a:ext cx="2194560" cy="1097280"/>
          </a:xfrm>
          <a:prstGeom prst="rect">
            <a:avLst/>
          </a:prstGeom>
          <a:noFill/>
          <a:ln/>
        </p:spPr>
        <p:txBody>
          <a:bodyPr wrap="square" lIns="0" tIns="0" rIns="0" bIns="0" rtlCol="0" anchor="t"/>
          <a:lstStyle/>
          <a:p>
            <a:pPr indent="0" marL="0">
              <a:buNone/>
            </a:pPr>
            <a:r>
              <a:rPr lang="en-US" sz="1400" b="1" dirty="0">
                <a:solidFill>
                  <a:srgbClr val="FF9A8F"/>
                </a:solidFill>
                <a:latin typeface="Calibri" pitchFamily="34" charset="0"/>
                <a:ea typeface="Calibri" pitchFamily="34" charset="-122"/>
                <a:cs typeface="Calibri" pitchFamily="34" charset="-120"/>
              </a:rPr>
              <a:t>✗ </a:t>
            </a:r>
            <a:pPr indent="0" marL="0">
              <a:buNone/>
            </a:pPr>
            <a:r>
              <a:rPr lang="en-US" sz="1400" dirty="0">
                <a:solidFill>
                  <a:srgbClr val="FFFFFF"/>
                </a:solidFill>
                <a:latin typeface="Calibri" pitchFamily="34" charset="0"/>
                <a:ea typeface="Calibri" pitchFamily="34" charset="-122"/>
                <a:cs typeface="Calibri" pitchFamily="34" charset="-120"/>
              </a:rPr>
              <a:t>Necesitan datos; posibles sesgos</a:t>
            </a:r>
            <a:endParaRPr lang="en-US" sz="14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Bag of Words y TF-IDF en acción</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NOTEBOOK 05</a:t>
            </a:r>
            <a:endParaRPr lang="en-US" sz="1100" dirty="0"/>
          </a:p>
        </p:txBody>
      </p:sp>
      <p:pic>
        <p:nvPicPr>
          <p:cNvPr id="4" name="Image 0" descr="/home/claude/deck/img/tfidf.png">    </p:cNvPr>
          <p:cNvPicPr>
            <a:picLocks noChangeAspect="1"/>
          </p:cNvPicPr>
          <p:nvPr/>
        </p:nvPicPr>
        <p:blipFill>
          <a:blip r:embed="rId1"/>
          <a:stretch>
            <a:fillRect/>
          </a:stretch>
        </p:blipFill>
        <p:spPr>
          <a:xfrm>
            <a:off x="411480" y="1325880"/>
            <a:ext cx="6766560" cy="2651760"/>
          </a:xfrm>
          <a:prstGeom prst="rect">
            <a:avLst/>
          </a:prstGeom>
        </p:spPr>
      </p:pic>
      <p:sp>
        <p:nvSpPr>
          <p:cNvPr id="5" name="Text 2"/>
          <p:cNvSpPr txBox="1"/>
          <p:nvPr/>
        </p:nvSpPr>
        <p:spPr>
          <a:xfrm>
            <a:off x="548640" y="4069080"/>
            <a:ext cx="6583680" cy="365760"/>
          </a:xfrm>
          <a:prstGeom prst="rect">
            <a:avLst/>
          </a:prstGeom>
          <a:noFill/>
          <a:ln/>
        </p:spPr>
        <p:txBody>
          <a:bodyPr wrap="square" lIns="0" tIns="0" rIns="0" bIns="0" rtlCol="0" anchor="t"/>
          <a:lstStyle/>
          <a:p>
            <a:pPr indent="0" marL="0">
              <a:buNone/>
            </a:pPr>
            <a:r>
              <a:rPr lang="en-US" sz="1500" b="1" dirty="0">
                <a:solidFill>
                  <a:srgbClr val="6A0DAD"/>
                </a:solidFill>
                <a:latin typeface="Calibri" pitchFamily="34" charset="0"/>
                <a:ea typeface="Calibri" pitchFamily="34" charset="-122"/>
                <a:cs typeface="Calibri" pitchFamily="34" charset="-120"/>
              </a:rPr>
              <a:t>TF-IDF = frecuencia en el documento × rareza en el corpus</a:t>
            </a:r>
            <a:endParaRPr lang="en-US" sz="1500" dirty="0"/>
          </a:p>
        </p:txBody>
      </p:sp>
      <p:sp>
        <p:nvSpPr>
          <p:cNvPr id="6" name="Text 3"/>
          <p:cNvSpPr txBox="1"/>
          <p:nvPr/>
        </p:nvSpPr>
        <p:spPr>
          <a:xfrm>
            <a:off x="548640" y="4480560"/>
            <a:ext cx="6583680" cy="73152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“el” aparece en todos los textos → peso bajo (0.32–0.37). “croquetas” solo en uno → peso alto (0.63).</a:t>
            </a:r>
            <a:endParaRPr lang="en-US" sz="1400" dirty="0"/>
          </a:p>
        </p:txBody>
      </p:sp>
      <p:sp>
        <p:nvSpPr>
          <p:cNvPr id="7" name="Text 4"/>
          <p:cNvSpPr txBox="1"/>
          <p:nvPr/>
        </p:nvSpPr>
        <p:spPr>
          <a:xfrm>
            <a:off x="7589520" y="1371600"/>
            <a:ext cx="4023360" cy="411480"/>
          </a:xfrm>
          <a:prstGeom prst="rect">
            <a:avLst/>
          </a:prstGeom>
          <a:noFill/>
          <a:ln/>
        </p:spPr>
        <p:txBody>
          <a:bodyPr wrap="square" lIns="0" tIns="0" rIns="0" bIns="0" rtlCol="0" anchor="t"/>
          <a:lstStyle/>
          <a:p>
            <a:pPr indent="0" marL="0">
              <a:buNone/>
            </a:pPr>
            <a:r>
              <a:rPr lang="en-US" sz="1700" b="1" dirty="0">
                <a:solidFill>
                  <a:srgbClr val="241033"/>
                </a:solidFill>
                <a:latin typeface="Calibri" pitchFamily="34" charset="0"/>
                <a:ea typeface="Calibri" pitchFamily="34" charset="-122"/>
                <a:cs typeface="Calibri" pitchFamily="34" charset="-120"/>
              </a:rPr>
              <a:t>Dos limitaciones que verás en el notebook</a:t>
            </a:r>
            <a:endParaRPr lang="en-US" sz="1700" dirty="0"/>
          </a:p>
        </p:txBody>
      </p:sp>
      <p:sp>
        <p:nvSpPr>
          <p:cNvPr id="8" name="Shape 5"/>
          <p:cNvSpPr/>
          <p:nvPr/>
        </p:nvSpPr>
        <p:spPr>
          <a:xfrm>
            <a:off x="7589520" y="1874520"/>
            <a:ext cx="4023360" cy="1737360"/>
          </a:xfrm>
          <a:prstGeom prst="roundRect">
            <a:avLst>
              <a:gd name="adj" fmla="val 6316"/>
            </a:avLst>
          </a:prstGeom>
          <a:solidFill>
            <a:srgbClr val="F4EEFA"/>
          </a:solidFill>
          <a:ln w="12700">
            <a:solidFill>
              <a:srgbClr val="F4EEFA"/>
            </a:solidFill>
            <a:prstDash val="solid"/>
          </a:ln>
        </p:spPr>
      </p:sp>
      <p:sp>
        <p:nvSpPr>
          <p:cNvPr id="9" name="Text 6"/>
          <p:cNvSpPr txBox="1"/>
          <p:nvPr/>
        </p:nvSpPr>
        <p:spPr>
          <a:xfrm>
            <a:off x="7772400" y="1965960"/>
            <a:ext cx="3657600" cy="1554480"/>
          </a:xfrm>
          <a:prstGeom prst="rect">
            <a:avLst/>
          </a:prstGeom>
          <a:noFill/>
          <a:ln/>
        </p:spPr>
        <p:txBody>
          <a:bodyPr wrap="square" lIns="0" tIns="0" rIns="0" bIns="0" rtlCol="0" anchor="t"/>
          <a:lstStyle/>
          <a:p>
            <a:pPr indent="0" marL="0">
              <a:buNone/>
            </a:pPr>
            <a:r>
              <a:rPr lang="en-US" sz="1400" b="1" dirty="0">
                <a:solidFill>
                  <a:srgbClr val="6A0DAD"/>
                </a:solidFill>
                <a:latin typeface="Calibri" pitchFamily="34" charset="0"/>
                <a:ea typeface="Calibri" pitchFamily="34" charset="-122"/>
                <a:cs typeface="Calibri" pitchFamily="34" charset="-120"/>
              </a:rPr>
              <a:t>Pierde el orden
</a:t>
            </a:r>
            <a:pPr indent="0" marL="0">
              <a:buNone/>
            </a:pPr>
            <a:r>
              <a:rPr lang="en-US" sz="1400" dirty="0">
                <a:solidFill>
                  <a:srgbClr val="241033"/>
                </a:solidFill>
                <a:latin typeface="Calibri" pitchFamily="34" charset="0"/>
                <a:ea typeface="Calibri" pitchFamily="34" charset="-122"/>
                <a:cs typeface="Calibri" pitchFamily="34" charset="-120"/>
              </a:rPr>
              <a:t>“el perro persigue al gato” y “el gato persigue al perro” tienen el mismo vector BoW.</a:t>
            </a:r>
            <a:endParaRPr lang="en-US" sz="1400" dirty="0"/>
          </a:p>
        </p:txBody>
      </p:sp>
      <p:sp>
        <p:nvSpPr>
          <p:cNvPr id="10" name="Shape 7"/>
          <p:cNvSpPr/>
          <p:nvPr/>
        </p:nvSpPr>
        <p:spPr>
          <a:xfrm>
            <a:off x="7589520" y="3749040"/>
            <a:ext cx="4023360" cy="1737360"/>
          </a:xfrm>
          <a:prstGeom prst="roundRect">
            <a:avLst>
              <a:gd name="adj" fmla="val 6316"/>
            </a:avLst>
          </a:prstGeom>
          <a:solidFill>
            <a:srgbClr val="F4EEFA"/>
          </a:solidFill>
          <a:ln w="12700">
            <a:solidFill>
              <a:srgbClr val="F4EEFA"/>
            </a:solidFill>
            <a:prstDash val="solid"/>
          </a:ln>
        </p:spPr>
      </p:sp>
      <p:sp>
        <p:nvSpPr>
          <p:cNvPr id="11" name="Text 8"/>
          <p:cNvSpPr txBox="1"/>
          <p:nvPr/>
        </p:nvSpPr>
        <p:spPr>
          <a:xfrm>
            <a:off x="7772400" y="3840480"/>
            <a:ext cx="3657600" cy="1554480"/>
          </a:xfrm>
          <a:prstGeom prst="rect">
            <a:avLst/>
          </a:prstGeom>
          <a:noFill/>
          <a:ln/>
        </p:spPr>
        <p:txBody>
          <a:bodyPr wrap="square" lIns="0" tIns="0" rIns="0" bIns="0" rtlCol="0" anchor="t"/>
          <a:lstStyle/>
          <a:p>
            <a:pPr indent="0" marL="0">
              <a:buNone/>
            </a:pPr>
            <a:r>
              <a:rPr lang="en-US" sz="1400" b="1" dirty="0">
                <a:solidFill>
                  <a:srgbClr val="6A0DAD"/>
                </a:solidFill>
                <a:latin typeface="Calibri" pitchFamily="34" charset="0"/>
                <a:ea typeface="Calibri" pitchFamily="34" charset="-122"/>
                <a:cs typeface="Calibri" pitchFamily="34" charset="-120"/>
              </a:rPr>
              <a:t>No entiende sinónimos
</a:t>
            </a:r>
            <a:pPr indent="0" marL="0">
              <a:buNone/>
            </a:pPr>
            <a:r>
              <a:rPr lang="en-US" sz="1400" dirty="0">
                <a:solidFill>
                  <a:srgbClr val="241033"/>
                </a:solidFill>
                <a:latin typeface="Calibri" pitchFamily="34" charset="0"/>
                <a:ea typeface="Calibri" pitchFamily="34" charset="-122"/>
                <a:cs typeface="Calibri" pitchFamily="34" charset="-120"/>
              </a:rPr>
              <a:t>coseno(carro, automóvil) = 0.51 = coseno(carro, helado). Solo compara palabras idénticas.</a:t>
            </a:r>
            <a:endParaRPr lang="en-US" sz="1400" dirty="0"/>
          </a:p>
        </p:txBody>
      </p:sp>
      <p:sp>
        <p:nvSpPr>
          <p:cNvPr id="12" name="Text 9"/>
          <p:cNvSpPr txBox="1"/>
          <p:nvPr/>
        </p:nvSpPr>
        <p:spPr>
          <a:xfrm>
            <a:off x="548640" y="5943600"/>
            <a:ext cx="7315200" cy="274320"/>
          </a:xfrm>
          <a:prstGeom prst="rect">
            <a:avLst/>
          </a:prstGeom>
          <a:noFill/>
          <a:ln/>
        </p:spPr>
        <p:txBody>
          <a:bodyPr wrap="square" lIns="0" tIns="0" rIns="0" bIns="0" rtlCol="0" anchor="t"/>
          <a:lstStyle/>
          <a:p>
            <a:pPr indent="0" marL="0">
              <a:buNone/>
            </a:pPr>
            <a:r>
              <a:rPr lang="en-US" sz="1100" i="1" dirty="0">
                <a:solidFill>
                  <a:srgbClr val="6E6480"/>
                </a:solidFill>
                <a:latin typeface="Calibri" pitchFamily="34" charset="0"/>
                <a:ea typeface="Calibri" pitchFamily="34" charset="-122"/>
                <a:cs typeface="Calibri" pitchFamily="34" charset="-120"/>
              </a:rPr>
              <a:t>Fuente: IBM, What is bag of words? · valores reales del notebook 05</a:t>
            </a:r>
            <a:endParaRPr lang="en-US" sz="11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Word embeddings: palabras como puntos en un espacio</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NOTEBOOK 06</a:t>
            </a:r>
            <a:endParaRPr lang="en-US" sz="1100" dirty="0"/>
          </a:p>
        </p:txBody>
      </p:sp>
      <p:pic>
        <p:nvPicPr>
          <p:cNvPr id="4" name="Image 0" descr="/home/claude/deck/img/onehot_denso.png">    </p:cNvPr>
          <p:cNvPicPr>
            <a:picLocks noChangeAspect="1"/>
          </p:cNvPicPr>
          <p:nvPr/>
        </p:nvPicPr>
        <p:blipFill>
          <a:blip r:embed="rId1"/>
          <a:stretch>
            <a:fillRect/>
          </a:stretch>
        </p:blipFill>
        <p:spPr>
          <a:xfrm>
            <a:off x="411480" y="1325880"/>
            <a:ext cx="5852160" cy="2651760"/>
          </a:xfrm>
          <a:prstGeom prst="rect">
            <a:avLst/>
          </a:prstGeom>
        </p:spPr>
      </p:pic>
      <p:sp>
        <p:nvSpPr>
          <p:cNvPr id="5" name="Text 2"/>
          <p:cNvSpPr txBox="1"/>
          <p:nvPr/>
        </p:nvSpPr>
        <p:spPr>
          <a:xfrm>
            <a:off x="548640" y="4206240"/>
            <a:ext cx="5669280" cy="1188720"/>
          </a:xfrm>
          <a:prstGeom prst="rect">
            <a:avLst/>
          </a:prstGeom>
          <a:noFill/>
          <a:ln/>
        </p:spPr>
        <p:txBody>
          <a:bodyPr wrap="square" lIns="0" tIns="0" rIns="0" bIns="0" rtlCol="0" anchor="t"/>
          <a:lstStyle/>
          <a:p>
            <a:pPr indent="0" marL="0">
              <a:buNone/>
            </a:pPr>
            <a:r>
              <a:rPr lang="en-US" sz="1600" i="1" dirty="0">
                <a:solidFill>
                  <a:srgbClr val="241033"/>
                </a:solidFill>
                <a:latin typeface="Calibri" pitchFamily="34" charset="0"/>
                <a:ea typeface="Calibri" pitchFamily="34" charset="-122"/>
                <a:cs typeface="Calibri" pitchFamily="34" charset="-120"/>
              </a:rPr>
              <a:t>Representan las palabras como vectores en un espacio multidimensional, donde la distancia y la dirección reflejan la similitud y las relaciones entre ellas.</a:t>
            </a:r>
            <a:endParaRPr lang="en-US" sz="1600" dirty="0"/>
          </a:p>
        </p:txBody>
      </p:sp>
      <p:sp>
        <p:nvSpPr>
          <p:cNvPr id="6" name="Text 3"/>
          <p:cNvSpPr txBox="1"/>
          <p:nvPr/>
        </p:nvSpPr>
        <p:spPr>
          <a:xfrm>
            <a:off x="548640" y="5440680"/>
            <a:ext cx="5486400" cy="274320"/>
          </a:xfrm>
          <a:prstGeom prst="rect">
            <a:avLst/>
          </a:prstGeom>
          <a:noFill/>
          <a:ln/>
        </p:spPr>
        <p:txBody>
          <a:bodyPr wrap="square" lIns="0" tIns="0" rIns="0" bIns="0" rtlCol="0" anchor="t"/>
          <a:lstStyle/>
          <a:p>
            <a:pPr indent="0" marL="0">
              <a:buNone/>
            </a:pPr>
            <a:r>
              <a:rPr lang="en-US" sz="1200" dirty="0">
                <a:solidFill>
                  <a:srgbClr val="6E6480"/>
                </a:solidFill>
                <a:latin typeface="Calibri" pitchFamily="34" charset="0"/>
                <a:ea typeface="Calibri" pitchFamily="34" charset="-122"/>
                <a:cs typeface="Calibri" pitchFamily="34" charset="-120"/>
              </a:rPr>
              <a:t>— IBM, What are word embeddings?</a:t>
            </a:r>
            <a:endParaRPr lang="en-US" sz="1200" dirty="0"/>
          </a:p>
        </p:txBody>
      </p:sp>
      <p:pic>
        <p:nvPicPr>
          <p:cNvPr id="7" name="Image 1" descr="/home/claude/deck/img/analogia.png">    </p:cNvPr>
          <p:cNvPicPr>
            <a:picLocks noChangeAspect="1"/>
          </p:cNvPicPr>
          <p:nvPr/>
        </p:nvPicPr>
        <p:blipFill>
          <a:blip r:embed="rId2"/>
          <a:stretch>
            <a:fillRect/>
          </a:stretch>
        </p:blipFill>
        <p:spPr>
          <a:xfrm>
            <a:off x="6629400" y="1280160"/>
            <a:ext cx="5029200" cy="4087368"/>
          </a:xfrm>
          <a:prstGeom prst="rect">
            <a:avLst/>
          </a:prstGeom>
        </p:spPr>
      </p:pic>
      <p:sp>
        <p:nvSpPr>
          <p:cNvPr id="8" name="Text 4"/>
          <p:cNvSpPr txBox="1"/>
          <p:nvPr/>
        </p:nvSpPr>
        <p:spPr>
          <a:xfrm>
            <a:off x="6675120" y="5440680"/>
            <a:ext cx="4937760" cy="320040"/>
          </a:xfrm>
          <a:prstGeom prst="rect">
            <a:avLst/>
          </a:prstGeom>
          <a:noFill/>
          <a:ln/>
        </p:spPr>
        <p:txBody>
          <a:bodyPr wrap="square" lIns="0" tIns="0" rIns="0" bIns="0" rtlCol="0" anchor="t"/>
          <a:lstStyle/>
          <a:p>
            <a:pPr algn="ctr" indent="0" marL="0">
              <a:buNone/>
            </a:pPr>
            <a:r>
              <a:rPr lang="en-US" sz="1400" b="1" dirty="0">
                <a:solidFill>
                  <a:srgbClr val="6A0DAD"/>
                </a:solidFill>
                <a:latin typeface="Calibri" pitchFamily="34" charset="0"/>
                <a:ea typeface="Calibri" pitchFamily="34" charset="-122"/>
                <a:cs typeface="Calibri" pitchFamily="34" charset="-120"/>
              </a:rPr>
              <a:t>Las relaciones se vuelven direcciones en el espacio</a:t>
            </a:r>
            <a:endParaRPr lang="en-US" sz="14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¿Cómo medimos cercanía y cómo se aprenden?</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NOTEBOOK 06</a:t>
            </a:r>
            <a:endParaRPr lang="en-US" sz="1100" dirty="0"/>
          </a:p>
        </p:txBody>
      </p:sp>
      <p:pic>
        <p:nvPicPr>
          <p:cNvPr id="4" name="Image 0" descr="/home/claude/deck/img/coseno.png">    </p:cNvPr>
          <p:cNvPicPr>
            <a:picLocks noChangeAspect="1"/>
          </p:cNvPicPr>
          <p:nvPr/>
        </p:nvPicPr>
        <p:blipFill>
          <a:blip r:embed="rId1"/>
          <a:stretch>
            <a:fillRect/>
          </a:stretch>
        </p:blipFill>
        <p:spPr>
          <a:xfrm>
            <a:off x="411480" y="1325880"/>
            <a:ext cx="4572000" cy="3044952"/>
          </a:xfrm>
          <a:prstGeom prst="rect">
            <a:avLst/>
          </a:prstGeom>
        </p:spPr>
      </p:pic>
      <p:sp>
        <p:nvSpPr>
          <p:cNvPr id="5" name="Shape 2"/>
          <p:cNvSpPr/>
          <p:nvPr/>
        </p:nvSpPr>
        <p:spPr>
          <a:xfrm>
            <a:off x="548640" y="4480560"/>
            <a:ext cx="4389120" cy="1463040"/>
          </a:xfrm>
          <a:prstGeom prst="roundRect">
            <a:avLst>
              <a:gd name="adj" fmla="val 6250"/>
            </a:avLst>
          </a:prstGeom>
          <a:solidFill>
            <a:srgbClr val="241033"/>
          </a:solidFill>
          <a:ln w="12700">
            <a:solidFill>
              <a:srgbClr val="241033"/>
            </a:solidFill>
            <a:prstDash val="solid"/>
          </a:ln>
        </p:spPr>
      </p:sp>
      <p:sp>
        <p:nvSpPr>
          <p:cNvPr id="6" name="Text 3"/>
          <p:cNvSpPr txBox="1"/>
          <p:nvPr/>
        </p:nvSpPr>
        <p:spPr>
          <a:xfrm>
            <a:off x="777240" y="4645152"/>
            <a:ext cx="3931920" cy="1133856"/>
          </a:xfrm>
          <a:prstGeom prst="rect">
            <a:avLst/>
          </a:prstGeom>
          <a:noFill/>
          <a:ln/>
        </p:spPr>
        <p:txBody>
          <a:bodyPr wrap="square" lIns="0" tIns="0" rIns="0" bIns="0" rtlCol="0" anchor="t"/>
          <a:lstStyle/>
          <a:p>
            <a:pPr indent="0" marL="0">
              <a:spcAft>
                <a:spcPts val="200"/>
              </a:spcAft>
              <a:buNone/>
            </a:pPr>
            <a:r>
              <a:rPr lang="en-US" sz="1300" dirty="0">
                <a:solidFill>
                  <a:srgbClr val="EDE4F7"/>
                </a:solidFill>
                <a:latin typeface="Courier New" pitchFamily="34" charset="0"/>
                <a:ea typeface="Courier New" pitchFamily="34" charset="-122"/>
                <a:cs typeface="Courier New" pitchFamily="34" charset="-120"/>
              </a:rPr>
              <a:t>sim(u, v) = (u · v) / (‖u‖ · ‖v‖)</a:t>
            </a:r>
            <a:endParaRPr lang="en-US" sz="1300" dirty="0"/>
          </a:p>
          <a:p>
            <a:pPr indent="0" marL="0">
              <a:spcAft>
                <a:spcPts val="200"/>
              </a:spcAft>
              <a:buNone/>
            </a:pPr>
            <a:endParaRPr lang="en-US" sz="1300" dirty="0"/>
          </a:p>
          <a:p>
            <a:pPr indent="0" marL="0">
              <a:spcAft>
                <a:spcPts val="200"/>
              </a:spcAft>
              <a:buNone/>
            </a:pPr>
            <a:r>
              <a:rPr lang="en-US" sz="1300" dirty="0">
                <a:solidFill>
                  <a:srgbClr val="EDE4F7"/>
                </a:solidFill>
                <a:latin typeface="Courier New" pitchFamily="34" charset="0"/>
                <a:ea typeface="Courier New" pitchFamily="34" charset="-122"/>
                <a:cs typeface="Courier New" pitchFamily="34" charset="-120"/>
              </a:rPr>
              <a:t> 1 → misma dirección</a:t>
            </a:r>
            <a:endParaRPr lang="en-US" sz="1300" dirty="0"/>
          </a:p>
          <a:p>
            <a:pPr indent="0" marL="0">
              <a:spcAft>
                <a:spcPts val="200"/>
              </a:spcAft>
              <a:buNone/>
            </a:pPr>
            <a:r>
              <a:rPr lang="en-US" sz="1300" dirty="0">
                <a:solidFill>
                  <a:srgbClr val="EDE4F7"/>
                </a:solidFill>
                <a:latin typeface="Courier New" pitchFamily="34" charset="0"/>
                <a:ea typeface="Courier New" pitchFamily="34" charset="-122"/>
                <a:cs typeface="Courier New" pitchFamily="34" charset="-120"/>
              </a:rPr>
              <a:t> 0 → sin relación</a:t>
            </a:r>
            <a:endParaRPr lang="en-US" sz="1300" dirty="0"/>
          </a:p>
          <a:p>
            <a:pPr indent="0" marL="0">
              <a:spcAft>
                <a:spcPts val="200"/>
              </a:spcAft>
              <a:buNone/>
            </a:pPr>
            <a:r>
              <a:rPr lang="en-US" sz="1300" dirty="0">
                <a:solidFill>
                  <a:srgbClr val="EDE4F7"/>
                </a:solidFill>
                <a:latin typeface="Courier New" pitchFamily="34" charset="0"/>
                <a:ea typeface="Courier New" pitchFamily="34" charset="-122"/>
                <a:cs typeface="Courier New" pitchFamily="34" charset="-120"/>
              </a:rPr>
              <a:t>-1 → dirección opuesta</a:t>
            </a:r>
            <a:endParaRPr lang="en-US" sz="1300" dirty="0"/>
          </a:p>
        </p:txBody>
      </p:sp>
      <p:sp>
        <p:nvSpPr>
          <p:cNvPr id="7" name="Shape 4"/>
          <p:cNvSpPr/>
          <p:nvPr/>
        </p:nvSpPr>
        <p:spPr>
          <a:xfrm>
            <a:off x="5440680" y="1371600"/>
            <a:ext cx="6172200" cy="1005840"/>
          </a:xfrm>
          <a:prstGeom prst="roundRect">
            <a:avLst>
              <a:gd name="adj" fmla="val 10909"/>
            </a:avLst>
          </a:prstGeom>
          <a:solidFill>
            <a:srgbClr val="F4EEFA"/>
          </a:solidFill>
          <a:ln w="12700">
            <a:solidFill>
              <a:srgbClr val="F4EEFA"/>
            </a:solidFill>
            <a:prstDash val="solid"/>
          </a:ln>
        </p:spPr>
      </p:sp>
      <p:sp>
        <p:nvSpPr>
          <p:cNvPr id="8" name="Text 5"/>
          <p:cNvSpPr txBox="1"/>
          <p:nvPr/>
        </p:nvSpPr>
        <p:spPr>
          <a:xfrm>
            <a:off x="5623560" y="1371600"/>
            <a:ext cx="1737360" cy="1005840"/>
          </a:xfrm>
          <a:prstGeom prst="rect">
            <a:avLst/>
          </a:prstGeom>
          <a:noFill/>
          <a:ln/>
        </p:spPr>
        <p:txBody>
          <a:bodyPr wrap="square" lIns="0" tIns="0" rIns="0" bIns="0" rtlCol="0" anchor="ctr"/>
          <a:lstStyle/>
          <a:p>
            <a:pPr indent="0" marL="0">
              <a:buNone/>
            </a:pPr>
            <a:r>
              <a:rPr lang="en-US" sz="1700" b="1" dirty="0">
                <a:solidFill>
                  <a:srgbClr val="6A0DAD"/>
                </a:solidFill>
                <a:latin typeface="Calibri" pitchFamily="34" charset="0"/>
                <a:ea typeface="Calibri" pitchFamily="34" charset="-122"/>
                <a:cs typeface="Calibri" pitchFamily="34" charset="-120"/>
              </a:rPr>
              <a:t>Word2Vec</a:t>
            </a:r>
            <a:endParaRPr lang="en-US" sz="1700" dirty="0"/>
          </a:p>
        </p:txBody>
      </p:sp>
      <p:sp>
        <p:nvSpPr>
          <p:cNvPr id="9" name="Text 6"/>
          <p:cNvSpPr txBox="1"/>
          <p:nvPr/>
        </p:nvSpPr>
        <p:spPr>
          <a:xfrm>
            <a:off x="7406640" y="1371600"/>
            <a:ext cx="4069080" cy="1005840"/>
          </a:xfrm>
          <a:prstGeom prst="rect">
            <a:avLst/>
          </a:prstGeom>
          <a:noFill/>
          <a:ln/>
        </p:spPr>
        <p:txBody>
          <a:bodyPr wrap="square" lIns="0" tIns="0" rIns="0" bIns="0" rtlCol="0" anchor="ctr"/>
          <a:lstStyle/>
          <a:p>
            <a:pPr indent="0" marL="0">
              <a:buNone/>
            </a:pPr>
            <a:r>
              <a:rPr lang="en-US" sz="1300" dirty="0">
                <a:solidFill>
                  <a:srgbClr val="241033"/>
                </a:solidFill>
                <a:latin typeface="Calibri" pitchFamily="34" charset="0"/>
                <a:ea typeface="Calibri" pitchFamily="34" charset="-122"/>
                <a:cs typeface="Calibri" pitchFamily="34" charset="-120"/>
              </a:rPr>
              <a:t>CBOW predice la palabra a partir de su contexto; Skip-gram predice el contexto a partir de la palabra (mejor con palabras raras).</a:t>
            </a:r>
            <a:endParaRPr lang="en-US" sz="1300" dirty="0"/>
          </a:p>
        </p:txBody>
      </p:sp>
      <p:sp>
        <p:nvSpPr>
          <p:cNvPr id="10" name="Shape 7"/>
          <p:cNvSpPr/>
          <p:nvPr/>
        </p:nvSpPr>
        <p:spPr>
          <a:xfrm>
            <a:off x="5440680" y="2514600"/>
            <a:ext cx="6172200" cy="1005840"/>
          </a:xfrm>
          <a:prstGeom prst="roundRect">
            <a:avLst>
              <a:gd name="adj" fmla="val 10909"/>
            </a:avLst>
          </a:prstGeom>
          <a:solidFill>
            <a:srgbClr val="F4EEFA"/>
          </a:solidFill>
          <a:ln w="12700">
            <a:solidFill>
              <a:srgbClr val="F4EEFA"/>
            </a:solidFill>
            <a:prstDash val="solid"/>
          </a:ln>
        </p:spPr>
      </p:sp>
      <p:sp>
        <p:nvSpPr>
          <p:cNvPr id="11" name="Text 8"/>
          <p:cNvSpPr txBox="1"/>
          <p:nvPr/>
        </p:nvSpPr>
        <p:spPr>
          <a:xfrm>
            <a:off x="5623560" y="2514600"/>
            <a:ext cx="1737360" cy="1005840"/>
          </a:xfrm>
          <a:prstGeom prst="rect">
            <a:avLst/>
          </a:prstGeom>
          <a:noFill/>
          <a:ln/>
        </p:spPr>
        <p:txBody>
          <a:bodyPr wrap="square" lIns="0" tIns="0" rIns="0" bIns="0" rtlCol="0" anchor="ctr"/>
          <a:lstStyle/>
          <a:p>
            <a:pPr indent="0" marL="0">
              <a:buNone/>
            </a:pPr>
            <a:r>
              <a:rPr lang="en-US" sz="1700" b="1" dirty="0">
                <a:solidFill>
                  <a:srgbClr val="6A0DAD"/>
                </a:solidFill>
                <a:latin typeface="Calibri" pitchFamily="34" charset="0"/>
                <a:ea typeface="Calibri" pitchFamily="34" charset="-122"/>
                <a:cs typeface="Calibri" pitchFamily="34" charset="-120"/>
              </a:rPr>
              <a:t>GloVe</a:t>
            </a:r>
            <a:endParaRPr lang="en-US" sz="1700" dirty="0"/>
          </a:p>
        </p:txBody>
      </p:sp>
      <p:sp>
        <p:nvSpPr>
          <p:cNvPr id="12" name="Text 9"/>
          <p:cNvSpPr txBox="1"/>
          <p:nvPr/>
        </p:nvSpPr>
        <p:spPr>
          <a:xfrm>
            <a:off x="7406640" y="2514600"/>
            <a:ext cx="4069080" cy="1005840"/>
          </a:xfrm>
          <a:prstGeom prst="rect">
            <a:avLst/>
          </a:prstGeom>
          <a:noFill/>
          <a:ln/>
        </p:spPr>
        <p:txBody>
          <a:bodyPr wrap="square" lIns="0" tIns="0" rIns="0" bIns="0" rtlCol="0" anchor="ctr"/>
          <a:lstStyle/>
          <a:p>
            <a:pPr indent="0" marL="0">
              <a:buNone/>
            </a:pPr>
            <a:r>
              <a:rPr lang="en-US" sz="1300" dirty="0">
                <a:solidFill>
                  <a:srgbClr val="241033"/>
                </a:solidFill>
                <a:latin typeface="Calibri" pitchFamily="34" charset="0"/>
                <a:ea typeface="Calibri" pitchFamily="34" charset="-122"/>
                <a:cs typeface="Calibri" pitchFamily="34" charset="-120"/>
              </a:rPr>
              <a:t>Usa estadísticas globales de co-ocurrencia de todo el corpus (factorización de matrices).</a:t>
            </a:r>
            <a:endParaRPr lang="en-US" sz="1300" dirty="0"/>
          </a:p>
        </p:txBody>
      </p:sp>
      <p:sp>
        <p:nvSpPr>
          <p:cNvPr id="13" name="Shape 10"/>
          <p:cNvSpPr/>
          <p:nvPr/>
        </p:nvSpPr>
        <p:spPr>
          <a:xfrm>
            <a:off x="5440680" y="3657600"/>
            <a:ext cx="6172200" cy="1005840"/>
          </a:xfrm>
          <a:prstGeom prst="roundRect">
            <a:avLst>
              <a:gd name="adj" fmla="val 10909"/>
            </a:avLst>
          </a:prstGeom>
          <a:solidFill>
            <a:srgbClr val="F4EEFA"/>
          </a:solidFill>
          <a:ln w="12700">
            <a:solidFill>
              <a:srgbClr val="F4EEFA"/>
            </a:solidFill>
            <a:prstDash val="solid"/>
          </a:ln>
        </p:spPr>
      </p:sp>
      <p:sp>
        <p:nvSpPr>
          <p:cNvPr id="14" name="Text 11"/>
          <p:cNvSpPr txBox="1"/>
          <p:nvPr/>
        </p:nvSpPr>
        <p:spPr>
          <a:xfrm>
            <a:off x="5623560" y="3657600"/>
            <a:ext cx="1737360" cy="1005840"/>
          </a:xfrm>
          <a:prstGeom prst="rect">
            <a:avLst/>
          </a:prstGeom>
          <a:noFill/>
          <a:ln/>
        </p:spPr>
        <p:txBody>
          <a:bodyPr wrap="square" lIns="0" tIns="0" rIns="0" bIns="0" rtlCol="0" anchor="ctr"/>
          <a:lstStyle/>
          <a:p>
            <a:pPr indent="0" marL="0">
              <a:buNone/>
            </a:pPr>
            <a:r>
              <a:rPr lang="en-US" sz="1700" b="1" dirty="0">
                <a:solidFill>
                  <a:srgbClr val="6A0DAD"/>
                </a:solidFill>
                <a:latin typeface="Calibri" pitchFamily="34" charset="0"/>
                <a:ea typeface="Calibri" pitchFamily="34" charset="-122"/>
                <a:cs typeface="Calibri" pitchFamily="34" charset="-120"/>
              </a:rPr>
              <a:t>FastText</a:t>
            </a:r>
            <a:endParaRPr lang="en-US" sz="1700" dirty="0"/>
          </a:p>
        </p:txBody>
      </p:sp>
      <p:sp>
        <p:nvSpPr>
          <p:cNvPr id="15" name="Text 12"/>
          <p:cNvSpPr txBox="1"/>
          <p:nvPr/>
        </p:nvSpPr>
        <p:spPr>
          <a:xfrm>
            <a:off x="7406640" y="3657600"/>
            <a:ext cx="4069080" cy="1005840"/>
          </a:xfrm>
          <a:prstGeom prst="rect">
            <a:avLst/>
          </a:prstGeom>
          <a:noFill/>
          <a:ln/>
        </p:spPr>
        <p:txBody>
          <a:bodyPr wrap="square" lIns="0" tIns="0" rIns="0" bIns="0" rtlCol="0" anchor="ctr"/>
          <a:lstStyle/>
          <a:p>
            <a:pPr indent="0" marL="0">
              <a:buNone/>
            </a:pPr>
            <a:r>
              <a:rPr lang="en-US" sz="1300" dirty="0">
                <a:solidFill>
                  <a:srgbClr val="241033"/>
                </a:solidFill>
                <a:latin typeface="Calibri" pitchFamily="34" charset="0"/>
                <a:ea typeface="Calibri" pitchFamily="34" charset="-122"/>
                <a:cs typeface="Calibri" pitchFamily="34" charset="-120"/>
              </a:rPr>
              <a:t>Divide las palabras en n-gramas de caracteres: maneja palabras raras y fuera de vocabulario.</a:t>
            </a:r>
            <a:endParaRPr lang="en-US" sz="1300" dirty="0"/>
          </a:p>
        </p:txBody>
      </p:sp>
      <p:sp>
        <p:nvSpPr>
          <p:cNvPr id="16" name="Shape 13"/>
          <p:cNvSpPr/>
          <p:nvPr/>
        </p:nvSpPr>
        <p:spPr>
          <a:xfrm>
            <a:off x="5440680" y="4800600"/>
            <a:ext cx="6172200" cy="1005840"/>
          </a:xfrm>
          <a:prstGeom prst="roundRect">
            <a:avLst>
              <a:gd name="adj" fmla="val 10909"/>
            </a:avLst>
          </a:prstGeom>
          <a:solidFill>
            <a:srgbClr val="241033"/>
          </a:solidFill>
          <a:ln w="12700">
            <a:solidFill>
              <a:srgbClr val="241033"/>
            </a:solidFill>
            <a:prstDash val="solid"/>
          </a:ln>
        </p:spPr>
      </p:sp>
      <p:sp>
        <p:nvSpPr>
          <p:cNvPr id="17" name="Text 14"/>
          <p:cNvSpPr txBox="1"/>
          <p:nvPr/>
        </p:nvSpPr>
        <p:spPr>
          <a:xfrm>
            <a:off x="5623560" y="4800600"/>
            <a:ext cx="1737360" cy="1005840"/>
          </a:xfrm>
          <a:prstGeom prst="rect">
            <a:avLst/>
          </a:prstGeom>
          <a:noFill/>
          <a:ln/>
        </p:spPr>
        <p:txBody>
          <a:bodyPr wrap="square" lIns="0" tIns="0" rIns="0" bIns="0" rtlCol="0" anchor="ctr"/>
          <a:lstStyle/>
          <a:p>
            <a:pPr indent="0" marL="0">
              <a:buNone/>
            </a:pPr>
            <a:r>
              <a:rPr lang="en-US" sz="1700" b="1" dirty="0">
                <a:solidFill>
                  <a:srgbClr val="C400C4"/>
                </a:solidFill>
                <a:latin typeface="Calibri" pitchFamily="34" charset="0"/>
                <a:ea typeface="Calibri" pitchFamily="34" charset="-122"/>
                <a:cs typeface="Calibri" pitchFamily="34" charset="-120"/>
              </a:rPr>
              <a:t>Capa Embedding</a:t>
            </a:r>
            <a:endParaRPr lang="en-US" sz="1700" dirty="0"/>
          </a:p>
        </p:txBody>
      </p:sp>
      <p:sp>
        <p:nvSpPr>
          <p:cNvPr id="18" name="Text 15"/>
          <p:cNvSpPr txBox="1"/>
          <p:nvPr/>
        </p:nvSpPr>
        <p:spPr>
          <a:xfrm>
            <a:off x="7406640" y="4800600"/>
            <a:ext cx="4069080" cy="10058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Lo que haremos hoy: los vectores se aprenden durante el entrenamiento de nuestra propia tarea.</a:t>
            </a:r>
            <a:endParaRPr lang="en-US" sz="1300" dirty="0"/>
          </a:p>
        </p:txBody>
      </p:sp>
      <p:sp>
        <p:nvSpPr>
          <p:cNvPr id="19" name="Text 16"/>
          <p:cNvSpPr txBox="1"/>
          <p:nvPr/>
        </p:nvSpPr>
        <p:spPr>
          <a:xfrm>
            <a:off x="5440680" y="5943600"/>
            <a:ext cx="6172200" cy="274320"/>
          </a:xfrm>
          <a:prstGeom prst="rect">
            <a:avLst/>
          </a:prstGeom>
          <a:noFill/>
          <a:ln/>
        </p:spPr>
        <p:txBody>
          <a:bodyPr wrap="square" lIns="0" tIns="0" rIns="0" bIns="0" rtlCol="0" anchor="t"/>
          <a:lstStyle/>
          <a:p>
            <a:pPr indent="0" marL="0">
              <a:buNone/>
            </a:pPr>
            <a:r>
              <a:rPr lang="en-US" sz="1200" i="1" dirty="0">
                <a:solidFill>
                  <a:srgbClr val="6E6480"/>
                </a:solidFill>
                <a:latin typeface="Calibri" pitchFamily="34" charset="0"/>
                <a:ea typeface="Calibri" pitchFamily="34" charset="-122"/>
                <a:cs typeface="Calibri" pitchFamily="34" charset="-120"/>
              </a:rPr>
              <a:t>Idea común: palabras usadas en contextos parecidos terminan con vectores parecidos.</a:t>
            </a:r>
            <a:endParaRPr lang="en-US" sz="12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La capa Embedding: una tabla de búsqueda entrenable</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NOTEBOOK 06</a:t>
            </a:r>
            <a:endParaRPr lang="en-US" sz="1100" dirty="0"/>
          </a:p>
        </p:txBody>
      </p:sp>
      <p:sp>
        <p:nvSpPr>
          <p:cNvPr id="4" name="Shape 2"/>
          <p:cNvSpPr/>
          <p:nvPr/>
        </p:nvSpPr>
        <p:spPr>
          <a:xfrm>
            <a:off x="548640" y="1417320"/>
            <a:ext cx="1965960" cy="1600200"/>
          </a:xfrm>
          <a:prstGeom prst="roundRect">
            <a:avLst>
              <a:gd name="adj" fmla="val 6857"/>
            </a:avLst>
          </a:prstGeom>
          <a:solidFill>
            <a:srgbClr val="F4EEFA"/>
          </a:solidFill>
          <a:ln w="12700">
            <a:solidFill>
              <a:srgbClr val="F4EEFA"/>
            </a:solidFill>
            <a:prstDash val="solid"/>
          </a:ln>
        </p:spPr>
      </p:sp>
      <p:sp>
        <p:nvSpPr>
          <p:cNvPr id="5" name="Text 3"/>
          <p:cNvSpPr txBox="1"/>
          <p:nvPr/>
        </p:nvSpPr>
        <p:spPr>
          <a:xfrm>
            <a:off x="685800" y="1508760"/>
            <a:ext cx="1691640" cy="411480"/>
          </a:xfrm>
          <a:prstGeom prst="rect">
            <a:avLst/>
          </a:prstGeom>
          <a:noFill/>
          <a:ln/>
        </p:spPr>
        <p:txBody>
          <a:bodyPr wrap="square" lIns="0" tIns="0" rIns="0" bIns="0" rtlCol="0" anchor="t"/>
          <a:lstStyle/>
          <a:p>
            <a:pPr algn="ctr" indent="0" marL="0">
              <a:buNone/>
            </a:pPr>
            <a:r>
              <a:rPr lang="en-US" sz="1700" b="1" dirty="0">
                <a:solidFill>
                  <a:srgbClr val="241033"/>
                </a:solidFill>
                <a:latin typeface="Calibri" pitchFamily="34" charset="0"/>
                <a:ea typeface="Calibri" pitchFamily="34" charset="-122"/>
                <a:cs typeface="Calibri" pitchFamily="34" charset="-120"/>
              </a:rPr>
              <a:t>Índices</a:t>
            </a:r>
            <a:endParaRPr lang="en-US" sz="1700" dirty="0"/>
          </a:p>
        </p:txBody>
      </p:sp>
      <p:sp>
        <p:nvSpPr>
          <p:cNvPr id="6" name="Text 4"/>
          <p:cNvSpPr txBox="1"/>
          <p:nvPr/>
        </p:nvSpPr>
        <p:spPr>
          <a:xfrm>
            <a:off x="685800" y="1938528"/>
            <a:ext cx="1691640" cy="365760"/>
          </a:xfrm>
          <a:prstGeom prst="rect">
            <a:avLst/>
          </a:prstGeom>
          <a:noFill/>
          <a:ln/>
        </p:spPr>
        <p:txBody>
          <a:bodyPr wrap="square" lIns="0" tIns="0" rIns="0" bIns="0" rtlCol="0" anchor="t"/>
          <a:lstStyle/>
          <a:p>
            <a:pPr algn="ctr" indent="0" marL="0">
              <a:buNone/>
            </a:pPr>
            <a:r>
              <a:rPr lang="en-US" sz="1300" b="1" dirty="0">
                <a:solidFill>
                  <a:srgbClr val="C400C4"/>
                </a:solidFill>
                <a:latin typeface="Courier New" pitchFamily="34" charset="0"/>
                <a:ea typeface="Courier New" pitchFamily="34" charset="-122"/>
                <a:cs typeface="Courier New" pitchFamily="34" charset="-120"/>
              </a:rPr>
              <a:t>(batch, len)</a:t>
            </a:r>
            <a:endParaRPr lang="en-US" sz="1300" dirty="0"/>
          </a:p>
        </p:txBody>
      </p:sp>
      <p:sp>
        <p:nvSpPr>
          <p:cNvPr id="7" name="Text 5"/>
          <p:cNvSpPr txBox="1"/>
          <p:nvPr/>
        </p:nvSpPr>
        <p:spPr>
          <a:xfrm>
            <a:off x="685800" y="2331720"/>
            <a:ext cx="1691640" cy="594360"/>
          </a:xfrm>
          <a:prstGeom prst="rect">
            <a:avLst/>
          </a:prstGeom>
          <a:noFill/>
          <a:ln/>
        </p:spPr>
        <p:txBody>
          <a:bodyPr wrap="square" lIns="0" tIns="0" rIns="0" bIns="0" rtlCol="0" anchor="t"/>
          <a:lstStyle/>
          <a:p>
            <a:pPr algn="ctr" indent="0" marL="0">
              <a:buNone/>
            </a:pPr>
            <a:r>
              <a:rPr lang="en-US" sz="1200" dirty="0">
                <a:solidFill>
                  <a:srgbClr val="3D3350"/>
                </a:solidFill>
                <a:latin typeface="Calibri" pitchFamily="34" charset="0"/>
                <a:ea typeface="Calibri" pitchFamily="34" charset="-122"/>
                <a:cs typeface="Calibri" pitchFamily="34" charset="-120"/>
              </a:rPr>
              <a:t>[2, 17, 25, 0]</a:t>
            </a:r>
            <a:endParaRPr lang="en-US" sz="1200" dirty="0"/>
          </a:p>
        </p:txBody>
      </p:sp>
      <p:sp>
        <p:nvSpPr>
          <p:cNvPr id="8" name="Shape 6"/>
          <p:cNvSpPr/>
          <p:nvPr/>
        </p:nvSpPr>
        <p:spPr>
          <a:xfrm>
            <a:off x="2542032" y="2075688"/>
            <a:ext cx="246888" cy="292608"/>
          </a:xfrm>
          <a:prstGeom prst="rightArrow">
            <a:avLst/>
          </a:prstGeom>
          <a:solidFill>
            <a:srgbClr val="B98BE0"/>
          </a:solidFill>
          <a:ln w="12700">
            <a:solidFill>
              <a:srgbClr val="B98BE0"/>
            </a:solidFill>
            <a:prstDash val="solid"/>
          </a:ln>
        </p:spPr>
      </p:sp>
      <p:sp>
        <p:nvSpPr>
          <p:cNvPr id="9" name="Shape 7"/>
          <p:cNvSpPr/>
          <p:nvPr/>
        </p:nvSpPr>
        <p:spPr>
          <a:xfrm>
            <a:off x="2816352" y="1417320"/>
            <a:ext cx="1965960" cy="1600200"/>
          </a:xfrm>
          <a:prstGeom prst="roundRect">
            <a:avLst>
              <a:gd name="adj" fmla="val 6857"/>
            </a:avLst>
          </a:prstGeom>
          <a:solidFill>
            <a:srgbClr val="6A0DAD"/>
          </a:solidFill>
          <a:ln w="12700">
            <a:solidFill>
              <a:srgbClr val="6A0DAD"/>
            </a:solidFill>
            <a:prstDash val="solid"/>
          </a:ln>
        </p:spPr>
      </p:sp>
      <p:sp>
        <p:nvSpPr>
          <p:cNvPr id="10" name="Text 8"/>
          <p:cNvSpPr txBox="1"/>
          <p:nvPr/>
        </p:nvSpPr>
        <p:spPr>
          <a:xfrm>
            <a:off x="2953512" y="1508760"/>
            <a:ext cx="1691640" cy="41148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Embedding</a:t>
            </a:r>
            <a:endParaRPr lang="en-US" sz="1700" dirty="0"/>
          </a:p>
        </p:txBody>
      </p:sp>
      <p:sp>
        <p:nvSpPr>
          <p:cNvPr id="11" name="Text 9"/>
          <p:cNvSpPr txBox="1"/>
          <p:nvPr/>
        </p:nvSpPr>
        <p:spPr>
          <a:xfrm>
            <a:off x="2953512" y="1938528"/>
            <a:ext cx="1691640" cy="365760"/>
          </a:xfrm>
          <a:prstGeom prst="rect">
            <a:avLst/>
          </a:prstGeom>
          <a:noFill/>
          <a:ln/>
        </p:spPr>
        <p:txBody>
          <a:bodyPr wrap="square" lIns="0" tIns="0" rIns="0" bIns="0" rtlCol="0" anchor="t"/>
          <a:lstStyle/>
          <a:p>
            <a:pPr algn="ctr" indent="0" marL="0">
              <a:buNone/>
            </a:pPr>
            <a:r>
              <a:rPr lang="en-US" sz="1300" b="1" dirty="0">
                <a:solidFill>
                  <a:srgbClr val="F1D6FF"/>
                </a:solidFill>
                <a:latin typeface="Courier New" pitchFamily="34" charset="0"/>
                <a:ea typeface="Courier New" pitchFamily="34" charset="-122"/>
                <a:cs typeface="Courier New" pitchFamily="34" charset="-120"/>
              </a:rPr>
              <a:t>W: V × d</a:t>
            </a:r>
            <a:endParaRPr lang="en-US" sz="1300" dirty="0"/>
          </a:p>
        </p:txBody>
      </p:sp>
      <p:sp>
        <p:nvSpPr>
          <p:cNvPr id="12" name="Text 10"/>
          <p:cNvSpPr txBox="1"/>
          <p:nvPr/>
        </p:nvSpPr>
        <p:spPr>
          <a:xfrm>
            <a:off x="2953512" y="2331720"/>
            <a:ext cx="1691640" cy="594360"/>
          </a:xfrm>
          <a:prstGeom prst="rect">
            <a:avLst/>
          </a:prstGeom>
          <a:noFill/>
          <a:ln/>
        </p:spPr>
        <p:txBody>
          <a:bodyPr wrap="square" lIns="0" tIns="0" rIns="0" bIns="0" rtlCol="0" anchor="t"/>
          <a:lstStyle/>
          <a:p>
            <a:pPr algn="ctr" indent="0" marL="0">
              <a:buNone/>
            </a:pPr>
            <a:r>
              <a:rPr lang="en-US" sz="1200" dirty="0">
                <a:solidFill>
                  <a:srgbClr val="FFFFFF"/>
                </a:solidFill>
                <a:latin typeface="Calibri" pitchFamily="34" charset="0"/>
                <a:ea typeface="Calibri" pitchFamily="34" charset="-122"/>
                <a:cs typeface="Calibri" pitchFamily="34" charset="-120"/>
              </a:rPr>
              <a:t>fila i = vector del token i</a:t>
            </a:r>
            <a:endParaRPr lang="en-US" sz="1200" dirty="0"/>
          </a:p>
        </p:txBody>
      </p:sp>
      <p:sp>
        <p:nvSpPr>
          <p:cNvPr id="13" name="Shape 11"/>
          <p:cNvSpPr/>
          <p:nvPr/>
        </p:nvSpPr>
        <p:spPr>
          <a:xfrm>
            <a:off x="4809744" y="2075688"/>
            <a:ext cx="246888" cy="292608"/>
          </a:xfrm>
          <a:prstGeom prst="rightArrow">
            <a:avLst/>
          </a:prstGeom>
          <a:solidFill>
            <a:srgbClr val="B98BE0"/>
          </a:solidFill>
          <a:ln w="12700">
            <a:solidFill>
              <a:srgbClr val="B98BE0"/>
            </a:solidFill>
            <a:prstDash val="solid"/>
          </a:ln>
        </p:spPr>
      </p:sp>
      <p:sp>
        <p:nvSpPr>
          <p:cNvPr id="14" name="Shape 12"/>
          <p:cNvSpPr/>
          <p:nvPr/>
        </p:nvSpPr>
        <p:spPr>
          <a:xfrm>
            <a:off x="5084064" y="1417320"/>
            <a:ext cx="1965960" cy="1600200"/>
          </a:xfrm>
          <a:prstGeom prst="roundRect">
            <a:avLst>
              <a:gd name="adj" fmla="val 6857"/>
            </a:avLst>
          </a:prstGeom>
          <a:solidFill>
            <a:srgbClr val="F4EEFA"/>
          </a:solidFill>
          <a:ln w="12700">
            <a:solidFill>
              <a:srgbClr val="F4EEFA"/>
            </a:solidFill>
            <a:prstDash val="solid"/>
          </a:ln>
        </p:spPr>
      </p:sp>
      <p:sp>
        <p:nvSpPr>
          <p:cNvPr id="15" name="Text 13"/>
          <p:cNvSpPr txBox="1"/>
          <p:nvPr/>
        </p:nvSpPr>
        <p:spPr>
          <a:xfrm>
            <a:off x="5221224" y="1508760"/>
            <a:ext cx="1691640" cy="411480"/>
          </a:xfrm>
          <a:prstGeom prst="rect">
            <a:avLst/>
          </a:prstGeom>
          <a:noFill/>
          <a:ln/>
        </p:spPr>
        <p:txBody>
          <a:bodyPr wrap="square" lIns="0" tIns="0" rIns="0" bIns="0" rtlCol="0" anchor="t"/>
          <a:lstStyle/>
          <a:p>
            <a:pPr algn="ctr" indent="0" marL="0">
              <a:buNone/>
            </a:pPr>
            <a:r>
              <a:rPr lang="en-US" sz="1700" b="1" dirty="0">
                <a:solidFill>
                  <a:srgbClr val="241033"/>
                </a:solidFill>
                <a:latin typeface="Calibri" pitchFamily="34" charset="0"/>
                <a:ea typeface="Calibri" pitchFamily="34" charset="-122"/>
                <a:cs typeface="Calibri" pitchFamily="34" charset="-120"/>
              </a:rPr>
              <a:t>Vectores</a:t>
            </a:r>
            <a:endParaRPr lang="en-US" sz="1700" dirty="0"/>
          </a:p>
        </p:txBody>
      </p:sp>
      <p:sp>
        <p:nvSpPr>
          <p:cNvPr id="16" name="Text 14"/>
          <p:cNvSpPr txBox="1"/>
          <p:nvPr/>
        </p:nvSpPr>
        <p:spPr>
          <a:xfrm>
            <a:off x="5221224" y="1938528"/>
            <a:ext cx="1691640" cy="365760"/>
          </a:xfrm>
          <a:prstGeom prst="rect">
            <a:avLst/>
          </a:prstGeom>
          <a:noFill/>
          <a:ln/>
        </p:spPr>
        <p:txBody>
          <a:bodyPr wrap="square" lIns="0" tIns="0" rIns="0" bIns="0" rtlCol="0" anchor="t"/>
          <a:lstStyle/>
          <a:p>
            <a:pPr algn="ctr" indent="0" marL="0">
              <a:buNone/>
            </a:pPr>
            <a:r>
              <a:rPr lang="en-US" sz="1300" b="1" dirty="0">
                <a:solidFill>
                  <a:srgbClr val="C400C4"/>
                </a:solidFill>
                <a:latin typeface="Courier New" pitchFamily="34" charset="0"/>
                <a:ea typeface="Courier New" pitchFamily="34" charset="-122"/>
                <a:cs typeface="Courier New" pitchFamily="34" charset="-120"/>
              </a:rPr>
              <a:t>(batch, len, d)</a:t>
            </a:r>
            <a:endParaRPr lang="en-US" sz="1300" dirty="0"/>
          </a:p>
        </p:txBody>
      </p:sp>
      <p:sp>
        <p:nvSpPr>
          <p:cNvPr id="17" name="Text 15"/>
          <p:cNvSpPr txBox="1"/>
          <p:nvPr/>
        </p:nvSpPr>
        <p:spPr>
          <a:xfrm>
            <a:off x="5221224" y="2331720"/>
            <a:ext cx="1691640" cy="594360"/>
          </a:xfrm>
          <a:prstGeom prst="rect">
            <a:avLst/>
          </a:prstGeom>
          <a:noFill/>
          <a:ln/>
        </p:spPr>
        <p:txBody>
          <a:bodyPr wrap="square" lIns="0" tIns="0" rIns="0" bIns="0" rtlCol="0" anchor="t"/>
          <a:lstStyle/>
          <a:p>
            <a:pPr algn="ctr" indent="0" marL="0">
              <a:buNone/>
            </a:pPr>
            <a:r>
              <a:rPr lang="en-US" sz="1200" dirty="0">
                <a:solidFill>
                  <a:srgbClr val="3D3350"/>
                </a:solidFill>
                <a:latin typeface="Calibri" pitchFamily="34" charset="0"/>
                <a:ea typeface="Calibri" pitchFamily="34" charset="-122"/>
                <a:cs typeface="Calibri" pitchFamily="34" charset="-120"/>
              </a:rPr>
              <a:t>un vector por token</a:t>
            </a:r>
            <a:endParaRPr lang="en-US" sz="1200" dirty="0"/>
          </a:p>
        </p:txBody>
      </p:sp>
      <p:sp>
        <p:nvSpPr>
          <p:cNvPr id="18" name="Shape 16"/>
          <p:cNvSpPr/>
          <p:nvPr/>
        </p:nvSpPr>
        <p:spPr>
          <a:xfrm>
            <a:off x="7077456" y="2075688"/>
            <a:ext cx="246888" cy="292608"/>
          </a:xfrm>
          <a:prstGeom prst="rightArrow">
            <a:avLst/>
          </a:prstGeom>
          <a:solidFill>
            <a:srgbClr val="B98BE0"/>
          </a:solidFill>
          <a:ln w="12700">
            <a:solidFill>
              <a:srgbClr val="B98BE0"/>
            </a:solidFill>
            <a:prstDash val="solid"/>
          </a:ln>
        </p:spPr>
      </p:sp>
      <p:sp>
        <p:nvSpPr>
          <p:cNvPr id="19" name="Shape 17"/>
          <p:cNvSpPr/>
          <p:nvPr/>
        </p:nvSpPr>
        <p:spPr>
          <a:xfrm>
            <a:off x="7351776" y="1417320"/>
            <a:ext cx="1965960" cy="1600200"/>
          </a:xfrm>
          <a:prstGeom prst="roundRect">
            <a:avLst>
              <a:gd name="adj" fmla="val 6857"/>
            </a:avLst>
          </a:prstGeom>
          <a:solidFill>
            <a:srgbClr val="F4EEFA"/>
          </a:solidFill>
          <a:ln w="12700">
            <a:solidFill>
              <a:srgbClr val="F4EEFA"/>
            </a:solidFill>
            <a:prstDash val="solid"/>
          </a:ln>
        </p:spPr>
      </p:sp>
      <p:sp>
        <p:nvSpPr>
          <p:cNvPr id="20" name="Text 18"/>
          <p:cNvSpPr txBox="1"/>
          <p:nvPr/>
        </p:nvSpPr>
        <p:spPr>
          <a:xfrm>
            <a:off x="7488936" y="1508760"/>
            <a:ext cx="1691640" cy="411480"/>
          </a:xfrm>
          <a:prstGeom prst="rect">
            <a:avLst/>
          </a:prstGeom>
          <a:noFill/>
          <a:ln/>
        </p:spPr>
        <p:txBody>
          <a:bodyPr wrap="square" lIns="0" tIns="0" rIns="0" bIns="0" rtlCol="0" anchor="t"/>
          <a:lstStyle/>
          <a:p>
            <a:pPr algn="ctr" indent="0" marL="0">
              <a:buNone/>
            </a:pPr>
            <a:r>
              <a:rPr lang="en-US" sz="1700" b="1" dirty="0">
                <a:solidFill>
                  <a:srgbClr val="241033"/>
                </a:solidFill>
                <a:latin typeface="Calibri" pitchFamily="34" charset="0"/>
                <a:ea typeface="Calibri" pitchFamily="34" charset="-122"/>
                <a:cs typeface="Calibri" pitchFamily="34" charset="-120"/>
              </a:rPr>
              <a:t>Pooling</a:t>
            </a:r>
            <a:endParaRPr lang="en-US" sz="1700" dirty="0"/>
          </a:p>
        </p:txBody>
      </p:sp>
      <p:sp>
        <p:nvSpPr>
          <p:cNvPr id="21" name="Text 19"/>
          <p:cNvSpPr txBox="1"/>
          <p:nvPr/>
        </p:nvSpPr>
        <p:spPr>
          <a:xfrm>
            <a:off x="7488936" y="1938528"/>
            <a:ext cx="1691640" cy="365760"/>
          </a:xfrm>
          <a:prstGeom prst="rect">
            <a:avLst/>
          </a:prstGeom>
          <a:noFill/>
          <a:ln/>
        </p:spPr>
        <p:txBody>
          <a:bodyPr wrap="square" lIns="0" tIns="0" rIns="0" bIns="0" rtlCol="0" anchor="t"/>
          <a:lstStyle/>
          <a:p>
            <a:pPr algn="ctr" indent="0" marL="0">
              <a:buNone/>
            </a:pPr>
            <a:r>
              <a:rPr lang="en-US" sz="1300" b="1" dirty="0">
                <a:solidFill>
                  <a:srgbClr val="C400C4"/>
                </a:solidFill>
                <a:latin typeface="Courier New" pitchFamily="34" charset="0"/>
                <a:ea typeface="Courier New" pitchFamily="34" charset="-122"/>
                <a:cs typeface="Courier New" pitchFamily="34" charset="-120"/>
              </a:rPr>
              <a:t>(batch, d)</a:t>
            </a:r>
            <a:endParaRPr lang="en-US" sz="1300" dirty="0"/>
          </a:p>
        </p:txBody>
      </p:sp>
      <p:sp>
        <p:nvSpPr>
          <p:cNvPr id="22" name="Text 20"/>
          <p:cNvSpPr txBox="1"/>
          <p:nvPr/>
        </p:nvSpPr>
        <p:spPr>
          <a:xfrm>
            <a:off x="7488936" y="2331720"/>
            <a:ext cx="1691640" cy="594360"/>
          </a:xfrm>
          <a:prstGeom prst="rect">
            <a:avLst/>
          </a:prstGeom>
          <a:noFill/>
          <a:ln/>
        </p:spPr>
        <p:txBody>
          <a:bodyPr wrap="square" lIns="0" tIns="0" rIns="0" bIns="0" rtlCol="0" anchor="t"/>
          <a:lstStyle/>
          <a:p>
            <a:pPr algn="ctr" indent="0" marL="0">
              <a:buNone/>
            </a:pPr>
            <a:r>
              <a:rPr lang="en-US" sz="1200" dirty="0">
                <a:solidFill>
                  <a:srgbClr val="3D3350"/>
                </a:solidFill>
                <a:latin typeface="Calibri" pitchFamily="34" charset="0"/>
                <a:ea typeface="Calibri" pitchFamily="34" charset="-122"/>
                <a:cs typeface="Calibri" pitchFamily="34" charset="-120"/>
              </a:rPr>
              <a:t>promedio de la frase</a:t>
            </a:r>
            <a:endParaRPr lang="en-US" sz="1200" dirty="0"/>
          </a:p>
        </p:txBody>
      </p:sp>
      <p:sp>
        <p:nvSpPr>
          <p:cNvPr id="23" name="Shape 21"/>
          <p:cNvSpPr/>
          <p:nvPr/>
        </p:nvSpPr>
        <p:spPr>
          <a:xfrm>
            <a:off x="9345168" y="2075688"/>
            <a:ext cx="246888" cy="292608"/>
          </a:xfrm>
          <a:prstGeom prst="rightArrow">
            <a:avLst/>
          </a:prstGeom>
          <a:solidFill>
            <a:srgbClr val="B98BE0"/>
          </a:solidFill>
          <a:ln w="12700">
            <a:solidFill>
              <a:srgbClr val="B98BE0"/>
            </a:solidFill>
            <a:prstDash val="solid"/>
          </a:ln>
        </p:spPr>
      </p:sp>
      <p:sp>
        <p:nvSpPr>
          <p:cNvPr id="24" name="Shape 22"/>
          <p:cNvSpPr/>
          <p:nvPr/>
        </p:nvSpPr>
        <p:spPr>
          <a:xfrm>
            <a:off x="9619488" y="1417320"/>
            <a:ext cx="1965960" cy="1600200"/>
          </a:xfrm>
          <a:prstGeom prst="roundRect">
            <a:avLst>
              <a:gd name="adj" fmla="val 6857"/>
            </a:avLst>
          </a:prstGeom>
          <a:solidFill>
            <a:srgbClr val="F4EEFA"/>
          </a:solidFill>
          <a:ln w="12700">
            <a:solidFill>
              <a:srgbClr val="F4EEFA"/>
            </a:solidFill>
            <a:prstDash val="solid"/>
          </a:ln>
        </p:spPr>
      </p:sp>
      <p:sp>
        <p:nvSpPr>
          <p:cNvPr id="25" name="Text 23"/>
          <p:cNvSpPr txBox="1"/>
          <p:nvPr/>
        </p:nvSpPr>
        <p:spPr>
          <a:xfrm>
            <a:off x="9756648" y="1508760"/>
            <a:ext cx="1691640" cy="411480"/>
          </a:xfrm>
          <a:prstGeom prst="rect">
            <a:avLst/>
          </a:prstGeom>
          <a:noFill/>
          <a:ln/>
        </p:spPr>
        <p:txBody>
          <a:bodyPr wrap="square" lIns="0" tIns="0" rIns="0" bIns="0" rtlCol="0" anchor="t"/>
          <a:lstStyle/>
          <a:p>
            <a:pPr algn="ctr" indent="0" marL="0">
              <a:buNone/>
            </a:pPr>
            <a:r>
              <a:rPr lang="en-US" sz="1700" b="1" dirty="0">
                <a:solidFill>
                  <a:srgbClr val="241033"/>
                </a:solidFill>
                <a:latin typeface="Calibri" pitchFamily="34" charset="0"/>
                <a:ea typeface="Calibri" pitchFamily="34" charset="-122"/>
                <a:cs typeface="Calibri" pitchFamily="34" charset="-120"/>
              </a:rPr>
              <a:t>Dense</a:t>
            </a:r>
            <a:endParaRPr lang="en-US" sz="1700" dirty="0"/>
          </a:p>
        </p:txBody>
      </p:sp>
      <p:sp>
        <p:nvSpPr>
          <p:cNvPr id="26" name="Text 24"/>
          <p:cNvSpPr txBox="1"/>
          <p:nvPr/>
        </p:nvSpPr>
        <p:spPr>
          <a:xfrm>
            <a:off x="9756648" y="1938528"/>
            <a:ext cx="1691640" cy="365760"/>
          </a:xfrm>
          <a:prstGeom prst="rect">
            <a:avLst/>
          </a:prstGeom>
          <a:noFill/>
          <a:ln/>
        </p:spPr>
        <p:txBody>
          <a:bodyPr wrap="square" lIns="0" tIns="0" rIns="0" bIns="0" rtlCol="0" anchor="t"/>
          <a:lstStyle/>
          <a:p>
            <a:pPr algn="ctr" indent="0" marL="0">
              <a:buNone/>
            </a:pPr>
            <a:r>
              <a:rPr lang="en-US" sz="1300" b="1" dirty="0">
                <a:solidFill>
                  <a:srgbClr val="C400C4"/>
                </a:solidFill>
                <a:latin typeface="Courier New" pitchFamily="34" charset="0"/>
                <a:ea typeface="Courier New" pitchFamily="34" charset="-122"/>
                <a:cs typeface="Courier New" pitchFamily="34" charset="-120"/>
              </a:rPr>
              <a:t>(batch, 1)</a:t>
            </a:r>
            <a:endParaRPr lang="en-US" sz="1300" dirty="0"/>
          </a:p>
        </p:txBody>
      </p:sp>
      <p:sp>
        <p:nvSpPr>
          <p:cNvPr id="27" name="Text 25"/>
          <p:cNvSpPr txBox="1"/>
          <p:nvPr/>
        </p:nvSpPr>
        <p:spPr>
          <a:xfrm>
            <a:off x="9756648" y="2331720"/>
            <a:ext cx="1691640" cy="594360"/>
          </a:xfrm>
          <a:prstGeom prst="rect">
            <a:avLst/>
          </a:prstGeom>
          <a:noFill/>
          <a:ln/>
        </p:spPr>
        <p:txBody>
          <a:bodyPr wrap="square" lIns="0" tIns="0" rIns="0" bIns="0" rtlCol="0" anchor="t"/>
          <a:lstStyle/>
          <a:p>
            <a:pPr algn="ctr" indent="0" marL="0">
              <a:buNone/>
            </a:pPr>
            <a:r>
              <a:rPr lang="en-US" sz="1200" dirty="0">
                <a:solidFill>
                  <a:srgbClr val="3D3350"/>
                </a:solidFill>
                <a:latin typeface="Calibri" pitchFamily="34" charset="0"/>
                <a:ea typeface="Calibri" pitchFamily="34" charset="-122"/>
                <a:cs typeface="Calibri" pitchFamily="34" charset="-120"/>
              </a:rPr>
              <a:t>P(positivo)</a:t>
            </a:r>
            <a:endParaRPr lang="en-US" sz="1200" dirty="0"/>
          </a:p>
        </p:txBody>
      </p:sp>
      <p:sp>
        <p:nvSpPr>
          <p:cNvPr id="28" name="Shape 26"/>
          <p:cNvSpPr/>
          <p:nvPr/>
        </p:nvSpPr>
        <p:spPr>
          <a:xfrm>
            <a:off x="548640" y="3291840"/>
            <a:ext cx="6309360" cy="2743200"/>
          </a:xfrm>
          <a:prstGeom prst="roundRect">
            <a:avLst>
              <a:gd name="adj" fmla="val 3333"/>
            </a:avLst>
          </a:prstGeom>
          <a:solidFill>
            <a:srgbClr val="241033"/>
          </a:solidFill>
          <a:ln w="12700">
            <a:solidFill>
              <a:srgbClr val="241033"/>
            </a:solidFill>
            <a:prstDash val="solid"/>
          </a:ln>
        </p:spPr>
      </p:sp>
      <p:sp>
        <p:nvSpPr>
          <p:cNvPr id="29" name="Text 27"/>
          <p:cNvSpPr txBox="1"/>
          <p:nvPr/>
        </p:nvSpPr>
        <p:spPr>
          <a:xfrm>
            <a:off x="777240" y="3456432"/>
            <a:ext cx="5852160" cy="2414016"/>
          </a:xfrm>
          <a:prstGeom prst="rect">
            <a:avLst/>
          </a:prstGeom>
          <a:noFill/>
          <a:ln/>
        </p:spPr>
        <p:txBody>
          <a:bodyPr wrap="square" lIns="0" tIns="0" rIns="0" bIns="0" rtlCol="0" anchor="t"/>
          <a:lstStyle/>
          <a:p>
            <a:pPr indent="0" marL="0">
              <a:spcAft>
                <a:spcPts val="200"/>
              </a:spcAft>
              <a:buNone/>
            </a:pPr>
            <a:r>
              <a:rPr lang="en-US" sz="1300" dirty="0">
                <a:solidFill>
                  <a:srgbClr val="EDE4F7"/>
                </a:solidFill>
                <a:latin typeface="Courier New" pitchFamily="34" charset="0"/>
                <a:ea typeface="Courier New" pitchFamily="34" charset="-122"/>
                <a:cs typeface="Courier New" pitchFamily="34" charset="-120"/>
              </a:rPr>
              <a:t>import keras</a:t>
            </a:r>
            <a:endParaRPr lang="en-US" sz="1300" dirty="0"/>
          </a:p>
          <a:p>
            <a:pPr indent="0" marL="0">
              <a:spcAft>
                <a:spcPts val="200"/>
              </a:spcAft>
              <a:buNone/>
            </a:pPr>
            <a:r>
              <a:rPr lang="en-US" sz="1300" dirty="0">
                <a:solidFill>
                  <a:srgbClr val="EDE4F7"/>
                </a:solidFill>
                <a:latin typeface="Courier New" pitchFamily="34" charset="0"/>
                <a:ea typeface="Courier New" pitchFamily="34" charset="-122"/>
                <a:cs typeface="Courier New" pitchFamily="34" charset="-120"/>
              </a:rPr>
              <a:t>from keras import layers</a:t>
            </a:r>
            <a:endParaRPr lang="en-US" sz="1300" dirty="0"/>
          </a:p>
          <a:p>
            <a:pPr indent="0" marL="0">
              <a:spcAft>
                <a:spcPts val="200"/>
              </a:spcAft>
              <a:buNone/>
            </a:pPr>
            <a:endParaRPr lang="en-US" sz="1300" dirty="0"/>
          </a:p>
          <a:p>
            <a:pPr indent="0" marL="0">
              <a:spcAft>
                <a:spcPts val="200"/>
              </a:spcAft>
              <a:buNone/>
            </a:pPr>
            <a:r>
              <a:rPr lang="en-US" sz="1300" dirty="0">
                <a:solidFill>
                  <a:srgbClr val="EDE4F7"/>
                </a:solidFill>
                <a:latin typeface="Courier New" pitchFamily="34" charset="0"/>
                <a:ea typeface="Courier New" pitchFamily="34" charset="-122"/>
                <a:cs typeface="Courier New" pitchFamily="34" charset="-120"/>
              </a:rPr>
              <a:t>model = keras.Sequential([</a:t>
            </a:r>
            <a:endParaRPr lang="en-US" sz="1300" dirty="0"/>
          </a:p>
          <a:p>
            <a:pPr indent="0" marL="0">
              <a:spcAft>
                <a:spcPts val="200"/>
              </a:spcAft>
              <a:buNone/>
            </a:pPr>
            <a:r>
              <a:rPr lang="en-US" sz="1300" dirty="0">
                <a:solidFill>
                  <a:srgbClr val="EDE4F7"/>
                </a:solidFill>
                <a:latin typeface="Courier New" pitchFamily="34" charset="0"/>
                <a:ea typeface="Courier New" pitchFamily="34" charset="-122"/>
                <a:cs typeface="Courier New" pitchFamily="34" charset="-120"/>
              </a:rPr>
              <a:t>    keras.Input(shape=(MAX_LEN,)),</a:t>
            </a:r>
            <a:endParaRPr lang="en-US" sz="1300" dirty="0"/>
          </a:p>
          <a:p>
            <a:pPr indent="0" marL="0">
              <a:spcAft>
                <a:spcPts val="200"/>
              </a:spcAft>
              <a:buNone/>
            </a:pPr>
            <a:r>
              <a:rPr lang="en-US" sz="1300" dirty="0">
                <a:solidFill>
                  <a:srgbClr val="EDE4F7"/>
                </a:solidFill>
                <a:latin typeface="Courier New" pitchFamily="34" charset="0"/>
                <a:ea typeface="Courier New" pitchFamily="34" charset="-122"/>
                <a:cs typeface="Courier New" pitchFamily="34" charset="-120"/>
              </a:rPr>
              <a:t>    layers.Embedding(VOCAB, 16, mask_zero=True),</a:t>
            </a:r>
            <a:endParaRPr lang="en-US" sz="1300" dirty="0"/>
          </a:p>
          <a:p>
            <a:pPr indent="0" marL="0">
              <a:spcAft>
                <a:spcPts val="200"/>
              </a:spcAft>
              <a:buNone/>
            </a:pPr>
            <a:r>
              <a:rPr lang="en-US" sz="1300" dirty="0">
                <a:solidFill>
                  <a:srgbClr val="EDE4F7"/>
                </a:solidFill>
                <a:latin typeface="Courier New" pitchFamily="34" charset="0"/>
                <a:ea typeface="Courier New" pitchFamily="34" charset="-122"/>
                <a:cs typeface="Courier New" pitchFamily="34" charset="-120"/>
              </a:rPr>
              <a:t>    layers.GlobalAveragePooling1D(),</a:t>
            </a:r>
            <a:endParaRPr lang="en-US" sz="1300" dirty="0"/>
          </a:p>
          <a:p>
            <a:pPr indent="0" marL="0">
              <a:spcAft>
                <a:spcPts val="200"/>
              </a:spcAft>
              <a:buNone/>
            </a:pPr>
            <a:r>
              <a:rPr lang="en-US" sz="1300" dirty="0">
                <a:solidFill>
                  <a:srgbClr val="EDE4F7"/>
                </a:solidFill>
                <a:latin typeface="Courier New" pitchFamily="34" charset="0"/>
                <a:ea typeface="Courier New" pitchFamily="34" charset="-122"/>
                <a:cs typeface="Courier New" pitchFamily="34" charset="-120"/>
              </a:rPr>
              <a:t>    layers.Dense(16, activation="relu"),</a:t>
            </a:r>
            <a:endParaRPr lang="en-US" sz="1300" dirty="0"/>
          </a:p>
          <a:p>
            <a:pPr indent="0" marL="0">
              <a:spcAft>
                <a:spcPts val="200"/>
              </a:spcAft>
              <a:buNone/>
            </a:pPr>
            <a:r>
              <a:rPr lang="en-US" sz="1300" dirty="0">
                <a:solidFill>
                  <a:srgbClr val="EDE4F7"/>
                </a:solidFill>
                <a:latin typeface="Courier New" pitchFamily="34" charset="0"/>
                <a:ea typeface="Courier New" pitchFamily="34" charset="-122"/>
                <a:cs typeface="Courier New" pitchFamily="34" charset="-120"/>
              </a:rPr>
              <a:t>    layers.Dense(1, activation="sigmoid"),</a:t>
            </a:r>
            <a:endParaRPr lang="en-US" sz="1300" dirty="0"/>
          </a:p>
          <a:p>
            <a:pPr indent="0" marL="0">
              <a:spcAft>
                <a:spcPts val="200"/>
              </a:spcAft>
              <a:buNone/>
            </a:pPr>
            <a:r>
              <a:rPr lang="en-US" sz="1300" dirty="0">
                <a:solidFill>
                  <a:srgbClr val="EDE4F7"/>
                </a:solidFill>
                <a:latin typeface="Courier New" pitchFamily="34" charset="0"/>
                <a:ea typeface="Courier New" pitchFamily="34" charset="-122"/>
                <a:cs typeface="Courier New" pitchFamily="34" charset="-120"/>
              </a:rPr>
              <a:t>])</a:t>
            </a:r>
            <a:endParaRPr lang="en-US" sz="1300" dirty="0"/>
          </a:p>
        </p:txBody>
      </p:sp>
      <p:sp>
        <p:nvSpPr>
          <p:cNvPr id="30" name="Text 28"/>
          <p:cNvSpPr txBox="1"/>
          <p:nvPr/>
        </p:nvSpPr>
        <p:spPr>
          <a:xfrm>
            <a:off x="7178040" y="3337560"/>
            <a:ext cx="4434840" cy="2651760"/>
          </a:xfrm>
          <a:prstGeom prst="rect">
            <a:avLst/>
          </a:prstGeom>
          <a:noFill/>
          <a:ln/>
        </p:spPr>
        <p:txBody>
          <a:bodyPr wrap="square" lIns="0" tIns="0" rIns="0" bIns="0" rtlCol="0" anchor="t"/>
          <a:lstStyle/>
          <a:p>
            <a:pPr marL="203200" indent="-203200">
              <a:spcAft>
                <a:spcPts val="700"/>
              </a:spcAft>
              <a:buSzPct val="100000"/>
              <a:buChar char="•"/>
            </a:pPr>
            <a:r>
              <a:rPr lang="en-US" sz="1400" b="1" dirty="0">
                <a:solidFill>
                  <a:srgbClr val="6A0DAD"/>
                </a:solidFill>
                <a:latin typeface="Calibri" pitchFamily="34" charset="0"/>
                <a:ea typeface="Calibri" pitchFamily="34" charset="-122"/>
                <a:cs typeface="Calibri" pitchFamily="34" charset="-120"/>
              </a:rPr>
              <a:t>input_dim  </a:t>
            </a:r>
            <a:pPr indent="0" marL="0">
              <a:spcAft>
                <a:spcPts val="700"/>
              </a:spcAft>
              <a:buNone/>
            </a:pPr>
            <a:r>
              <a:rPr lang="en-US" sz="1400" dirty="0">
                <a:solidFill>
                  <a:srgbClr val="3D3350"/>
                </a:solidFill>
                <a:latin typeface="Calibri" pitchFamily="34" charset="0"/>
                <a:ea typeface="Calibri" pitchFamily="34" charset="-122"/>
                <a:cs typeface="Calibri" pitchFamily="34" charset="-120"/>
              </a:rPr>
              <a:t>tamaño del vocabulario + 1 (por el padding)</a:t>
            </a:r>
            <a:endParaRPr lang="en-US" sz="1400" dirty="0"/>
          </a:p>
          <a:p>
            <a:pPr marL="203200" indent="-203200">
              <a:spcAft>
                <a:spcPts val="700"/>
              </a:spcAft>
              <a:buSzPct val="100000"/>
              <a:buChar char="•"/>
            </a:pPr>
            <a:r>
              <a:rPr lang="en-US" sz="1400" b="1" dirty="0">
                <a:solidFill>
                  <a:srgbClr val="6A0DAD"/>
                </a:solidFill>
                <a:latin typeface="Calibri" pitchFamily="34" charset="0"/>
                <a:ea typeface="Calibri" pitchFamily="34" charset="-122"/>
                <a:cs typeface="Calibri" pitchFamily="34" charset="-120"/>
              </a:rPr>
              <a:t>output_dim  </a:t>
            </a:r>
            <a:pPr indent="0" marL="0">
              <a:spcAft>
                <a:spcPts val="700"/>
              </a:spcAft>
              <a:buNone/>
            </a:pPr>
            <a:r>
              <a:rPr lang="en-US" sz="1400" dirty="0">
                <a:solidFill>
                  <a:srgbClr val="3D3350"/>
                </a:solidFill>
                <a:latin typeface="Calibri" pitchFamily="34" charset="0"/>
                <a:ea typeface="Calibri" pitchFamily="34" charset="-122"/>
                <a:cs typeface="Calibri" pitchFamily="34" charset="-120"/>
              </a:rPr>
              <a:t>dimensión d de cada vector</a:t>
            </a:r>
            <a:endParaRPr lang="en-US" sz="1400" dirty="0"/>
          </a:p>
          <a:p>
            <a:pPr marL="203200" indent="-203200">
              <a:spcAft>
                <a:spcPts val="700"/>
              </a:spcAft>
              <a:buSzPct val="100000"/>
              <a:buChar char="•"/>
            </a:pPr>
            <a:r>
              <a:rPr lang="en-US" sz="1400" b="1" dirty="0">
                <a:solidFill>
                  <a:srgbClr val="6A0DAD"/>
                </a:solidFill>
                <a:latin typeface="Calibri" pitchFamily="34" charset="0"/>
                <a:ea typeface="Calibri" pitchFamily="34" charset="-122"/>
                <a:cs typeface="Calibri" pitchFamily="34" charset="-120"/>
              </a:rPr>
              <a:t>Parámetros  </a:t>
            </a:r>
            <a:pPr indent="0" marL="0">
              <a:spcAft>
                <a:spcPts val="700"/>
              </a:spcAft>
              <a:buNone/>
            </a:pPr>
            <a:r>
              <a:rPr lang="en-US" sz="1400" dirty="0">
                <a:solidFill>
                  <a:srgbClr val="3D3350"/>
                </a:solidFill>
                <a:latin typeface="Calibri" pitchFamily="34" charset="0"/>
                <a:ea typeface="Calibri" pitchFamily="34" charset="-122"/>
                <a:cs typeface="Calibri" pitchFamily="34" charset="-120"/>
              </a:rPr>
              <a:t>= V × d   →   330 × 8 = 2 640</a:t>
            </a:r>
            <a:endParaRPr lang="en-US" sz="1400" dirty="0"/>
          </a:p>
          <a:p>
            <a:pPr marL="203200" indent="-203200">
              <a:spcAft>
                <a:spcPts val="700"/>
              </a:spcAft>
              <a:buSzPct val="100000"/>
              <a:buChar char="•"/>
            </a:pPr>
            <a:r>
              <a:rPr lang="en-US" sz="1400" b="1" dirty="0">
                <a:solidFill>
                  <a:srgbClr val="6A0DAD"/>
                </a:solidFill>
                <a:latin typeface="Calibri" pitchFamily="34" charset="0"/>
                <a:ea typeface="Calibri" pitchFamily="34" charset="-122"/>
                <a:cs typeface="Calibri" pitchFamily="34" charset="-120"/>
              </a:rPr>
              <a:t>mask_zero  </a:t>
            </a:r>
            <a:pPr indent="0" marL="0">
              <a:spcAft>
                <a:spcPts val="700"/>
              </a:spcAft>
              <a:buNone/>
            </a:pPr>
            <a:r>
              <a:rPr lang="en-US" sz="1400" dirty="0">
                <a:solidFill>
                  <a:srgbClr val="3D3350"/>
                </a:solidFill>
                <a:latin typeface="Calibri" pitchFamily="34" charset="0"/>
                <a:ea typeface="Calibri" pitchFamily="34" charset="-122"/>
                <a:cs typeface="Calibri" pitchFamily="34" charset="-120"/>
              </a:rPr>
              <a:t>ignora los ceros del padding</a:t>
            </a:r>
            <a:endParaRPr lang="en-US" sz="1400" dirty="0"/>
          </a:p>
          <a:p>
            <a:pPr marL="203200" indent="-203200">
              <a:spcAft>
                <a:spcPts val="700"/>
              </a:spcAft>
              <a:buSzPct val="100000"/>
              <a:buChar char="•"/>
            </a:pPr>
            <a:r>
              <a:rPr lang="en-US" sz="1400" b="1" dirty="0">
                <a:solidFill>
                  <a:srgbClr val="6A0DAD"/>
                </a:solidFill>
                <a:latin typeface="Calibri" pitchFamily="34" charset="0"/>
                <a:ea typeface="Calibri" pitchFamily="34" charset="-122"/>
                <a:cs typeface="Calibri" pitchFamily="34" charset="-120"/>
              </a:rPr>
              <a:t>Keras 3  </a:t>
            </a:r>
            <a:pPr indent="0" marL="0">
              <a:spcAft>
                <a:spcPts val="700"/>
              </a:spcAft>
              <a:buNone/>
            </a:pPr>
            <a:r>
              <a:rPr lang="en-US" sz="1400" dirty="0">
                <a:solidFill>
                  <a:srgbClr val="3D3350"/>
                </a:solidFill>
                <a:latin typeface="Calibri" pitchFamily="34" charset="0"/>
                <a:ea typeface="Calibri" pitchFamily="34" charset="-122"/>
                <a:cs typeface="Calibri" pitchFamily="34" charset="-120"/>
              </a:rPr>
              <a:t>keras.Input reemplaza a input_length (obsoleto)</a:t>
            </a:r>
            <a:endParaRPr lang="en-US" sz="14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Lo que aprendió nuestra Embedding (sin que se lo dijéramos)</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NOTEBOOK 06</a:t>
            </a:r>
            <a:endParaRPr lang="en-US" sz="1100" dirty="0"/>
          </a:p>
        </p:txBody>
      </p:sp>
      <p:pic>
        <p:nvPicPr>
          <p:cNvPr id="4" name="Image 0" descr="/home/claude/deck/img/pca_embeddings.png">    </p:cNvPr>
          <p:cNvPicPr>
            <a:picLocks noChangeAspect="1"/>
          </p:cNvPicPr>
          <p:nvPr/>
        </p:nvPicPr>
        <p:blipFill>
          <a:blip r:embed="rId1"/>
          <a:stretch>
            <a:fillRect/>
          </a:stretch>
        </p:blipFill>
        <p:spPr>
          <a:xfrm>
            <a:off x="548640" y="1280160"/>
            <a:ext cx="11064240" cy="4297680"/>
          </a:xfrm>
          <a:prstGeom prst="rect">
            <a:avLst/>
          </a:prstGeom>
        </p:spPr>
      </p:pic>
      <p:sp>
        <p:nvSpPr>
          <p:cNvPr id="5" name="Text 2"/>
          <p:cNvSpPr txBox="1"/>
          <p:nvPr/>
        </p:nvSpPr>
        <p:spPr>
          <a:xfrm>
            <a:off x="548640" y="5669280"/>
            <a:ext cx="11064240" cy="548640"/>
          </a:xfrm>
          <a:prstGeom prst="rect">
            <a:avLst/>
          </a:prstGeom>
          <a:noFill/>
          <a:ln/>
        </p:spPr>
        <p:txBody>
          <a:bodyPr wrap="square" lIns="0" tIns="0" rIns="0" bIns="0" rtlCol="0" anchor="t"/>
          <a:lstStyle/>
          <a:p>
            <a:pPr algn="ctr" indent="0" marL="0">
              <a:buNone/>
            </a:pPr>
            <a:r>
              <a:rPr lang="en-US" sz="1500" dirty="0">
                <a:solidFill>
                  <a:srgbClr val="241033"/>
                </a:solidFill>
                <a:latin typeface="Calibri" pitchFamily="34" charset="0"/>
                <a:ea typeface="Calibri" pitchFamily="34" charset="-122"/>
                <a:cs typeface="Calibri" pitchFamily="34" charset="-120"/>
              </a:rPr>
              <a:t>Solo con las etiquetas positivo/negativo, el modelo separó las palabras por sentimiento y dejó las neutras (producto, pedido, servicio) en el centro.</a:t>
            </a:r>
            <a:endParaRPr lang="en-US" sz="15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1463040"/>
            <a:ext cx="2743200" cy="1280160"/>
          </a:xfrm>
          <a:prstGeom prst="rect">
            <a:avLst/>
          </a:prstGeom>
          <a:noFill/>
          <a:ln/>
        </p:spPr>
        <p:txBody>
          <a:bodyPr wrap="square" lIns="0" tIns="0" rIns="0" bIns="0" rtlCol="0" anchor="t"/>
          <a:lstStyle/>
          <a:p>
            <a:pPr indent="0" marL="0">
              <a:buNone/>
            </a:pPr>
            <a:r>
              <a:rPr lang="en-US" sz="9600" b="1" dirty="0">
                <a:solidFill>
                  <a:srgbClr val="C400C4"/>
                </a:solidFill>
                <a:latin typeface="Calibri" pitchFamily="34" charset="0"/>
                <a:ea typeface="Calibri" pitchFamily="34" charset="-122"/>
                <a:cs typeface="Calibri" pitchFamily="34" charset="-120"/>
              </a:rPr>
              <a:t>03</a:t>
            </a:r>
            <a:endParaRPr lang="en-US" sz="9600" dirty="0"/>
          </a:p>
        </p:txBody>
      </p:sp>
      <p:sp>
        <p:nvSpPr>
          <p:cNvPr id="3" name="Text 1"/>
          <p:cNvSpPr txBox="1"/>
          <p:nvPr/>
        </p:nvSpPr>
        <p:spPr>
          <a:xfrm>
            <a:off x="731520" y="2788920"/>
            <a:ext cx="73152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Manos a la obra</a:t>
            </a:r>
            <a:endParaRPr lang="en-US" sz="4400" dirty="0"/>
          </a:p>
        </p:txBody>
      </p:sp>
      <p:sp>
        <p:nvSpPr>
          <p:cNvPr id="4" name="Text 2"/>
          <p:cNvSpPr txBox="1"/>
          <p:nvPr/>
        </p:nvSpPr>
        <p:spPr>
          <a:xfrm>
            <a:off x="731520" y="3657600"/>
            <a:ext cx="6949440" cy="822960"/>
          </a:xfrm>
          <a:prstGeom prst="rect">
            <a:avLst/>
          </a:prstGeom>
          <a:noFill/>
          <a:ln/>
        </p:spPr>
        <p:txBody>
          <a:bodyPr wrap="square" lIns="0" tIns="0" rIns="0" bIns="0" rtlCol="0" anchor="t"/>
          <a:lstStyle/>
          <a:p>
            <a:pPr indent="0" marL="0">
              <a:buNone/>
            </a:pPr>
            <a:r>
              <a:rPr lang="en-US" sz="1900" dirty="0">
                <a:solidFill>
                  <a:srgbClr val="B98BE0"/>
                </a:solidFill>
                <a:latin typeface="Calibri" pitchFamily="34" charset="0"/>
                <a:ea typeface="Calibri" pitchFamily="34" charset="-122"/>
                <a:cs typeface="Calibri" pitchFamily="34" charset="-120"/>
              </a:rPr>
              <a:t>Un clasificador de sentimientos de punta a punta, un laboratorio de experimentos y un proyecto real.</a:t>
            </a:r>
            <a:endParaRPr lang="en-US" sz="1900" dirty="0"/>
          </a:p>
        </p:txBody>
      </p:sp>
      <p:sp>
        <p:nvSpPr>
          <p:cNvPr id="5" name="Shape 3"/>
          <p:cNvSpPr/>
          <p:nvPr/>
        </p:nvSpPr>
        <p:spPr>
          <a:xfrm>
            <a:off x="731520" y="4709160"/>
            <a:ext cx="3108960" cy="411480"/>
          </a:xfrm>
          <a:prstGeom prst="roundRect">
            <a:avLst>
              <a:gd name="adj" fmla="val 13333"/>
            </a:avLst>
          </a:prstGeom>
          <a:solidFill>
            <a:srgbClr val="C400C4"/>
          </a:solidFill>
          <a:ln w="12700">
            <a:solidFill>
              <a:srgbClr val="C400C4"/>
            </a:solidFill>
            <a:prstDash val="solid"/>
          </a:ln>
        </p:spPr>
      </p:sp>
      <p:sp>
        <p:nvSpPr>
          <p:cNvPr id="6" name="Text 4"/>
          <p:cNvSpPr txBox="1"/>
          <p:nvPr/>
        </p:nvSpPr>
        <p:spPr>
          <a:xfrm>
            <a:off x="731520" y="4709160"/>
            <a:ext cx="310896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Notebooks 07 · 08 · IMDb</a:t>
            </a:r>
            <a:endParaRPr lang="en-US" sz="1300" dirty="0"/>
          </a:p>
        </p:txBody>
      </p:sp>
      <p:sp>
        <p:nvSpPr>
          <p:cNvPr id="25" name="Slide Number Placeholder 0"/>
          <p:cNvSpPr>
            <a:spLocks noGrp="1"/>
          </p:cNvSpPr>
          <p:nvPr>
            <p:ph type="sldNum" sz="quarter" idx="4294967295"/>
          </p:nvPr>
        </p:nvSpPr>
        <p:spPr>
          <a:xfrm>
            <a:off x="548640" y="62636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8BE0"/>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Mini clasificador de sentimientos</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NOTEBOOK 07  ·  320 OPINIONES DE CLIENTES</a:t>
            </a:r>
            <a:endParaRPr lang="en-US" sz="1100" dirty="0"/>
          </a:p>
        </p:txBody>
      </p:sp>
      <p:sp>
        <p:nvSpPr>
          <p:cNvPr id="4" name="Shape 2"/>
          <p:cNvSpPr/>
          <p:nvPr/>
        </p:nvSpPr>
        <p:spPr>
          <a:xfrm>
            <a:off x="548640" y="1481328"/>
            <a:ext cx="603504" cy="603504"/>
          </a:xfrm>
          <a:prstGeom prst="ellipse">
            <a:avLst/>
          </a:prstGeom>
          <a:solidFill>
            <a:srgbClr val="6A0DAD"/>
          </a:solidFill>
          <a:ln w="12700">
            <a:solidFill>
              <a:srgbClr val="6A0DAD"/>
            </a:solidFill>
            <a:prstDash val="solid"/>
          </a:ln>
        </p:spPr>
      </p:sp>
      <p:pic>
        <p:nvPicPr>
          <p:cNvPr id="5" name="Image 0" descr="preencoded.png">    </p:cNvPr>
          <p:cNvPicPr>
            <a:picLocks noChangeAspect="1"/>
          </p:cNvPicPr>
          <p:nvPr/>
        </p:nvPicPr>
        <p:blipFill>
          <a:blip r:embed="rId1"/>
          <a:stretch>
            <a:fillRect/>
          </a:stretch>
        </p:blipFill>
        <p:spPr>
          <a:xfrm>
            <a:off x="693481" y="1626169"/>
            <a:ext cx="313822" cy="313822"/>
          </a:xfrm>
          <a:prstGeom prst="rect">
            <a:avLst/>
          </a:prstGeom>
        </p:spPr>
      </p:pic>
      <p:sp>
        <p:nvSpPr>
          <p:cNvPr id="6" name="Text 3"/>
          <p:cNvSpPr txBox="1"/>
          <p:nvPr/>
        </p:nvSpPr>
        <p:spPr>
          <a:xfrm>
            <a:off x="1325880" y="1417320"/>
            <a:ext cx="3931920" cy="384048"/>
          </a:xfrm>
          <a:prstGeom prst="rect">
            <a:avLst/>
          </a:prstGeom>
          <a:noFill/>
          <a:ln/>
        </p:spPr>
        <p:txBody>
          <a:bodyPr wrap="square" lIns="0" tIns="0" rIns="0" bIns="0" rtlCol="0" anchor="t"/>
          <a:lstStyle/>
          <a:p>
            <a:pPr indent="0" marL="0">
              <a:buNone/>
            </a:pPr>
            <a:r>
              <a:rPr lang="en-US" sz="1700" b="1" dirty="0">
                <a:solidFill>
                  <a:srgbClr val="241033"/>
                </a:solidFill>
                <a:latin typeface="Calibri" pitchFamily="34" charset="0"/>
                <a:ea typeface="Calibri" pitchFamily="34" charset="-122"/>
                <a:cs typeface="Calibri" pitchFamily="34" charset="-120"/>
              </a:rPr>
              <a:t>Split antes de tokenizar</a:t>
            </a:r>
            <a:endParaRPr lang="en-US" sz="1700" dirty="0"/>
          </a:p>
        </p:txBody>
      </p:sp>
      <p:sp>
        <p:nvSpPr>
          <p:cNvPr id="7" name="Text 4"/>
          <p:cNvSpPr txBox="1"/>
          <p:nvPr/>
        </p:nvSpPr>
        <p:spPr>
          <a:xfrm>
            <a:off x="1325880" y="1801368"/>
            <a:ext cx="3931920" cy="45720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El tokenizer solo ve train: sin fuga de información.</a:t>
            </a:r>
            <a:endParaRPr lang="en-US" sz="1400" dirty="0"/>
          </a:p>
        </p:txBody>
      </p:sp>
      <p:sp>
        <p:nvSpPr>
          <p:cNvPr id="8" name="Shape 5"/>
          <p:cNvSpPr/>
          <p:nvPr/>
        </p:nvSpPr>
        <p:spPr>
          <a:xfrm>
            <a:off x="548640" y="2505456"/>
            <a:ext cx="603504" cy="603504"/>
          </a:xfrm>
          <a:prstGeom prst="ellipse">
            <a:avLst/>
          </a:prstGeom>
          <a:solidFill>
            <a:srgbClr val="6A0DAD"/>
          </a:solidFill>
          <a:ln w="12700">
            <a:solidFill>
              <a:srgbClr val="6A0DAD"/>
            </a:solidFill>
            <a:prstDash val="solid"/>
          </a:ln>
        </p:spPr>
      </p:sp>
      <p:pic>
        <p:nvPicPr>
          <p:cNvPr id="9" name="Image 1" descr="preencoded.png">    </p:cNvPr>
          <p:cNvPicPr>
            <a:picLocks noChangeAspect="1"/>
          </p:cNvPicPr>
          <p:nvPr/>
        </p:nvPicPr>
        <p:blipFill>
          <a:blip r:embed="rId2"/>
          <a:stretch>
            <a:fillRect/>
          </a:stretch>
        </p:blipFill>
        <p:spPr>
          <a:xfrm>
            <a:off x="693481" y="2650297"/>
            <a:ext cx="313822" cy="313822"/>
          </a:xfrm>
          <a:prstGeom prst="rect">
            <a:avLst/>
          </a:prstGeom>
        </p:spPr>
      </p:pic>
      <p:sp>
        <p:nvSpPr>
          <p:cNvPr id="10" name="Text 6"/>
          <p:cNvSpPr txBox="1"/>
          <p:nvPr/>
        </p:nvSpPr>
        <p:spPr>
          <a:xfrm>
            <a:off x="1325880" y="2441448"/>
            <a:ext cx="3931920" cy="384048"/>
          </a:xfrm>
          <a:prstGeom prst="rect">
            <a:avLst/>
          </a:prstGeom>
          <a:noFill/>
          <a:ln/>
        </p:spPr>
        <p:txBody>
          <a:bodyPr wrap="square" lIns="0" tIns="0" rIns="0" bIns="0" rtlCol="0" anchor="t"/>
          <a:lstStyle/>
          <a:p>
            <a:pPr indent="0" marL="0">
              <a:buNone/>
            </a:pPr>
            <a:r>
              <a:rPr lang="en-US" sz="1700" b="1" dirty="0">
                <a:solidFill>
                  <a:srgbClr val="241033"/>
                </a:solidFill>
                <a:latin typeface="Calibri" pitchFamily="34" charset="0"/>
                <a:ea typeface="Calibri" pitchFamily="34" charset="-122"/>
                <a:cs typeface="Calibri" pitchFamily="34" charset="-120"/>
              </a:rPr>
              <a:t>maxlen = percentil 95</a:t>
            </a:r>
            <a:endParaRPr lang="en-US" sz="1700" dirty="0"/>
          </a:p>
        </p:txBody>
      </p:sp>
      <p:sp>
        <p:nvSpPr>
          <p:cNvPr id="11" name="Text 7"/>
          <p:cNvSpPr txBox="1"/>
          <p:nvPr/>
        </p:nvSpPr>
        <p:spPr>
          <a:xfrm>
            <a:off x="1325880" y="2825496"/>
            <a:ext cx="3931920" cy="45720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Basado en datos, no a ojo.</a:t>
            </a:r>
            <a:endParaRPr lang="en-US" sz="1400" dirty="0"/>
          </a:p>
        </p:txBody>
      </p:sp>
      <p:sp>
        <p:nvSpPr>
          <p:cNvPr id="12" name="Shape 8"/>
          <p:cNvSpPr/>
          <p:nvPr/>
        </p:nvSpPr>
        <p:spPr>
          <a:xfrm>
            <a:off x="548640" y="3529584"/>
            <a:ext cx="603504" cy="603504"/>
          </a:xfrm>
          <a:prstGeom prst="ellipse">
            <a:avLst/>
          </a:prstGeom>
          <a:solidFill>
            <a:srgbClr val="6A0DAD"/>
          </a:solidFill>
          <a:ln w="12700">
            <a:solidFill>
              <a:srgbClr val="6A0DAD"/>
            </a:solidFill>
            <a:prstDash val="solid"/>
          </a:ln>
        </p:spPr>
      </p:sp>
      <p:pic>
        <p:nvPicPr>
          <p:cNvPr id="13" name="Image 2" descr="preencoded.png">    </p:cNvPr>
          <p:cNvPicPr>
            <a:picLocks noChangeAspect="1"/>
          </p:cNvPicPr>
          <p:nvPr/>
        </p:nvPicPr>
        <p:blipFill>
          <a:blip r:embed="rId3"/>
          <a:stretch>
            <a:fillRect/>
          </a:stretch>
        </p:blipFill>
        <p:spPr>
          <a:xfrm>
            <a:off x="693481" y="3674425"/>
            <a:ext cx="313822" cy="313822"/>
          </a:xfrm>
          <a:prstGeom prst="rect">
            <a:avLst/>
          </a:prstGeom>
        </p:spPr>
      </p:pic>
      <p:sp>
        <p:nvSpPr>
          <p:cNvPr id="14" name="Text 9"/>
          <p:cNvSpPr txBox="1"/>
          <p:nvPr/>
        </p:nvSpPr>
        <p:spPr>
          <a:xfrm>
            <a:off x="1325880" y="3465576"/>
            <a:ext cx="3931920" cy="384048"/>
          </a:xfrm>
          <a:prstGeom prst="rect">
            <a:avLst/>
          </a:prstGeom>
          <a:noFill/>
          <a:ln/>
        </p:spPr>
        <p:txBody>
          <a:bodyPr wrap="square" lIns="0" tIns="0" rIns="0" bIns="0" rtlCol="0" anchor="t"/>
          <a:lstStyle/>
          <a:p>
            <a:pPr indent="0" marL="0">
              <a:buNone/>
            </a:pPr>
            <a:r>
              <a:rPr lang="en-US" sz="1700" b="1" dirty="0">
                <a:solidFill>
                  <a:srgbClr val="241033"/>
                </a:solidFill>
                <a:latin typeface="Calibri" pitchFamily="34" charset="0"/>
                <a:ea typeface="Calibri" pitchFamily="34" charset="-122"/>
                <a:cs typeface="Calibri" pitchFamily="34" charset="-120"/>
              </a:rPr>
              <a:t>mask_zero=True</a:t>
            </a:r>
            <a:endParaRPr lang="en-US" sz="1700" dirty="0"/>
          </a:p>
        </p:txBody>
      </p:sp>
      <p:sp>
        <p:nvSpPr>
          <p:cNvPr id="15" name="Text 10"/>
          <p:cNvSpPr txBox="1"/>
          <p:nvPr/>
        </p:nvSpPr>
        <p:spPr>
          <a:xfrm>
            <a:off x="1325880" y="3849624"/>
            <a:ext cx="3931920" cy="45720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El padding no entra en el promedio.</a:t>
            </a:r>
            <a:endParaRPr lang="en-US" sz="1400" dirty="0"/>
          </a:p>
        </p:txBody>
      </p:sp>
      <p:sp>
        <p:nvSpPr>
          <p:cNvPr id="16" name="Shape 11"/>
          <p:cNvSpPr/>
          <p:nvPr/>
        </p:nvSpPr>
        <p:spPr>
          <a:xfrm>
            <a:off x="548640" y="4553712"/>
            <a:ext cx="603504" cy="603504"/>
          </a:xfrm>
          <a:prstGeom prst="ellipse">
            <a:avLst/>
          </a:prstGeom>
          <a:solidFill>
            <a:srgbClr val="6A0DAD"/>
          </a:solidFill>
          <a:ln w="12700">
            <a:solidFill>
              <a:srgbClr val="6A0DAD"/>
            </a:solidFill>
            <a:prstDash val="solid"/>
          </a:ln>
        </p:spPr>
      </p:sp>
      <p:pic>
        <p:nvPicPr>
          <p:cNvPr id="17" name="Image 3" descr="preencoded.png">    </p:cNvPr>
          <p:cNvPicPr>
            <a:picLocks noChangeAspect="1"/>
          </p:cNvPicPr>
          <p:nvPr/>
        </p:nvPicPr>
        <p:blipFill>
          <a:blip r:embed="rId4"/>
          <a:stretch>
            <a:fillRect/>
          </a:stretch>
        </p:blipFill>
        <p:spPr>
          <a:xfrm>
            <a:off x="693481" y="4698553"/>
            <a:ext cx="313822" cy="313822"/>
          </a:xfrm>
          <a:prstGeom prst="rect">
            <a:avLst/>
          </a:prstGeom>
        </p:spPr>
      </p:pic>
      <p:sp>
        <p:nvSpPr>
          <p:cNvPr id="18" name="Text 12"/>
          <p:cNvSpPr txBox="1"/>
          <p:nvPr/>
        </p:nvSpPr>
        <p:spPr>
          <a:xfrm>
            <a:off x="1325880" y="4489704"/>
            <a:ext cx="3931920" cy="384048"/>
          </a:xfrm>
          <a:prstGeom prst="rect">
            <a:avLst/>
          </a:prstGeom>
          <a:noFill/>
          <a:ln/>
        </p:spPr>
        <p:txBody>
          <a:bodyPr wrap="square" lIns="0" tIns="0" rIns="0" bIns="0" rtlCol="0" anchor="t"/>
          <a:lstStyle/>
          <a:p>
            <a:pPr indent="0" marL="0">
              <a:buNone/>
            </a:pPr>
            <a:r>
              <a:rPr lang="en-US" sz="1700" b="1" dirty="0">
                <a:solidFill>
                  <a:srgbClr val="241033"/>
                </a:solidFill>
                <a:latin typeface="Calibri" pitchFamily="34" charset="0"/>
                <a:ea typeface="Calibri" pitchFamily="34" charset="-122"/>
                <a:cs typeface="Calibri" pitchFamily="34" charset="-120"/>
              </a:rPr>
              <a:t>EarlyStopping</a:t>
            </a:r>
            <a:endParaRPr lang="en-US" sz="1700" dirty="0"/>
          </a:p>
        </p:txBody>
      </p:sp>
      <p:sp>
        <p:nvSpPr>
          <p:cNvPr id="19" name="Text 13"/>
          <p:cNvSpPr txBox="1"/>
          <p:nvPr/>
        </p:nvSpPr>
        <p:spPr>
          <a:xfrm>
            <a:off x="1325880" y="4873752"/>
            <a:ext cx="3931920" cy="45720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Se detiene cuando la validación deja de mejorar.</a:t>
            </a:r>
            <a:endParaRPr lang="en-US" sz="1400" dirty="0"/>
          </a:p>
        </p:txBody>
      </p:sp>
      <p:sp>
        <p:nvSpPr>
          <p:cNvPr id="20" name="Shape 14"/>
          <p:cNvSpPr/>
          <p:nvPr/>
        </p:nvSpPr>
        <p:spPr>
          <a:xfrm>
            <a:off x="548640" y="5486400"/>
            <a:ext cx="4754880" cy="566928"/>
          </a:xfrm>
          <a:prstGeom prst="roundRect">
            <a:avLst>
              <a:gd name="adj" fmla="val 19355"/>
            </a:avLst>
          </a:prstGeom>
          <a:solidFill>
            <a:srgbClr val="EADFF5"/>
          </a:solidFill>
          <a:ln w="12700">
            <a:solidFill>
              <a:srgbClr val="EADFF5"/>
            </a:solidFill>
            <a:prstDash val="solid"/>
          </a:ln>
        </p:spPr>
      </p:sp>
      <p:sp>
        <p:nvSpPr>
          <p:cNvPr id="21" name="Text 15"/>
          <p:cNvSpPr txBox="1"/>
          <p:nvPr/>
        </p:nvSpPr>
        <p:spPr>
          <a:xfrm>
            <a:off x="731520" y="5486400"/>
            <a:ext cx="4480560" cy="566928"/>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Falla con: </a:t>
            </a:r>
            <a:pPr indent="0" marL="0">
              <a:buNone/>
            </a:pPr>
            <a:r>
              <a:rPr lang="en-US" sz="1400" dirty="0">
                <a:solidFill>
                  <a:srgbClr val="241033"/>
                </a:solidFill>
                <a:latin typeface="Calibri" pitchFamily="34" charset="0"/>
                <a:ea typeface="Calibri" pitchFamily="34" charset="-122"/>
                <a:cs typeface="Calibri" pitchFamily="34" charset="-120"/>
              </a:rPr>
              <a:t>“no estuvo nada mal” → negativo</a:t>
            </a:r>
            <a:endParaRPr lang="en-US" sz="1400" dirty="0"/>
          </a:p>
        </p:txBody>
      </p:sp>
      <p:pic>
        <p:nvPicPr>
          <p:cNvPr id="22" name="Image 4" descr="/home/claude/deck/img/cm_opiniones.png">    </p:cNvPr>
          <p:cNvPicPr>
            <a:picLocks noChangeAspect="1"/>
          </p:cNvPicPr>
          <p:nvPr/>
        </p:nvPicPr>
        <p:blipFill>
          <a:blip r:embed="rId5"/>
          <a:stretch>
            <a:fillRect/>
          </a:stretch>
        </p:blipFill>
        <p:spPr>
          <a:xfrm>
            <a:off x="5623560" y="1325880"/>
            <a:ext cx="3840480" cy="3291840"/>
          </a:xfrm>
          <a:prstGeom prst="rect">
            <a:avLst/>
          </a:prstGeom>
        </p:spPr>
      </p:pic>
      <p:sp>
        <p:nvSpPr>
          <p:cNvPr id="23" name="Text 16"/>
          <p:cNvSpPr txBox="1"/>
          <p:nvPr/>
        </p:nvSpPr>
        <p:spPr>
          <a:xfrm>
            <a:off x="9601200" y="1554480"/>
            <a:ext cx="2103120" cy="914400"/>
          </a:xfrm>
          <a:prstGeom prst="rect">
            <a:avLst/>
          </a:prstGeom>
          <a:noFill/>
          <a:ln/>
        </p:spPr>
        <p:txBody>
          <a:bodyPr wrap="square" lIns="0" tIns="0" rIns="0" bIns="0" rtlCol="0" anchor="t"/>
          <a:lstStyle/>
          <a:p>
            <a:pPr indent="0" marL="0">
              <a:buNone/>
            </a:pPr>
            <a:r>
              <a:rPr lang="en-US" sz="5400" b="1" dirty="0">
                <a:solidFill>
                  <a:srgbClr val="6A0DAD"/>
                </a:solidFill>
                <a:latin typeface="Calibri" pitchFamily="34" charset="0"/>
                <a:ea typeface="Calibri" pitchFamily="34" charset="-122"/>
                <a:cs typeface="Calibri" pitchFamily="34" charset="-120"/>
              </a:rPr>
              <a:t>85 %</a:t>
            </a:r>
            <a:endParaRPr lang="en-US" sz="5400" dirty="0"/>
          </a:p>
        </p:txBody>
      </p:sp>
      <p:sp>
        <p:nvSpPr>
          <p:cNvPr id="24" name="Text 17"/>
          <p:cNvSpPr txBox="1"/>
          <p:nvPr/>
        </p:nvSpPr>
        <p:spPr>
          <a:xfrm>
            <a:off x="9601200" y="2468880"/>
            <a:ext cx="2103120" cy="64008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accuracy en test</a:t>
            </a:r>
            <a:endParaRPr lang="en-US" sz="1400" dirty="0"/>
          </a:p>
          <a:p>
            <a:pPr indent="0" marL="0">
              <a:buNone/>
            </a:pPr>
            <a:r>
              <a:rPr lang="en-US" sz="1400" dirty="0">
                <a:solidFill>
                  <a:srgbClr val="3D3350"/>
                </a:solidFill>
                <a:latin typeface="Calibri" pitchFamily="34" charset="0"/>
                <a:ea typeface="Calibri" pitchFamily="34" charset="-122"/>
                <a:cs typeface="Calibri" pitchFamily="34" charset="-120"/>
              </a:rPr>
              <a:t>(80 opiniones)</a:t>
            </a:r>
            <a:endParaRPr lang="en-US" sz="1400" dirty="0"/>
          </a:p>
        </p:txBody>
      </p:sp>
      <p:sp>
        <p:nvSpPr>
          <p:cNvPr id="25" name="Text 18"/>
          <p:cNvSpPr txBox="1"/>
          <p:nvPr/>
        </p:nvSpPr>
        <p:spPr>
          <a:xfrm>
            <a:off x="9601200" y="3337560"/>
            <a:ext cx="2103120" cy="731520"/>
          </a:xfrm>
          <a:prstGeom prst="rect">
            <a:avLst/>
          </a:prstGeom>
          <a:noFill/>
          <a:ln/>
        </p:spPr>
        <p:txBody>
          <a:bodyPr wrap="square" lIns="0" tIns="0" rIns="0" bIns="0" rtlCol="0" anchor="t"/>
          <a:lstStyle/>
          <a:p>
            <a:pPr indent="0" marL="0">
              <a:buNone/>
            </a:pPr>
            <a:r>
              <a:rPr lang="en-US" sz="4000" b="1" dirty="0">
                <a:solidFill>
                  <a:srgbClr val="C400C4"/>
                </a:solidFill>
                <a:latin typeface="Calibri" pitchFamily="34" charset="0"/>
                <a:ea typeface="Calibri" pitchFamily="34" charset="-122"/>
                <a:cs typeface="Calibri" pitchFamily="34" charset="-120"/>
              </a:rPr>
              <a:t>0.85</a:t>
            </a:r>
            <a:endParaRPr lang="en-US" sz="4000" dirty="0"/>
          </a:p>
        </p:txBody>
      </p:sp>
      <p:sp>
        <p:nvSpPr>
          <p:cNvPr id="26" name="Text 19"/>
          <p:cNvSpPr txBox="1"/>
          <p:nvPr/>
        </p:nvSpPr>
        <p:spPr>
          <a:xfrm>
            <a:off x="9601200" y="4023360"/>
            <a:ext cx="2103120" cy="365760"/>
          </a:xfrm>
          <a:prstGeom prst="rect">
            <a:avLst/>
          </a:prstGeom>
          <a:noFill/>
          <a:ln/>
        </p:spPr>
        <p:txBody>
          <a:bodyPr wrap="square" lIns="0" tIns="0" rIns="0" bIns="0" rtlCol="0" anchor="t"/>
          <a:lstStyle/>
          <a:p>
            <a:pPr indent="0" marL="0">
              <a:buNone/>
            </a:pPr>
            <a:r>
              <a:rPr lang="en-US" sz="1400" dirty="0">
                <a:solidFill>
                  <a:srgbClr val="3D3350"/>
                </a:solidFill>
                <a:latin typeface="Calibri" pitchFamily="34" charset="0"/>
                <a:ea typeface="Calibri" pitchFamily="34" charset="-122"/>
                <a:cs typeface="Calibri" pitchFamily="34" charset="-120"/>
              </a:rPr>
              <a:t>F1 macro</a:t>
            </a:r>
            <a:endParaRPr lang="en-US" sz="1400" dirty="0"/>
          </a:p>
        </p:txBody>
      </p:sp>
      <p:sp>
        <p:nvSpPr>
          <p:cNvPr id="27" name="Text 20"/>
          <p:cNvSpPr txBox="1"/>
          <p:nvPr/>
        </p:nvSpPr>
        <p:spPr>
          <a:xfrm>
            <a:off x="5623560" y="4846320"/>
            <a:ext cx="5943600" cy="548640"/>
          </a:xfrm>
          <a:prstGeom prst="rect">
            <a:avLst/>
          </a:prstGeom>
          <a:noFill/>
          <a:ln/>
        </p:spPr>
        <p:txBody>
          <a:bodyPr wrap="square" lIns="0" tIns="0" rIns="0" bIns="0" rtlCol="0" anchor="t"/>
          <a:lstStyle/>
          <a:p>
            <a:pPr indent="0" marL="0">
              <a:buNone/>
            </a:pPr>
            <a:r>
              <a:rPr lang="en-US" sz="1400" i="1" dirty="0">
                <a:solidFill>
                  <a:srgbClr val="6E6480"/>
                </a:solidFill>
                <a:latin typeface="Calibri" pitchFamily="34" charset="0"/>
                <a:ea typeface="Calibri" pitchFamily="34" charset="-122"/>
                <a:cs typeface="Calibri" pitchFamily="34" charset="-120"/>
              </a:rPr>
              <a:t>12 errores de 80: el notebook los lista para leerlos uno por uno.</a:t>
            </a:r>
            <a:endParaRPr lang="en-US" sz="14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Laboratorio: experimentar con método</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NOTEBOOK 08  ·  60 RESEÑAS DE PELÍCULAS</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3474720"/>
                <a:gridCol w="1280160"/>
                <a:gridCol w="128016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Experimento</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6A0DA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6A0DA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F1</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6A0DAD"/>
                    </a:solidFill>
                  </a:tcPr>
                </a:tc>
              </a:tr>
              <a:tr h="457200">
                <a:tc>
                  <a:txBody>
                    <a:bodyPr/>
                    <a:lstStyle/>
                    <a:p>
                      <a:pPr algn="l" indent="0" marL="0">
                        <a:buNone/>
                      </a:pPr>
                      <a:r>
                        <a:rPr lang="en-US" sz="1400" dirty="0">
                          <a:solidFill>
                            <a:srgbClr val="241033"/>
                          </a:solidFill>
                          <a:latin typeface="Calibri" pitchFamily="34" charset="0"/>
                          <a:ea typeface="Calibri" pitchFamily="34" charset="-122"/>
                          <a:cs typeface="Calibri" pitchFamily="34" charset="-120"/>
                        </a:rPr>
                        <a:t>Base (maxlen 12, d = 16)</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41033"/>
                          </a:solidFill>
                          <a:latin typeface="Calibri" pitchFamily="34" charset="0"/>
                          <a:ea typeface="Calibri" pitchFamily="34" charset="-122"/>
                          <a:cs typeface="Calibri" pitchFamily="34" charset="-120"/>
                        </a:rPr>
                        <a:t>0.667</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41033"/>
                          </a:solidFill>
                          <a:latin typeface="Calibri" pitchFamily="34" charset="0"/>
                          <a:ea typeface="Calibri" pitchFamily="34" charset="-122"/>
                          <a:cs typeface="Calibri" pitchFamily="34" charset="-120"/>
                        </a:rPr>
                        <a:t>0.706</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241033"/>
                          </a:solidFill>
                          <a:latin typeface="Calibri" pitchFamily="34" charset="0"/>
                          <a:ea typeface="Calibri" pitchFamily="34" charset="-122"/>
                          <a:cs typeface="Calibri" pitchFamily="34" charset="-120"/>
                        </a:rPr>
                        <a:t>maxlen = 4</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4EEFA"/>
                    </a:solidFill>
                  </a:tcPr>
                </a:tc>
                <a:tc>
                  <a:txBody>
                    <a:bodyPr/>
                    <a:lstStyle/>
                    <a:p>
                      <a:pPr algn="ctr" indent="0" marL="0">
                        <a:buNone/>
                      </a:pPr>
                      <a:r>
                        <a:rPr lang="en-US" sz="1400" dirty="0">
                          <a:solidFill>
                            <a:srgbClr val="241033"/>
                          </a:solidFill>
                          <a:latin typeface="Calibri" pitchFamily="34" charset="0"/>
                          <a:ea typeface="Calibri" pitchFamily="34" charset="-122"/>
                          <a:cs typeface="Calibri" pitchFamily="34" charset="-120"/>
                        </a:rPr>
                        <a:t>0.667</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4EEFA"/>
                    </a:solidFill>
                  </a:tcPr>
                </a:tc>
                <a:tc>
                  <a:txBody>
                    <a:bodyPr/>
                    <a:lstStyle/>
                    <a:p>
                      <a:pPr algn="ctr" indent="0" marL="0">
                        <a:buNone/>
                      </a:pPr>
                      <a:r>
                        <a:rPr lang="en-US" sz="1400" dirty="0">
                          <a:solidFill>
                            <a:srgbClr val="241033"/>
                          </a:solidFill>
                          <a:latin typeface="Calibri" pitchFamily="34" charset="0"/>
                          <a:ea typeface="Calibri" pitchFamily="34" charset="-122"/>
                          <a:cs typeface="Calibri" pitchFamily="34" charset="-120"/>
                        </a:rPr>
                        <a:t>0.667</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4EEFA"/>
                    </a:solidFill>
                  </a:tcPr>
                </a:tc>
              </a:tr>
              <a:tr h="457200">
                <a:tc>
                  <a:txBody>
                    <a:bodyPr/>
                    <a:lstStyle/>
                    <a:p>
                      <a:pPr algn="l" indent="0" marL="0">
                        <a:buNone/>
                      </a:pPr>
                      <a:r>
                        <a:rPr lang="en-US" sz="1400" dirty="0">
                          <a:solidFill>
                            <a:srgbClr val="241033"/>
                          </a:solidFill>
                          <a:latin typeface="Calibri" pitchFamily="34" charset="0"/>
                          <a:ea typeface="Calibri" pitchFamily="34" charset="-122"/>
                          <a:cs typeface="Calibri" pitchFamily="34" charset="-120"/>
                        </a:rPr>
                        <a:t>maxlen = 30</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41033"/>
                          </a:solidFill>
                          <a:latin typeface="Calibri" pitchFamily="34" charset="0"/>
                          <a:ea typeface="Calibri" pitchFamily="34" charset="-122"/>
                          <a:cs typeface="Calibri" pitchFamily="34" charset="-120"/>
                        </a:rPr>
                        <a:t>0.667</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41033"/>
                          </a:solidFill>
                          <a:latin typeface="Calibri" pitchFamily="34" charset="0"/>
                          <a:ea typeface="Calibri" pitchFamily="34" charset="-122"/>
                          <a:cs typeface="Calibri" pitchFamily="34" charset="-120"/>
                        </a:rPr>
                        <a:t>0.706</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241033"/>
                          </a:solidFill>
                          <a:latin typeface="Calibri" pitchFamily="34" charset="0"/>
                          <a:ea typeface="Calibri" pitchFamily="34" charset="-122"/>
                          <a:cs typeface="Calibri" pitchFamily="34" charset="-120"/>
                        </a:rPr>
                        <a:t>d = 4</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4EEFA"/>
                    </a:solidFill>
                  </a:tcPr>
                </a:tc>
                <a:tc>
                  <a:txBody>
                    <a:bodyPr/>
                    <a:lstStyle/>
                    <a:p>
                      <a:pPr algn="ctr" indent="0" marL="0">
                        <a:buNone/>
                      </a:pPr>
                      <a:r>
                        <a:rPr lang="en-US" sz="1400" dirty="0">
                          <a:solidFill>
                            <a:srgbClr val="241033"/>
                          </a:solidFill>
                          <a:latin typeface="Calibri" pitchFamily="34" charset="0"/>
                          <a:ea typeface="Calibri" pitchFamily="34" charset="-122"/>
                          <a:cs typeface="Calibri" pitchFamily="34" charset="-120"/>
                        </a:rPr>
                        <a:t>0.733</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4EEFA"/>
                    </a:solidFill>
                  </a:tcPr>
                </a:tc>
                <a:tc>
                  <a:txBody>
                    <a:bodyPr/>
                    <a:lstStyle/>
                    <a:p>
                      <a:pPr algn="ctr" indent="0" marL="0">
                        <a:buNone/>
                      </a:pPr>
                      <a:r>
                        <a:rPr lang="en-US" sz="1400" dirty="0">
                          <a:solidFill>
                            <a:srgbClr val="241033"/>
                          </a:solidFill>
                          <a:latin typeface="Calibri" pitchFamily="34" charset="0"/>
                          <a:ea typeface="Calibri" pitchFamily="34" charset="-122"/>
                          <a:cs typeface="Calibri" pitchFamily="34" charset="-120"/>
                        </a:rPr>
                        <a:t>0.714</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4EEFA"/>
                    </a:solidFill>
                  </a:tcPr>
                </a:tc>
              </a:tr>
              <a:tr h="457200">
                <a:tc>
                  <a:txBody>
                    <a:bodyPr/>
                    <a:lstStyle/>
                    <a:p>
                      <a:pPr algn="l" indent="0" marL="0">
                        <a:buNone/>
                      </a:pPr>
                      <a:r>
                        <a:rPr lang="en-US" sz="1400" dirty="0">
                          <a:solidFill>
                            <a:srgbClr val="241033"/>
                          </a:solidFill>
                          <a:latin typeface="Calibri" pitchFamily="34" charset="0"/>
                          <a:ea typeface="Calibri" pitchFamily="34" charset="-122"/>
                          <a:cs typeface="Calibri" pitchFamily="34" charset="-120"/>
                        </a:rPr>
                        <a:t>d = 64</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41033"/>
                          </a:solidFill>
                          <a:latin typeface="Calibri" pitchFamily="34" charset="0"/>
                          <a:ea typeface="Calibri" pitchFamily="34" charset="-122"/>
                          <a:cs typeface="Calibri" pitchFamily="34" charset="-120"/>
                        </a:rPr>
                        <a:t>0.667</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41033"/>
                          </a:solidFill>
                          <a:latin typeface="Calibri" pitchFamily="34" charset="0"/>
                          <a:ea typeface="Calibri" pitchFamily="34" charset="-122"/>
                          <a:cs typeface="Calibri" pitchFamily="34" charset="-120"/>
                        </a:rPr>
                        <a:t>0.706</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241033"/>
                          </a:solidFill>
                          <a:latin typeface="Calibri" pitchFamily="34" charset="0"/>
                          <a:ea typeface="Calibri" pitchFamily="34" charset="-122"/>
                          <a:cs typeface="Calibri" pitchFamily="34" charset="-120"/>
                        </a:rPr>
                        <a:t>vocabulario = 30</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4EEFA"/>
                    </a:solidFill>
                  </a:tcPr>
                </a:tc>
                <a:tc>
                  <a:txBody>
                    <a:bodyPr/>
                    <a:lstStyle/>
                    <a:p>
                      <a:pPr algn="ctr" indent="0" marL="0">
                        <a:buNone/>
                      </a:pPr>
                      <a:r>
                        <a:rPr lang="en-US" sz="1400" dirty="0">
                          <a:solidFill>
                            <a:srgbClr val="241033"/>
                          </a:solidFill>
                          <a:latin typeface="Calibri" pitchFamily="34" charset="0"/>
                          <a:ea typeface="Calibri" pitchFamily="34" charset="-122"/>
                          <a:cs typeface="Calibri" pitchFamily="34" charset="-120"/>
                        </a:rPr>
                        <a:t>0.600</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4EEFA"/>
                    </a:solidFill>
                  </a:tcPr>
                </a:tc>
                <a:tc>
                  <a:txBody>
                    <a:bodyPr/>
                    <a:lstStyle/>
                    <a:p>
                      <a:pPr algn="ctr" indent="0" marL="0">
                        <a:buNone/>
                      </a:pPr>
                      <a:r>
                        <a:rPr lang="en-US" sz="1400" dirty="0">
                          <a:solidFill>
                            <a:srgbClr val="241033"/>
                          </a:solidFill>
                          <a:latin typeface="Calibri" pitchFamily="34" charset="0"/>
                          <a:ea typeface="Calibri" pitchFamily="34" charset="-122"/>
                          <a:cs typeface="Calibri" pitchFamily="34" charset="-120"/>
                        </a:rPr>
                        <a:t>0.625</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F4EEFA"/>
                    </a:solidFill>
                  </a:tcPr>
                </a:tc>
              </a:tr>
              <a:tr h="457200">
                <a:tc>
                  <a:txBody>
                    <a:bodyPr/>
                    <a:lstStyle/>
                    <a:p>
                      <a:pPr algn="l" indent="0" marL="0">
                        <a:buNone/>
                      </a:pPr>
                      <a:r>
                        <a:rPr lang="en-US" sz="1400" b="1" dirty="0">
                          <a:solidFill>
                            <a:srgbClr val="241033"/>
                          </a:solidFill>
                          <a:latin typeface="Calibri" pitchFamily="34" charset="0"/>
                          <a:ea typeface="Calibri" pitchFamily="34" charset="-122"/>
                          <a:cs typeface="Calibri" pitchFamily="34" charset="-120"/>
                        </a:rPr>
                        <a:t>Baseline TF-IDF + LogReg</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EADFF5"/>
                    </a:solidFill>
                  </a:tcPr>
                </a:tc>
                <a:tc>
                  <a:txBody>
                    <a:bodyPr/>
                    <a:lstStyle/>
                    <a:p>
                      <a:pPr algn="ctr" indent="0" marL="0">
                        <a:buNone/>
                      </a:pPr>
                      <a:r>
                        <a:rPr lang="en-US" sz="1400" b="1" dirty="0">
                          <a:solidFill>
                            <a:srgbClr val="241033"/>
                          </a:solidFill>
                          <a:latin typeface="Calibri" pitchFamily="34" charset="0"/>
                          <a:ea typeface="Calibri" pitchFamily="34" charset="-122"/>
                          <a:cs typeface="Calibri" pitchFamily="34" charset="-120"/>
                        </a:rPr>
                        <a:t>0.600</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EADFF5"/>
                    </a:solidFill>
                  </a:tcPr>
                </a:tc>
                <a:tc>
                  <a:txBody>
                    <a:bodyPr/>
                    <a:lstStyle/>
                    <a:p>
                      <a:pPr algn="ctr" indent="0" marL="0">
                        <a:buNone/>
                      </a:pPr>
                      <a:r>
                        <a:rPr lang="en-US" sz="1400" b="1" dirty="0">
                          <a:solidFill>
                            <a:srgbClr val="241033"/>
                          </a:solidFill>
                          <a:latin typeface="Calibri" pitchFamily="34" charset="0"/>
                          <a:ea typeface="Calibri" pitchFamily="34" charset="-122"/>
                          <a:cs typeface="Calibri" pitchFamily="34" charset="-120"/>
                        </a:rPr>
                        <a:t>0.625</a:t>
                      </a:r>
                      <a:endParaRPr lang="en-US" sz="1400" dirty="0">
                        <a:latin typeface="Calibri" charset="0"/>
                        <a:ea typeface="Calibri" charset="0"/>
                        <a:cs typeface="Calibri" charset="0"/>
                      </a:endParaRPr>
                    </a:p>
                  </a:txBody>
                  <a:tcPr marL="91440" marR="91440" marT="45720" marB="45720" anchor="ctr">
                    <a:lnL w="9525" cap="flat" cmpd="sng" algn="ctr">
                      <a:solidFill>
                        <a:srgbClr val="E3D9EE"/>
                      </a:solidFill>
                      <a:prstDash val="solid"/>
                      <a:round/>
                      <a:headEnd type="none" w="med" len="med"/>
                      <a:tailEnd type="none" w="med" len="med"/>
                    </a:lnL>
                    <a:lnR w="9525" cap="flat" cmpd="sng" algn="ctr">
                      <a:solidFill>
                        <a:srgbClr val="E3D9EE"/>
                      </a:solidFill>
                      <a:prstDash val="solid"/>
                      <a:round/>
                      <a:headEnd type="none" w="med" len="med"/>
                      <a:tailEnd type="none" w="med" len="med"/>
                    </a:lnR>
                    <a:lnT w="9525" cap="flat" cmpd="sng" algn="ctr">
                      <a:solidFill>
                        <a:srgbClr val="E3D9EE"/>
                      </a:solidFill>
                      <a:prstDash val="solid"/>
                      <a:round/>
                      <a:headEnd type="none" w="med" len="med"/>
                      <a:tailEnd type="none" w="med" len="med"/>
                    </a:lnT>
                    <a:lnB w="9525" cap="flat" cmpd="sng" algn="ctr">
                      <a:solidFill>
                        <a:srgbClr val="E3D9EE"/>
                      </a:solidFill>
                      <a:prstDash val="solid"/>
                      <a:round/>
                      <a:headEnd type="none" w="med" len="med"/>
                      <a:tailEnd type="none" w="med" len="med"/>
                    </a:lnB>
                    <a:solidFill>
                      <a:srgbClr val="EADFF5"/>
                    </a:solidFill>
                  </a:tcPr>
                </a:tc>
              </a:tr>
            </a:tbl>
          </a:graphicData>
        </a:graphic>
      </p:graphicFrame>
      <p:sp>
        <p:nvSpPr>
          <p:cNvPr id="5" name="Text 2"/>
          <p:cNvSpPr txBox="1"/>
          <p:nvPr/>
        </p:nvSpPr>
        <p:spPr>
          <a:xfrm>
            <a:off x="6949440" y="1417320"/>
            <a:ext cx="4663440" cy="2743200"/>
          </a:xfrm>
          <a:prstGeom prst="rect">
            <a:avLst/>
          </a:prstGeom>
          <a:noFill/>
          <a:ln/>
        </p:spPr>
        <p:txBody>
          <a:bodyPr wrap="square" lIns="0" tIns="0" rIns="0" bIns="0" rtlCol="0" anchor="t"/>
          <a:lstStyle/>
          <a:p>
            <a:pPr marL="203200" indent="-203200">
              <a:spcAft>
                <a:spcPts val="1200"/>
              </a:spcAft>
              <a:buSzPct val="100000"/>
              <a:buChar char="•"/>
            </a:pPr>
            <a:r>
              <a:rPr lang="en-US" sz="1600" b="1" dirty="0">
                <a:solidFill>
                  <a:srgbClr val="6A0DAD"/>
                </a:solidFill>
                <a:latin typeface="Calibri" pitchFamily="34" charset="0"/>
                <a:ea typeface="Calibri" pitchFamily="34" charset="-122"/>
                <a:cs typeface="Calibri" pitchFamily="34" charset="-120"/>
              </a:rPr>
              <a:t>Un cambio a la vez:  </a:t>
            </a:r>
            <a:pPr indent="0" marL="0">
              <a:spcAft>
                <a:spcPts val="1200"/>
              </a:spcAft>
              <a:buNone/>
            </a:pPr>
            <a:r>
              <a:rPr lang="en-US" sz="1600" dirty="0">
                <a:solidFill>
                  <a:srgbClr val="3D3350"/>
                </a:solidFill>
                <a:latin typeface="Calibri" pitchFamily="34" charset="0"/>
                <a:ea typeface="Calibri" pitchFamily="34" charset="-122"/>
                <a:cs typeface="Calibri" pitchFamily="34" charset="-120"/>
              </a:rPr>
              <a:t>así sabemos qué causó la diferencia.</a:t>
            </a:r>
            <a:endParaRPr lang="en-US" sz="1600" dirty="0"/>
          </a:p>
          <a:p>
            <a:pPr marL="203200" indent="-203200">
              <a:spcAft>
                <a:spcPts val="1200"/>
              </a:spcAft>
              <a:buSzPct val="100000"/>
              <a:buChar char="•"/>
            </a:pPr>
            <a:r>
              <a:rPr lang="en-US" sz="1600" b="1" dirty="0">
                <a:solidFill>
                  <a:srgbClr val="6A0DAD"/>
                </a:solidFill>
                <a:latin typeface="Calibri" pitchFamily="34" charset="0"/>
                <a:ea typeface="Calibri" pitchFamily="34" charset="-122"/>
                <a:cs typeface="Calibri" pitchFamily="34" charset="-120"/>
              </a:rPr>
              <a:t>Siempre un baseline:  </a:t>
            </a:r>
            <a:pPr indent="0" marL="0">
              <a:spcAft>
                <a:spcPts val="1200"/>
              </a:spcAft>
              <a:buNone/>
            </a:pPr>
            <a:r>
              <a:rPr lang="en-US" sz="1600" dirty="0">
                <a:solidFill>
                  <a:srgbClr val="3D3350"/>
                </a:solidFill>
                <a:latin typeface="Calibri" pitchFamily="34" charset="0"/>
                <a:ea typeface="Calibri" pitchFamily="34" charset="-122"/>
                <a:cs typeface="Calibri" pitchFamily="34" charset="-120"/>
              </a:rPr>
              <a:t>si la red no supera a TF-IDF, no vale su complejidad.</a:t>
            </a:r>
            <a:endParaRPr lang="en-US" sz="1600" dirty="0"/>
          </a:p>
          <a:p>
            <a:pPr marL="203200" indent="-203200">
              <a:spcAft>
                <a:spcPts val="1200"/>
              </a:spcAft>
              <a:buSzPct val="100000"/>
              <a:buChar char="•"/>
            </a:pPr>
            <a:r>
              <a:rPr lang="en-US" sz="1600" b="1" dirty="0">
                <a:solidFill>
                  <a:srgbClr val="6A0DAD"/>
                </a:solidFill>
                <a:latin typeface="Calibri" pitchFamily="34" charset="0"/>
                <a:ea typeface="Calibri" pitchFamily="34" charset="-122"/>
                <a:cs typeface="Calibri" pitchFamily="34" charset="-120"/>
              </a:rPr>
              <a:t>Cuidado con concluir:  </a:t>
            </a:r>
            <a:pPr indent="0" marL="0">
              <a:spcAft>
                <a:spcPts val="1200"/>
              </a:spcAft>
              <a:buNone/>
            </a:pPr>
            <a:r>
              <a:rPr lang="en-US" sz="1600" dirty="0">
                <a:solidFill>
                  <a:srgbClr val="3D3350"/>
                </a:solidFill>
                <a:latin typeface="Calibri" pitchFamily="34" charset="0"/>
                <a:ea typeface="Calibri" pitchFamily="34" charset="-122"/>
                <a:cs typeface="Calibri" pitchFamily="34" charset="-120"/>
              </a:rPr>
              <a:t>con 15 reseñas de test, un solo error mueve la accuracy ~7 puntos.</a:t>
            </a:r>
            <a:endParaRPr lang="en-US" sz="1600" dirty="0"/>
          </a:p>
        </p:txBody>
      </p:sp>
      <p:sp>
        <p:nvSpPr>
          <p:cNvPr id="6" name="Shape 3"/>
          <p:cNvSpPr/>
          <p:nvPr/>
        </p:nvSpPr>
        <p:spPr>
          <a:xfrm>
            <a:off x="6949440" y="4343400"/>
            <a:ext cx="4663440" cy="1600200"/>
          </a:xfrm>
          <a:prstGeom prst="roundRect">
            <a:avLst>
              <a:gd name="adj" fmla="val 6857"/>
            </a:avLst>
          </a:prstGeom>
          <a:solidFill>
            <a:srgbClr val="241033"/>
          </a:solidFill>
          <a:ln w="12700">
            <a:solidFill>
              <a:srgbClr val="241033"/>
            </a:solidFill>
            <a:prstDash val="solid"/>
          </a:ln>
        </p:spPr>
      </p:sp>
      <p:sp>
        <p:nvSpPr>
          <p:cNvPr id="7" name="Text 4"/>
          <p:cNvSpPr txBox="1"/>
          <p:nvPr/>
        </p:nvSpPr>
        <p:spPr>
          <a:xfrm>
            <a:off x="7178040" y="4434840"/>
            <a:ext cx="4206240" cy="1417320"/>
          </a:xfrm>
          <a:prstGeom prst="rect">
            <a:avLst/>
          </a:prstGeom>
          <a:noFill/>
          <a:ln/>
        </p:spPr>
        <p:txBody>
          <a:bodyPr wrap="square" lIns="0" tIns="0" rIns="0" bIns="0" rtlCol="0" anchor="t"/>
          <a:lstStyle/>
          <a:p>
            <a:pPr indent="0" marL="0">
              <a:buNone/>
            </a:pPr>
            <a:r>
              <a:rPr lang="en-US" sz="1600" b="1" dirty="0">
                <a:solidFill>
                  <a:srgbClr val="C400C4"/>
                </a:solidFill>
                <a:latin typeface="Calibri" pitchFamily="34" charset="0"/>
                <a:ea typeface="Calibri" pitchFamily="34" charset="-122"/>
                <a:cs typeface="Calibri" pitchFamily="34" charset="-120"/>
              </a:rPr>
              <a:t>Desafío en parejas
</a:t>
            </a:r>
            <a:pPr indent="0" marL="0">
              <a:buNone/>
            </a:pPr>
            <a:r>
              <a:rPr lang="en-US" sz="1400" dirty="0">
                <a:solidFill>
                  <a:srgbClr val="FFFFFF"/>
                </a:solidFill>
                <a:latin typeface="Calibri" pitchFamily="34" charset="0"/>
                <a:ea typeface="Calibri" pitchFamily="34" charset="-122"/>
                <a:cs typeface="Calibri" pitchFamily="34" charset="-120"/>
              </a:rPr>
              <a:t>Agrega 3 experimentos propios, prueba sin mask_zero con maxlen 30 y escribe 5 reseñas difíciles.</a:t>
            </a:r>
            <a:endParaRPr lang="en-US" sz="14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Proyecto: IMDb NLP Processor</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TAREA EVALUABLE  ·  IMDb_NLP_Processor/</a:t>
            </a:r>
            <a:endParaRPr lang="en-US" sz="1100" dirty="0"/>
          </a:p>
        </p:txBody>
      </p:sp>
      <p:sp>
        <p:nvSpPr>
          <p:cNvPr id="4" name="Text 2"/>
          <p:cNvSpPr txBox="1"/>
          <p:nvPr/>
        </p:nvSpPr>
        <p:spPr>
          <a:xfrm>
            <a:off x="548640" y="1371600"/>
            <a:ext cx="1828800" cy="731520"/>
          </a:xfrm>
          <a:prstGeom prst="rect">
            <a:avLst/>
          </a:prstGeom>
          <a:noFill/>
          <a:ln/>
        </p:spPr>
        <p:txBody>
          <a:bodyPr wrap="square" lIns="0" tIns="0" rIns="0" bIns="0" rtlCol="0" anchor="t"/>
          <a:lstStyle/>
          <a:p>
            <a:pPr indent="0" marL="0">
              <a:buNone/>
            </a:pPr>
            <a:r>
              <a:rPr lang="en-US" sz="3400" b="1" dirty="0">
                <a:solidFill>
                  <a:srgbClr val="6A0DAD"/>
                </a:solidFill>
                <a:latin typeface="Calibri" pitchFamily="34" charset="0"/>
                <a:ea typeface="Calibri" pitchFamily="34" charset="-122"/>
                <a:cs typeface="Calibri" pitchFamily="34" charset="-120"/>
              </a:rPr>
              <a:t>50 000</a:t>
            </a:r>
            <a:endParaRPr lang="en-US" sz="3400" dirty="0"/>
          </a:p>
        </p:txBody>
      </p:sp>
      <p:sp>
        <p:nvSpPr>
          <p:cNvPr id="5" name="Text 3"/>
          <p:cNvSpPr txBox="1"/>
          <p:nvPr/>
        </p:nvSpPr>
        <p:spPr>
          <a:xfrm>
            <a:off x="548640" y="2103120"/>
            <a:ext cx="1828800" cy="685800"/>
          </a:xfrm>
          <a:prstGeom prst="rect">
            <a:avLst/>
          </a:prstGeom>
          <a:noFill/>
          <a:ln/>
        </p:spPr>
        <p:txBody>
          <a:bodyPr wrap="square" lIns="0" tIns="0" rIns="0" bIns="0" rtlCol="0" anchor="t"/>
          <a:lstStyle/>
          <a:p>
            <a:pPr indent="0" marL="0">
              <a:buNone/>
            </a:pPr>
            <a:r>
              <a:rPr lang="en-US" sz="1300" dirty="0">
                <a:solidFill>
                  <a:srgbClr val="3D3350"/>
                </a:solidFill>
                <a:latin typeface="Calibri" pitchFamily="34" charset="0"/>
                <a:ea typeface="Calibri" pitchFamily="34" charset="-122"/>
                <a:cs typeface="Calibri" pitchFamily="34" charset="-120"/>
              </a:rPr>
              <a:t>reseñas reales</a:t>
            </a:r>
            <a:endParaRPr lang="en-US" sz="1300" dirty="0"/>
          </a:p>
          <a:p>
            <a:pPr indent="0" marL="0">
              <a:buNone/>
            </a:pPr>
            <a:r>
              <a:rPr lang="en-US" sz="1300" dirty="0">
                <a:solidFill>
                  <a:srgbClr val="3D3350"/>
                </a:solidFill>
                <a:latin typeface="Calibri" pitchFamily="34" charset="0"/>
                <a:ea typeface="Calibri" pitchFamily="34" charset="-122"/>
                <a:cs typeface="Calibri" pitchFamily="34" charset="-120"/>
              </a:rPr>
              <a:t>(Kaggle, en inglés)</a:t>
            </a:r>
            <a:endParaRPr lang="en-US" sz="1300" dirty="0"/>
          </a:p>
        </p:txBody>
      </p:sp>
      <p:sp>
        <p:nvSpPr>
          <p:cNvPr id="6" name="Text 4"/>
          <p:cNvSpPr txBox="1"/>
          <p:nvPr/>
        </p:nvSpPr>
        <p:spPr>
          <a:xfrm>
            <a:off x="2423160" y="1371600"/>
            <a:ext cx="1828800" cy="731520"/>
          </a:xfrm>
          <a:prstGeom prst="rect">
            <a:avLst/>
          </a:prstGeom>
          <a:noFill/>
          <a:ln/>
        </p:spPr>
        <p:txBody>
          <a:bodyPr wrap="square" lIns="0" tIns="0" rIns="0" bIns="0" rtlCol="0" anchor="t"/>
          <a:lstStyle/>
          <a:p>
            <a:pPr indent="0" marL="0">
              <a:buNone/>
            </a:pPr>
            <a:r>
              <a:rPr lang="en-US" sz="3400" b="1" dirty="0">
                <a:solidFill>
                  <a:srgbClr val="C400C4"/>
                </a:solidFill>
                <a:latin typeface="Calibri" pitchFamily="34" charset="0"/>
                <a:ea typeface="Calibri" pitchFamily="34" charset="-122"/>
                <a:cs typeface="Calibri" pitchFamily="34" charset="-120"/>
              </a:rPr>
              <a:t>89 %</a:t>
            </a:r>
            <a:endParaRPr lang="en-US" sz="3400" dirty="0"/>
          </a:p>
        </p:txBody>
      </p:sp>
      <p:sp>
        <p:nvSpPr>
          <p:cNvPr id="7" name="Text 5"/>
          <p:cNvSpPr txBox="1"/>
          <p:nvPr/>
        </p:nvSpPr>
        <p:spPr>
          <a:xfrm>
            <a:off x="2423160" y="2103120"/>
            <a:ext cx="1828800" cy="685800"/>
          </a:xfrm>
          <a:prstGeom prst="rect">
            <a:avLst/>
          </a:prstGeom>
          <a:noFill/>
          <a:ln/>
        </p:spPr>
        <p:txBody>
          <a:bodyPr wrap="square" lIns="0" tIns="0" rIns="0" bIns="0" rtlCol="0" anchor="t"/>
          <a:lstStyle/>
          <a:p>
            <a:pPr indent="0" marL="0">
              <a:buNone/>
            </a:pPr>
            <a:r>
              <a:rPr lang="en-US" sz="1300" dirty="0">
                <a:solidFill>
                  <a:srgbClr val="3D3350"/>
                </a:solidFill>
                <a:latin typeface="Calibri" pitchFamily="34" charset="0"/>
                <a:ea typeface="Calibri" pitchFamily="34" charset="-122"/>
                <a:cs typeface="Calibri" pitchFamily="34" charset="-120"/>
              </a:rPr>
              <a:t>accuracy en test</a:t>
            </a:r>
            <a:endParaRPr lang="en-US" sz="1300" dirty="0"/>
          </a:p>
          <a:p>
            <a:pPr indent="0" marL="0">
              <a:buNone/>
            </a:pPr>
            <a:r>
              <a:rPr lang="en-US" sz="1300" dirty="0">
                <a:solidFill>
                  <a:srgbClr val="3D3350"/>
                </a:solidFill>
                <a:latin typeface="Calibri" pitchFamily="34" charset="0"/>
                <a:ea typeface="Calibri" pitchFamily="34" charset="-122"/>
                <a:cs typeface="Calibri" pitchFamily="34" charset="-120"/>
              </a:rPr>
              <a:t>(10 000 reseñas)</a:t>
            </a:r>
            <a:endParaRPr lang="en-US" sz="1300" dirty="0"/>
          </a:p>
        </p:txBody>
      </p:sp>
      <p:sp>
        <p:nvSpPr>
          <p:cNvPr id="8" name="Text 6"/>
          <p:cNvSpPr txBox="1"/>
          <p:nvPr/>
        </p:nvSpPr>
        <p:spPr>
          <a:xfrm>
            <a:off x="4297680" y="1371600"/>
            <a:ext cx="1828800" cy="731520"/>
          </a:xfrm>
          <a:prstGeom prst="rect">
            <a:avLst/>
          </a:prstGeom>
          <a:noFill/>
          <a:ln/>
        </p:spPr>
        <p:txBody>
          <a:bodyPr wrap="square" lIns="0" tIns="0" rIns="0" bIns="0" rtlCol="0" anchor="t"/>
          <a:lstStyle/>
          <a:p>
            <a:pPr indent="0" marL="0">
              <a:buNone/>
            </a:pPr>
            <a:r>
              <a:rPr lang="en-US" sz="3400" b="1" dirty="0">
                <a:solidFill>
                  <a:srgbClr val="6A0DAD"/>
                </a:solidFill>
                <a:latin typeface="Calibri" pitchFamily="34" charset="0"/>
                <a:ea typeface="Calibri" pitchFamily="34" charset="-122"/>
                <a:cs typeface="Calibri" pitchFamily="34" charset="-120"/>
              </a:rPr>
              <a:t>0.957</a:t>
            </a:r>
            <a:endParaRPr lang="en-US" sz="3400" dirty="0"/>
          </a:p>
        </p:txBody>
      </p:sp>
      <p:sp>
        <p:nvSpPr>
          <p:cNvPr id="9" name="Text 7"/>
          <p:cNvSpPr txBox="1"/>
          <p:nvPr/>
        </p:nvSpPr>
        <p:spPr>
          <a:xfrm>
            <a:off x="4297680" y="2103120"/>
            <a:ext cx="1828800" cy="685800"/>
          </a:xfrm>
          <a:prstGeom prst="rect">
            <a:avLst/>
          </a:prstGeom>
          <a:noFill/>
          <a:ln/>
        </p:spPr>
        <p:txBody>
          <a:bodyPr wrap="square" lIns="0" tIns="0" rIns="0" bIns="0" rtlCol="0" anchor="t"/>
          <a:lstStyle/>
          <a:p>
            <a:pPr indent="0" marL="0">
              <a:buNone/>
            </a:pPr>
            <a:r>
              <a:rPr lang="en-US" sz="1300" dirty="0">
                <a:solidFill>
                  <a:srgbClr val="3D3350"/>
                </a:solidFill>
                <a:latin typeface="Calibri" pitchFamily="34" charset="0"/>
                <a:ea typeface="Calibri" pitchFamily="34" charset="-122"/>
                <a:cs typeface="Calibri" pitchFamily="34" charset="-120"/>
              </a:rPr>
              <a:t>AUC en test</a:t>
            </a:r>
            <a:endParaRPr lang="en-US" sz="1300" dirty="0"/>
          </a:p>
        </p:txBody>
      </p:sp>
      <p:sp>
        <p:nvSpPr>
          <p:cNvPr id="10" name="Text 8"/>
          <p:cNvSpPr txBox="1"/>
          <p:nvPr/>
        </p:nvSpPr>
        <p:spPr>
          <a:xfrm>
            <a:off x="548640" y="3063240"/>
            <a:ext cx="5486400" cy="2926080"/>
          </a:xfrm>
          <a:prstGeom prst="rect">
            <a:avLst/>
          </a:prstGeom>
          <a:noFill/>
          <a:ln/>
        </p:spPr>
        <p:txBody>
          <a:bodyPr wrap="square" lIns="0" tIns="0" rIns="0" bIns="0" rtlCol="0" anchor="t"/>
          <a:lstStyle/>
          <a:p>
            <a:pPr indent="0" marL="0">
              <a:spcAft>
                <a:spcPts val="600"/>
              </a:spcAft>
              <a:buNone/>
            </a:pPr>
            <a:r>
              <a:rPr lang="en-US" sz="1500" b="1" dirty="0">
                <a:solidFill>
                  <a:srgbClr val="6A0DAD"/>
                </a:solidFill>
                <a:latin typeface="Calibri" pitchFamily="34" charset="0"/>
                <a:ea typeface="Calibri" pitchFamily="34" charset="-122"/>
                <a:cs typeface="Calibri" pitchFamily="34" charset="-120"/>
              </a:rPr>
              <a:t>1. EDA  </a:t>
            </a:r>
            <a:pPr indent="0" marL="0">
              <a:spcAft>
                <a:spcPts val="600"/>
              </a:spcAft>
              <a:buNone/>
            </a:pPr>
            <a:r>
              <a:rPr lang="en-US" sz="1500" dirty="0">
                <a:solidFill>
                  <a:srgbClr val="3D3350"/>
                </a:solidFill>
                <a:latin typeface="Calibri" pitchFamily="34" charset="0"/>
                <a:ea typeface="Calibri" pitchFamily="34" charset="-122"/>
                <a:cs typeface="Calibri" pitchFamily="34" charset="-120"/>
              </a:rPr>
              <a:t>distribución de clases y longitudes</a:t>
            </a:r>
            <a:endParaRPr lang="en-US" sz="1500" dirty="0"/>
          </a:p>
          <a:p>
            <a:pPr indent="0" marL="0">
              <a:spcAft>
                <a:spcPts val="600"/>
              </a:spcAft>
              <a:buNone/>
            </a:pPr>
            <a:r>
              <a:rPr lang="en-US" sz="1500" b="1" dirty="0">
                <a:solidFill>
                  <a:srgbClr val="6A0DAD"/>
                </a:solidFill>
                <a:latin typeface="Calibri" pitchFamily="34" charset="0"/>
                <a:ea typeface="Calibri" pitchFamily="34" charset="-122"/>
                <a:cs typeface="Calibri" pitchFamily="34" charset="-120"/>
              </a:rPr>
              <a:t>2. Limpieza  </a:t>
            </a:r>
            <a:pPr indent="0" marL="0">
              <a:spcAft>
                <a:spcPts val="600"/>
              </a:spcAft>
              <a:buNone/>
            </a:pPr>
            <a:r>
              <a:rPr lang="en-US" sz="1500" dirty="0">
                <a:solidFill>
                  <a:srgbClr val="3D3350"/>
                </a:solidFill>
                <a:latin typeface="Calibri" pitchFamily="34" charset="0"/>
                <a:ea typeface="Calibri" pitchFamily="34" charset="-122"/>
                <a:cs typeface="Calibri" pitchFamily="34" charset="-120"/>
              </a:rPr>
              <a:t>HTML, URLs, números, signos</a:t>
            </a:r>
            <a:endParaRPr lang="en-US" sz="1500" dirty="0"/>
          </a:p>
          <a:p>
            <a:pPr indent="0" marL="0">
              <a:spcAft>
                <a:spcPts val="600"/>
              </a:spcAft>
              <a:buNone/>
            </a:pPr>
            <a:r>
              <a:rPr lang="en-US" sz="1500" b="1" dirty="0">
                <a:solidFill>
                  <a:srgbClr val="6A0DAD"/>
                </a:solidFill>
                <a:latin typeface="Calibri" pitchFamily="34" charset="0"/>
                <a:ea typeface="Calibri" pitchFamily="34" charset="-122"/>
                <a:cs typeface="Calibri" pitchFamily="34" charset="-120"/>
              </a:rPr>
              <a:t>3. Tokenización  </a:t>
            </a:r>
            <a:pPr indent="0" marL="0">
              <a:spcAft>
                <a:spcPts val="600"/>
              </a:spcAft>
              <a:buNone/>
            </a:pPr>
            <a:r>
              <a:rPr lang="en-US" sz="1500" dirty="0">
                <a:solidFill>
                  <a:srgbClr val="3D3350"/>
                </a:solidFill>
                <a:latin typeface="Calibri" pitchFamily="34" charset="0"/>
                <a:ea typeface="Calibri" pitchFamily="34" charset="-122"/>
                <a:cs typeface="Calibri" pitchFamily="34" charset="-120"/>
              </a:rPr>
              <a:t>vocabulario de 20 000 palabras</a:t>
            </a:r>
            <a:endParaRPr lang="en-US" sz="1500" dirty="0"/>
          </a:p>
          <a:p>
            <a:pPr indent="0" marL="0">
              <a:spcAft>
                <a:spcPts val="600"/>
              </a:spcAft>
              <a:buNone/>
            </a:pPr>
            <a:r>
              <a:rPr lang="en-US" sz="1500" b="1" dirty="0">
                <a:solidFill>
                  <a:srgbClr val="6A0DAD"/>
                </a:solidFill>
                <a:latin typeface="Calibri" pitchFamily="34" charset="0"/>
                <a:ea typeface="Calibri" pitchFamily="34" charset="-122"/>
                <a:cs typeface="Calibri" pitchFamily="34" charset="-120"/>
              </a:rPr>
              <a:t>4. Padding  </a:t>
            </a:r>
            <a:pPr indent="0" marL="0">
              <a:spcAft>
                <a:spcPts val="600"/>
              </a:spcAft>
              <a:buNone/>
            </a:pPr>
            <a:r>
              <a:rPr lang="en-US" sz="1500" dirty="0">
                <a:solidFill>
                  <a:srgbClr val="3D3350"/>
                </a:solidFill>
                <a:latin typeface="Calibri" pitchFamily="34" charset="0"/>
                <a:ea typeface="Calibri" pitchFamily="34" charset="-122"/>
                <a:cs typeface="Calibri" pitchFamily="34" charset="-120"/>
              </a:rPr>
              <a:t>maxlen por percentil (p90 acotado a 300)</a:t>
            </a:r>
            <a:endParaRPr lang="en-US" sz="1500" dirty="0"/>
          </a:p>
          <a:p>
            <a:pPr indent="0" marL="0">
              <a:spcAft>
                <a:spcPts val="600"/>
              </a:spcAft>
              <a:buNone/>
            </a:pPr>
            <a:r>
              <a:rPr lang="en-US" sz="1500" b="1" dirty="0">
                <a:solidFill>
                  <a:srgbClr val="6A0DAD"/>
                </a:solidFill>
                <a:latin typeface="Calibri" pitchFamily="34" charset="0"/>
                <a:ea typeface="Calibri" pitchFamily="34" charset="-122"/>
                <a:cs typeface="Calibri" pitchFamily="34" charset="-120"/>
              </a:rPr>
              <a:t>5. Embedding  </a:t>
            </a:r>
            <a:pPr indent="0" marL="0">
              <a:spcAft>
                <a:spcPts val="600"/>
              </a:spcAft>
              <a:buNone/>
            </a:pPr>
            <a:r>
              <a:rPr lang="en-US" sz="1500" dirty="0">
                <a:solidFill>
                  <a:srgbClr val="3D3350"/>
                </a:solidFill>
                <a:latin typeface="Calibri" pitchFamily="34" charset="0"/>
                <a:ea typeface="Calibri" pitchFamily="34" charset="-122"/>
                <a:cs typeface="Calibri" pitchFamily="34" charset="-120"/>
              </a:rPr>
              <a:t>red con Dropout, EarlyStopping y métricas</a:t>
            </a:r>
            <a:endParaRPr lang="en-US" sz="1500" dirty="0"/>
          </a:p>
          <a:p>
            <a:pPr indent="0" marL="0">
              <a:spcAft>
                <a:spcPts val="600"/>
              </a:spcAft>
              <a:buNone/>
            </a:pPr>
            <a:r>
              <a:rPr lang="en-US" sz="1500" b="1" dirty="0">
                <a:solidFill>
                  <a:srgbClr val="6A0DAD"/>
                </a:solidFill>
                <a:latin typeface="Calibri" pitchFamily="34" charset="0"/>
                <a:ea typeface="Calibri" pitchFamily="34" charset="-122"/>
                <a:cs typeface="Calibri" pitchFamily="34" charset="-120"/>
              </a:rPr>
              <a:t>6. Reflexión  </a:t>
            </a:r>
            <a:pPr indent="0" marL="0">
              <a:spcAft>
                <a:spcPts val="600"/>
              </a:spcAft>
              <a:buNone/>
            </a:pPr>
            <a:r>
              <a:rPr lang="en-US" sz="1500" dirty="0">
                <a:solidFill>
                  <a:srgbClr val="3D3350"/>
                </a:solidFill>
                <a:latin typeface="Calibri" pitchFamily="34" charset="0"/>
                <a:ea typeface="Calibri" pitchFamily="34" charset="-122"/>
                <a:cs typeface="Calibri" pitchFamily="34" charset="-120"/>
              </a:rPr>
              <a:t>6 preguntas técnicas + punto extra</a:t>
            </a:r>
            <a:endParaRPr lang="en-US" sz="1500" dirty="0"/>
          </a:p>
        </p:txBody>
      </p:sp>
      <p:pic>
        <p:nvPicPr>
          <p:cNvPr id="11" name="Image 0" descr="/home/claude/deck/img/training_curves.png">    </p:cNvPr>
          <p:cNvPicPr>
            <a:picLocks noChangeAspect="1"/>
          </p:cNvPicPr>
          <p:nvPr/>
        </p:nvPicPr>
        <p:blipFill>
          <a:blip r:embed="rId1"/>
          <a:stretch>
            <a:fillRect/>
          </a:stretch>
        </p:blipFill>
        <p:spPr>
          <a:xfrm>
            <a:off x="6126480" y="1371600"/>
            <a:ext cx="5486400" cy="1828800"/>
          </a:xfrm>
          <a:prstGeom prst="rect">
            <a:avLst/>
          </a:prstGeom>
        </p:spPr>
      </p:pic>
      <p:pic>
        <p:nvPicPr>
          <p:cNvPr id="12" name="Image 1" descr="/home/claude/deck/img/confusion_matrix.png">    </p:cNvPr>
          <p:cNvPicPr>
            <a:picLocks noChangeAspect="1"/>
          </p:cNvPicPr>
          <p:nvPr/>
        </p:nvPicPr>
        <p:blipFill>
          <a:blip r:embed="rId2"/>
          <a:stretch>
            <a:fillRect/>
          </a:stretch>
        </p:blipFill>
        <p:spPr>
          <a:xfrm>
            <a:off x="7498080" y="3337560"/>
            <a:ext cx="2834640" cy="2478024"/>
          </a:xfrm>
          <a:prstGeom prst="rect">
            <a:avLst/>
          </a:prstGeom>
        </p:spPr>
      </p:pic>
      <p:sp>
        <p:nvSpPr>
          <p:cNvPr id="13" name="Text 9"/>
          <p:cNvSpPr txBox="1"/>
          <p:nvPr/>
        </p:nvSpPr>
        <p:spPr>
          <a:xfrm>
            <a:off x="6126480" y="5897880"/>
            <a:ext cx="5486400" cy="274320"/>
          </a:xfrm>
          <a:prstGeom prst="rect">
            <a:avLst/>
          </a:prstGeom>
          <a:noFill/>
          <a:ln/>
        </p:spPr>
        <p:txBody>
          <a:bodyPr wrap="square" lIns="0" tIns="0" rIns="0" bIns="0" rtlCol="0" anchor="t"/>
          <a:lstStyle/>
          <a:p>
            <a:pPr algn="ctr" indent="0" marL="0">
              <a:buNone/>
            </a:pPr>
            <a:r>
              <a:rPr lang="en-US" sz="1200" i="1" dirty="0">
                <a:solidFill>
                  <a:srgbClr val="6E6480"/>
                </a:solidFill>
                <a:latin typeface="Calibri" pitchFamily="34" charset="0"/>
                <a:ea typeface="Calibri" pitchFamily="34" charset="-122"/>
                <a:cs typeface="Calibri" pitchFamily="34" charset="-120"/>
              </a:rPr>
              <a:t>Rúbrica de 100 puntos + 10 extra en el README del proyecto</a:t>
            </a:r>
            <a:endParaRPr lang="en-US" sz="12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Buenas prácticas y errores comunes</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CHECKLIST</a:t>
            </a:r>
            <a:endParaRPr lang="en-US" sz="1100" dirty="0"/>
          </a:p>
        </p:txBody>
      </p:sp>
      <p:sp>
        <p:nvSpPr>
          <p:cNvPr id="4" name="Shape 2"/>
          <p:cNvSpPr/>
          <p:nvPr/>
        </p:nvSpPr>
        <p:spPr>
          <a:xfrm>
            <a:off x="548640" y="1371600"/>
            <a:ext cx="5440680" cy="4572000"/>
          </a:xfrm>
          <a:prstGeom prst="roundRect">
            <a:avLst>
              <a:gd name="adj" fmla="val 2400"/>
            </a:avLst>
          </a:prstGeom>
          <a:solidFill>
            <a:srgbClr val="F4EEFA"/>
          </a:solidFill>
          <a:ln w="12700">
            <a:solidFill>
              <a:srgbClr val="F4EEFA"/>
            </a:solidFill>
            <a:prstDash val="solid"/>
          </a:ln>
        </p:spPr>
      </p:sp>
      <p:sp>
        <p:nvSpPr>
          <p:cNvPr id="5" name="Shape 3"/>
          <p:cNvSpPr/>
          <p:nvPr/>
        </p:nvSpPr>
        <p:spPr>
          <a:xfrm>
            <a:off x="822960" y="1554480"/>
            <a:ext cx="548640" cy="548640"/>
          </a:xfrm>
          <a:prstGeom prst="ellipse">
            <a:avLst/>
          </a:prstGeom>
          <a:solidFill>
            <a:srgbClr val="2E9E5B"/>
          </a:solidFill>
          <a:ln w="12700">
            <a:solidFill>
              <a:srgbClr val="2E9E5B"/>
            </a:solidFill>
            <a:prstDash val="solid"/>
          </a:ln>
        </p:spPr>
      </p:sp>
      <p:pic>
        <p:nvPicPr>
          <p:cNvPr id="6" name="Image 0" descr="preencoded.png">    </p:cNvPr>
          <p:cNvPicPr>
            <a:picLocks noChangeAspect="1"/>
          </p:cNvPicPr>
          <p:nvPr/>
        </p:nvPicPr>
        <p:blipFill>
          <a:blip r:embed="rId1"/>
          <a:stretch>
            <a:fillRect/>
          </a:stretch>
        </p:blipFill>
        <p:spPr>
          <a:xfrm>
            <a:off x="954634" y="1686154"/>
            <a:ext cx="285293" cy="285293"/>
          </a:xfrm>
          <a:prstGeom prst="rect">
            <a:avLst/>
          </a:prstGeom>
        </p:spPr>
      </p:pic>
      <p:sp>
        <p:nvSpPr>
          <p:cNvPr id="7" name="Text 4"/>
          <p:cNvSpPr txBox="1"/>
          <p:nvPr/>
        </p:nvSpPr>
        <p:spPr>
          <a:xfrm>
            <a:off x="1508760" y="1554480"/>
            <a:ext cx="4114800" cy="548640"/>
          </a:xfrm>
          <a:prstGeom prst="rect">
            <a:avLst/>
          </a:prstGeom>
          <a:noFill/>
          <a:ln/>
        </p:spPr>
        <p:txBody>
          <a:bodyPr wrap="square" lIns="0" tIns="0" rIns="0" bIns="0" rtlCol="0" anchor="ctr"/>
          <a:lstStyle/>
          <a:p>
            <a:pPr indent="0" marL="0">
              <a:buNone/>
            </a:pPr>
            <a:r>
              <a:rPr lang="en-US" sz="2200" b="1" dirty="0">
                <a:solidFill>
                  <a:srgbClr val="241033"/>
                </a:solidFill>
                <a:latin typeface="Calibri" pitchFamily="34" charset="0"/>
                <a:ea typeface="Calibri" pitchFamily="34" charset="-122"/>
                <a:cs typeface="Calibri" pitchFamily="34" charset="-120"/>
              </a:rPr>
              <a:t>Haz esto</a:t>
            </a:r>
            <a:endParaRPr lang="en-US" sz="2200" dirty="0"/>
          </a:p>
        </p:txBody>
      </p:sp>
      <p:sp>
        <p:nvSpPr>
          <p:cNvPr id="8" name="Text 5"/>
          <p:cNvSpPr txBox="1"/>
          <p:nvPr/>
        </p:nvSpPr>
        <p:spPr>
          <a:xfrm>
            <a:off x="822960" y="2331720"/>
            <a:ext cx="4937760" cy="34747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Limpiar según el dominio, justificando cada regla</a:t>
            </a:r>
            <a:endParaRPr lang="en-US" sz="1600" dirty="0"/>
          </a:p>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Conservar negaciones, números y emojis cuando son señal</a:t>
            </a:r>
            <a:endParaRPr lang="en-US" sz="1600" dirty="0"/>
          </a:p>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Reservar un token &lt;OOV&gt;</a:t>
            </a:r>
            <a:endParaRPr lang="en-US" sz="1600" dirty="0"/>
          </a:p>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Elegir maxlen y num_words con percentiles y frecuencias</a:t>
            </a:r>
            <a:endParaRPr lang="en-US" sz="1600" dirty="0"/>
          </a:p>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Split antes de ajustar el tokenizer</a:t>
            </a:r>
            <a:endParaRPr lang="en-US" sz="1600" dirty="0"/>
          </a:p>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Misma limpieza y tokenizer en entrenamiento e inferencia</a:t>
            </a:r>
            <a:endParaRPr lang="en-US" sz="1600" dirty="0"/>
          </a:p>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Reportar F1 y matriz de confusión, no solo accuracy</a:t>
            </a:r>
            <a:endParaRPr lang="en-US" sz="1600" dirty="0"/>
          </a:p>
        </p:txBody>
      </p:sp>
      <p:sp>
        <p:nvSpPr>
          <p:cNvPr id="9" name="Shape 6"/>
          <p:cNvSpPr/>
          <p:nvPr/>
        </p:nvSpPr>
        <p:spPr>
          <a:xfrm>
            <a:off x="6172200" y="1371600"/>
            <a:ext cx="5440680" cy="4572000"/>
          </a:xfrm>
          <a:prstGeom prst="roundRect">
            <a:avLst>
              <a:gd name="adj" fmla="val 2400"/>
            </a:avLst>
          </a:prstGeom>
          <a:solidFill>
            <a:srgbClr val="F4EEFA"/>
          </a:solidFill>
          <a:ln w="12700">
            <a:solidFill>
              <a:srgbClr val="F4EEFA"/>
            </a:solidFill>
            <a:prstDash val="solid"/>
          </a:ln>
        </p:spPr>
      </p:sp>
      <p:sp>
        <p:nvSpPr>
          <p:cNvPr id="10" name="Shape 7"/>
          <p:cNvSpPr/>
          <p:nvPr/>
        </p:nvSpPr>
        <p:spPr>
          <a:xfrm>
            <a:off x="6446520" y="1554480"/>
            <a:ext cx="548640" cy="548640"/>
          </a:xfrm>
          <a:prstGeom prst="ellipse">
            <a:avLst/>
          </a:prstGeom>
          <a:solidFill>
            <a:srgbClr val="C0392B"/>
          </a:solidFill>
          <a:ln w="12700">
            <a:solidFill>
              <a:srgbClr val="C0392B"/>
            </a:solidFill>
            <a:prstDash val="solid"/>
          </a:ln>
        </p:spPr>
      </p:sp>
      <p:pic>
        <p:nvPicPr>
          <p:cNvPr id="11" name="Image 1" descr="preencoded.png">    </p:cNvPr>
          <p:cNvPicPr>
            <a:picLocks noChangeAspect="1"/>
          </p:cNvPicPr>
          <p:nvPr/>
        </p:nvPicPr>
        <p:blipFill>
          <a:blip r:embed="rId2"/>
          <a:stretch>
            <a:fillRect/>
          </a:stretch>
        </p:blipFill>
        <p:spPr>
          <a:xfrm>
            <a:off x="6578194" y="1686154"/>
            <a:ext cx="285293" cy="285293"/>
          </a:xfrm>
          <a:prstGeom prst="rect">
            <a:avLst/>
          </a:prstGeom>
        </p:spPr>
      </p:pic>
      <p:sp>
        <p:nvSpPr>
          <p:cNvPr id="12" name="Text 8"/>
          <p:cNvSpPr txBox="1"/>
          <p:nvPr/>
        </p:nvSpPr>
        <p:spPr>
          <a:xfrm>
            <a:off x="7132320" y="1554480"/>
            <a:ext cx="4114800" cy="548640"/>
          </a:xfrm>
          <a:prstGeom prst="rect">
            <a:avLst/>
          </a:prstGeom>
          <a:noFill/>
          <a:ln/>
        </p:spPr>
        <p:txBody>
          <a:bodyPr wrap="square" lIns="0" tIns="0" rIns="0" bIns="0" rtlCol="0" anchor="ctr"/>
          <a:lstStyle/>
          <a:p>
            <a:pPr indent="0" marL="0">
              <a:buNone/>
            </a:pPr>
            <a:r>
              <a:rPr lang="en-US" sz="2200" b="1" dirty="0">
                <a:solidFill>
                  <a:srgbClr val="241033"/>
                </a:solidFill>
                <a:latin typeface="Calibri" pitchFamily="34" charset="0"/>
                <a:ea typeface="Calibri" pitchFamily="34" charset="-122"/>
                <a:cs typeface="Calibri" pitchFamily="34" charset="-120"/>
              </a:rPr>
              <a:t>Evita esto</a:t>
            </a:r>
            <a:endParaRPr lang="en-US" sz="2200" dirty="0"/>
          </a:p>
        </p:txBody>
      </p:sp>
      <p:sp>
        <p:nvSpPr>
          <p:cNvPr id="13" name="Text 9"/>
          <p:cNvSpPr txBox="1"/>
          <p:nvPr/>
        </p:nvSpPr>
        <p:spPr>
          <a:xfrm>
            <a:off x="6446520" y="2331720"/>
            <a:ext cx="4937760" cy="34747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Olvidar pad_sequences antes de entrenar</a:t>
            </a:r>
            <a:endParaRPr lang="en-US" sz="1600" dirty="0"/>
          </a:p>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Vocabulario demasiado pequeño: todo se vuelve &lt;OOV&gt;</a:t>
            </a:r>
            <a:endParaRPr lang="en-US" sz="1600" dirty="0"/>
          </a:p>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Sobrepreprocesar (quitar “no”)</a:t>
            </a:r>
            <a:endParaRPr lang="en-US" sz="1600" dirty="0"/>
          </a:p>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Cambiar las reglas de limpieza entre train y test</a:t>
            </a:r>
            <a:endParaRPr lang="en-US" sz="1600" dirty="0"/>
          </a:p>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Usar el test para EarlyStopping o para ajustar el tokenizer</a:t>
            </a:r>
            <a:endParaRPr lang="en-US" sz="1600" dirty="0"/>
          </a:p>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Elegir maxlen sin mirar la distribución de longitudes</a:t>
            </a:r>
            <a:endParaRPr lang="en-US" sz="1600" dirty="0"/>
          </a:p>
          <a:p>
            <a:pPr marL="203200" indent="-203200">
              <a:spcAft>
                <a:spcPts val="900"/>
              </a:spcAft>
              <a:buSzPct val="100000"/>
              <a:buChar char="•"/>
            </a:pPr>
            <a:r>
              <a:rPr lang="en-US" sz="1600" dirty="0">
                <a:solidFill>
                  <a:srgbClr val="241033"/>
                </a:solidFill>
                <a:latin typeface="Calibri" pitchFamily="34" charset="0"/>
                <a:ea typeface="Calibri" pitchFamily="34" charset="-122"/>
                <a:cs typeface="Calibri" pitchFamily="34" charset="-120"/>
              </a:rPr>
              <a:t>Confiar en resultados “perfectos” sin revisar los datos</a:t>
            </a:r>
            <a:endParaRPr lang="en-US" sz="16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Los límites de hoy son el punto de partida de mañana</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PRÓXIMA CLASE: TRANSFORMERS Y SELF-ATTENTION</a:t>
            </a:r>
            <a:endParaRPr lang="en-US" sz="1100" dirty="0"/>
          </a:p>
        </p:txBody>
      </p:sp>
      <p:sp>
        <p:nvSpPr>
          <p:cNvPr id="4" name="Shape 2"/>
          <p:cNvSpPr/>
          <p:nvPr/>
        </p:nvSpPr>
        <p:spPr>
          <a:xfrm>
            <a:off x="548640" y="1371600"/>
            <a:ext cx="6492240" cy="1280160"/>
          </a:xfrm>
          <a:prstGeom prst="roundRect">
            <a:avLst>
              <a:gd name="adj" fmla="val 8571"/>
            </a:avLst>
          </a:prstGeom>
          <a:solidFill>
            <a:srgbClr val="F4EEFA"/>
          </a:solidFill>
          <a:ln w="12700">
            <a:solidFill>
              <a:srgbClr val="F4EEFA"/>
            </a:solidFill>
            <a:prstDash val="solid"/>
          </a:ln>
        </p:spPr>
      </p:sp>
      <p:sp>
        <p:nvSpPr>
          <p:cNvPr id="5" name="Text 3"/>
          <p:cNvSpPr txBox="1"/>
          <p:nvPr/>
        </p:nvSpPr>
        <p:spPr>
          <a:xfrm>
            <a:off x="777240" y="1508760"/>
            <a:ext cx="6035040" cy="411480"/>
          </a:xfrm>
          <a:prstGeom prst="rect">
            <a:avLst/>
          </a:prstGeom>
          <a:noFill/>
          <a:ln/>
        </p:spPr>
        <p:txBody>
          <a:bodyPr wrap="square" lIns="0" tIns="0" rIns="0" bIns="0" rtlCol="0" anchor="t"/>
          <a:lstStyle/>
          <a:p>
            <a:pPr indent="0" marL="0">
              <a:buNone/>
            </a:pPr>
            <a:r>
              <a:rPr lang="en-US" sz="1800" b="1" dirty="0">
                <a:solidFill>
                  <a:srgbClr val="6A0DAD"/>
                </a:solidFill>
                <a:latin typeface="Calibri" pitchFamily="34" charset="0"/>
                <a:ea typeface="Calibri" pitchFamily="34" charset="-122"/>
                <a:cs typeface="Calibri" pitchFamily="34" charset="-120"/>
              </a:rPr>
              <a:t>Un vector fijo por palabra</a:t>
            </a:r>
            <a:endParaRPr lang="en-US" sz="1800" dirty="0"/>
          </a:p>
        </p:txBody>
      </p:sp>
      <p:sp>
        <p:nvSpPr>
          <p:cNvPr id="6" name="Text 4"/>
          <p:cNvSpPr txBox="1"/>
          <p:nvPr/>
        </p:nvSpPr>
        <p:spPr>
          <a:xfrm>
            <a:off x="777240" y="1920240"/>
            <a:ext cx="6035040" cy="685800"/>
          </a:xfrm>
          <a:prstGeom prst="rect">
            <a:avLst/>
          </a:prstGeom>
          <a:noFill/>
          <a:ln/>
        </p:spPr>
        <p:txBody>
          <a:bodyPr wrap="square" lIns="0" tIns="0" rIns="0" bIns="0" rtlCol="0" anchor="t"/>
          <a:lstStyle/>
          <a:p>
            <a:pPr indent="0" marL="0">
              <a:buNone/>
            </a:pPr>
            <a:r>
              <a:rPr lang="en-US" sz="1400" dirty="0">
                <a:solidFill>
                  <a:srgbClr val="241033"/>
                </a:solidFill>
                <a:latin typeface="Calibri" pitchFamily="34" charset="0"/>
                <a:ea typeface="Calibri" pitchFamily="34" charset="-122"/>
                <a:cs typeface="Calibri" pitchFamily="34" charset="-120"/>
              </a:rPr>
              <a:t>“Fui al banco a retirar dinero” vs. “me senté en el banco del parque”: la misma palabra recibe el mismo vector.</a:t>
            </a:r>
            <a:endParaRPr lang="en-US" sz="1400" dirty="0"/>
          </a:p>
        </p:txBody>
      </p:sp>
      <p:sp>
        <p:nvSpPr>
          <p:cNvPr id="7" name="Shape 5"/>
          <p:cNvSpPr/>
          <p:nvPr/>
        </p:nvSpPr>
        <p:spPr>
          <a:xfrm>
            <a:off x="548640" y="2834640"/>
            <a:ext cx="6492240" cy="1280160"/>
          </a:xfrm>
          <a:prstGeom prst="roundRect">
            <a:avLst>
              <a:gd name="adj" fmla="val 8571"/>
            </a:avLst>
          </a:prstGeom>
          <a:solidFill>
            <a:srgbClr val="F4EEFA"/>
          </a:solidFill>
          <a:ln w="12700">
            <a:solidFill>
              <a:srgbClr val="F4EEFA"/>
            </a:solidFill>
            <a:prstDash val="solid"/>
          </a:ln>
        </p:spPr>
      </p:sp>
      <p:sp>
        <p:nvSpPr>
          <p:cNvPr id="8" name="Text 6"/>
          <p:cNvSpPr txBox="1"/>
          <p:nvPr/>
        </p:nvSpPr>
        <p:spPr>
          <a:xfrm>
            <a:off x="777240" y="2971800"/>
            <a:ext cx="6035040" cy="411480"/>
          </a:xfrm>
          <a:prstGeom prst="rect">
            <a:avLst/>
          </a:prstGeom>
          <a:noFill/>
          <a:ln/>
        </p:spPr>
        <p:txBody>
          <a:bodyPr wrap="square" lIns="0" tIns="0" rIns="0" bIns="0" rtlCol="0" anchor="t"/>
          <a:lstStyle/>
          <a:p>
            <a:pPr indent="0" marL="0">
              <a:buNone/>
            </a:pPr>
            <a:r>
              <a:rPr lang="en-US" sz="1800" b="1" dirty="0">
                <a:solidFill>
                  <a:srgbClr val="6A0DAD"/>
                </a:solidFill>
                <a:latin typeface="Calibri" pitchFamily="34" charset="0"/>
                <a:ea typeface="Calibri" pitchFamily="34" charset="-122"/>
                <a:cs typeface="Calibri" pitchFamily="34" charset="-120"/>
              </a:rPr>
              <a:t>El orden se pierde</a:t>
            </a:r>
            <a:endParaRPr lang="en-US" sz="1800" dirty="0"/>
          </a:p>
        </p:txBody>
      </p:sp>
      <p:sp>
        <p:nvSpPr>
          <p:cNvPr id="9" name="Text 7"/>
          <p:cNvSpPr txBox="1"/>
          <p:nvPr/>
        </p:nvSpPr>
        <p:spPr>
          <a:xfrm>
            <a:off x="777240" y="3383280"/>
            <a:ext cx="6035040" cy="685800"/>
          </a:xfrm>
          <a:prstGeom prst="rect">
            <a:avLst/>
          </a:prstGeom>
          <a:noFill/>
          <a:ln/>
        </p:spPr>
        <p:txBody>
          <a:bodyPr wrap="square" lIns="0" tIns="0" rIns="0" bIns="0" rtlCol="0" anchor="t"/>
          <a:lstStyle/>
          <a:p>
            <a:pPr indent="0" marL="0">
              <a:buNone/>
            </a:pPr>
            <a:r>
              <a:rPr lang="en-US" sz="1400" dirty="0">
                <a:solidFill>
                  <a:srgbClr val="241033"/>
                </a:solidFill>
                <a:latin typeface="Calibri" pitchFamily="34" charset="0"/>
                <a:ea typeface="Calibri" pitchFamily="34" charset="-122"/>
                <a:cs typeface="Calibri" pitchFamily="34" charset="-120"/>
              </a:rPr>
              <a:t>El promedio de embeddings ve “not”, “bad” y concluye negativo: “This movie was not bad at all” → negative.</a:t>
            </a:r>
            <a:endParaRPr lang="en-US" sz="1400" dirty="0"/>
          </a:p>
        </p:txBody>
      </p:sp>
      <p:sp>
        <p:nvSpPr>
          <p:cNvPr id="10" name="Shape 8"/>
          <p:cNvSpPr/>
          <p:nvPr/>
        </p:nvSpPr>
        <p:spPr>
          <a:xfrm>
            <a:off x="548640" y="4297680"/>
            <a:ext cx="6492240" cy="1280160"/>
          </a:xfrm>
          <a:prstGeom prst="roundRect">
            <a:avLst>
              <a:gd name="adj" fmla="val 8571"/>
            </a:avLst>
          </a:prstGeom>
          <a:solidFill>
            <a:srgbClr val="F4EEFA"/>
          </a:solidFill>
          <a:ln w="12700">
            <a:solidFill>
              <a:srgbClr val="F4EEFA"/>
            </a:solidFill>
            <a:prstDash val="solid"/>
          </a:ln>
        </p:spPr>
      </p:sp>
      <p:sp>
        <p:nvSpPr>
          <p:cNvPr id="11" name="Text 9"/>
          <p:cNvSpPr txBox="1"/>
          <p:nvPr/>
        </p:nvSpPr>
        <p:spPr>
          <a:xfrm>
            <a:off x="777240" y="4434840"/>
            <a:ext cx="6035040" cy="411480"/>
          </a:xfrm>
          <a:prstGeom prst="rect">
            <a:avLst/>
          </a:prstGeom>
          <a:noFill/>
          <a:ln/>
        </p:spPr>
        <p:txBody>
          <a:bodyPr wrap="square" lIns="0" tIns="0" rIns="0" bIns="0" rtlCol="0" anchor="t"/>
          <a:lstStyle/>
          <a:p>
            <a:pPr indent="0" marL="0">
              <a:buNone/>
            </a:pPr>
            <a:r>
              <a:rPr lang="en-US" sz="1800" b="1" dirty="0">
                <a:solidFill>
                  <a:srgbClr val="6A0DAD"/>
                </a:solidFill>
                <a:latin typeface="Calibri" pitchFamily="34" charset="0"/>
                <a:ea typeface="Calibri" pitchFamily="34" charset="-122"/>
                <a:cs typeface="Calibri" pitchFamily="34" charset="-120"/>
              </a:rPr>
              <a:t>Contexto limitado</a:t>
            </a:r>
            <a:endParaRPr lang="en-US" sz="1800" dirty="0"/>
          </a:p>
        </p:txBody>
      </p:sp>
      <p:sp>
        <p:nvSpPr>
          <p:cNvPr id="12" name="Text 10"/>
          <p:cNvSpPr txBox="1"/>
          <p:nvPr/>
        </p:nvSpPr>
        <p:spPr>
          <a:xfrm>
            <a:off x="777240" y="4846320"/>
            <a:ext cx="6035040" cy="685800"/>
          </a:xfrm>
          <a:prstGeom prst="rect">
            <a:avLst/>
          </a:prstGeom>
          <a:noFill/>
          <a:ln/>
        </p:spPr>
        <p:txBody>
          <a:bodyPr wrap="square" lIns="0" tIns="0" rIns="0" bIns="0" rtlCol="0" anchor="t"/>
          <a:lstStyle/>
          <a:p>
            <a:pPr indent="0" marL="0">
              <a:buNone/>
            </a:pPr>
            <a:r>
              <a:rPr lang="en-US" sz="1400" dirty="0">
                <a:solidFill>
                  <a:srgbClr val="241033"/>
                </a:solidFill>
                <a:latin typeface="Calibri" pitchFamily="34" charset="0"/>
                <a:ea typeface="Calibri" pitchFamily="34" charset="-122"/>
                <a:cs typeface="Calibri" pitchFamily="34" charset="-120"/>
              </a:rPr>
              <a:t>Las dependencias entre palabras lejanas de la frase no se modelan.</a:t>
            </a:r>
            <a:endParaRPr lang="en-US" sz="1400" dirty="0"/>
          </a:p>
        </p:txBody>
      </p:sp>
      <p:sp>
        <p:nvSpPr>
          <p:cNvPr id="13" name="Shape 11"/>
          <p:cNvSpPr/>
          <p:nvPr/>
        </p:nvSpPr>
        <p:spPr>
          <a:xfrm>
            <a:off x="7406640" y="1371600"/>
            <a:ext cx="4206240" cy="4206240"/>
          </a:xfrm>
          <a:prstGeom prst="roundRect">
            <a:avLst>
              <a:gd name="adj" fmla="val 2609"/>
            </a:avLst>
          </a:prstGeom>
          <a:solidFill>
            <a:srgbClr val="241033"/>
          </a:solidFill>
          <a:ln w="12700">
            <a:solidFill>
              <a:srgbClr val="241033"/>
            </a:solidFill>
            <a:prstDash val="solid"/>
          </a:ln>
        </p:spPr>
      </p:sp>
      <p:sp>
        <p:nvSpPr>
          <p:cNvPr id="14" name="Shape 12"/>
          <p:cNvSpPr/>
          <p:nvPr/>
        </p:nvSpPr>
        <p:spPr>
          <a:xfrm>
            <a:off x="7680960" y="1645920"/>
            <a:ext cx="731520" cy="731520"/>
          </a:xfrm>
          <a:prstGeom prst="ellipse">
            <a:avLst/>
          </a:prstGeom>
          <a:solidFill>
            <a:srgbClr val="C400C4"/>
          </a:solidFill>
          <a:ln w="12700">
            <a:solidFill>
              <a:srgbClr val="C400C4"/>
            </a:solidFill>
            <a:prstDash val="solid"/>
          </a:ln>
        </p:spPr>
      </p:sp>
      <p:pic>
        <p:nvPicPr>
          <p:cNvPr id="15" name="Image 0" descr="preencoded.png">    </p:cNvPr>
          <p:cNvPicPr>
            <a:picLocks noChangeAspect="1"/>
          </p:cNvPicPr>
          <p:nvPr/>
        </p:nvPicPr>
        <p:blipFill>
          <a:blip r:embed="rId1"/>
          <a:stretch>
            <a:fillRect/>
          </a:stretch>
        </p:blipFill>
        <p:spPr>
          <a:xfrm>
            <a:off x="7856525" y="1821485"/>
            <a:ext cx="380390" cy="380390"/>
          </a:xfrm>
          <a:prstGeom prst="rect">
            <a:avLst/>
          </a:prstGeom>
        </p:spPr>
      </p:pic>
      <p:sp>
        <p:nvSpPr>
          <p:cNvPr id="16" name="Text 13"/>
          <p:cNvSpPr txBox="1"/>
          <p:nvPr/>
        </p:nvSpPr>
        <p:spPr>
          <a:xfrm>
            <a:off x="7680960" y="2514600"/>
            <a:ext cx="3749040" cy="548640"/>
          </a:xfrm>
          <a:prstGeom prst="rect">
            <a:avLst/>
          </a:prstGeom>
          <a:noFill/>
          <a:ln/>
        </p:spPr>
        <p:txBody>
          <a:bodyPr wrap="square" lIns="0" tIns="0" rIns="0" bIns="0" rtlCol="0" anchor="t"/>
          <a:lstStyle/>
          <a:p>
            <a:pPr indent="0" marL="0">
              <a:buNone/>
            </a:pPr>
            <a:r>
              <a:rPr lang="en-US" sz="2600" b="1" dirty="0">
                <a:solidFill>
                  <a:srgbClr val="FFFFFF"/>
                </a:solidFill>
                <a:latin typeface="Calibri" pitchFamily="34" charset="0"/>
                <a:ea typeface="Calibri" pitchFamily="34" charset="-122"/>
                <a:cs typeface="Calibri" pitchFamily="34" charset="-120"/>
              </a:rPr>
              <a:t>Self-attention</a:t>
            </a:r>
            <a:endParaRPr lang="en-US" sz="2600" dirty="0"/>
          </a:p>
        </p:txBody>
      </p:sp>
      <p:sp>
        <p:nvSpPr>
          <p:cNvPr id="17" name="Text 14"/>
          <p:cNvSpPr txBox="1"/>
          <p:nvPr/>
        </p:nvSpPr>
        <p:spPr>
          <a:xfrm>
            <a:off x="7680960" y="3108960"/>
            <a:ext cx="3703320" cy="1828800"/>
          </a:xfrm>
          <a:prstGeom prst="rect">
            <a:avLst/>
          </a:prstGeom>
          <a:noFill/>
          <a:ln/>
        </p:spPr>
        <p:txBody>
          <a:bodyPr wrap="square" lIns="0" tIns="0" rIns="0" bIns="0" rtlCol="0" anchor="t"/>
          <a:lstStyle/>
          <a:p>
            <a:pPr indent="0" marL="0">
              <a:buNone/>
            </a:pPr>
            <a:r>
              <a:rPr lang="en-US" sz="1500" dirty="0">
                <a:solidFill>
                  <a:srgbClr val="DCCDEE"/>
                </a:solidFill>
                <a:latin typeface="Calibri" pitchFamily="34" charset="0"/>
                <a:ea typeface="Calibri" pitchFamily="34" charset="-122"/>
                <a:cs typeface="Calibri" pitchFamily="34" charset="-120"/>
              </a:rPr>
              <a:t>Cada token “mira” a los demás tokens de la frase y pondera su importancia según el contexto. Así nacen los embeddings contextuales de BERT y GPT.</a:t>
            </a:r>
            <a:endParaRPr lang="en-US" sz="1500" dirty="0"/>
          </a:p>
        </p:txBody>
      </p:sp>
      <p:sp>
        <p:nvSpPr>
          <p:cNvPr id="18" name="Text 15"/>
          <p:cNvSpPr txBox="1"/>
          <p:nvPr/>
        </p:nvSpPr>
        <p:spPr>
          <a:xfrm>
            <a:off x="7680960" y="4937760"/>
            <a:ext cx="3749040" cy="502920"/>
          </a:xfrm>
          <a:prstGeom prst="rect">
            <a:avLst/>
          </a:prstGeom>
          <a:noFill/>
          <a:ln/>
        </p:spPr>
        <p:txBody>
          <a:bodyPr wrap="square" lIns="0" tIns="0" rIns="0" bIns="0" rtlCol="0" anchor="t"/>
          <a:lstStyle/>
          <a:p>
            <a:pPr indent="0" marL="0">
              <a:buNone/>
            </a:pPr>
            <a:r>
              <a:rPr lang="en-US" sz="1300" b="1" dirty="0">
                <a:solidFill>
                  <a:srgbClr val="B98BE0"/>
                </a:solidFill>
                <a:latin typeface="Calibri" pitchFamily="34" charset="0"/>
                <a:ea typeface="Calibri" pitchFamily="34" charset="-122"/>
                <a:cs typeface="Calibri" pitchFamily="34" charset="-120"/>
              </a:rPr>
              <a:t>Embeddings fijos → atención → Transformers → LLMs</a:t>
            </a:r>
            <a:endParaRPr lang="en-US" sz="1300" dirty="0"/>
          </a:p>
        </p:txBody>
      </p:sp>
      <p:sp>
        <p:nvSpPr>
          <p:cNvPr id="19" name="Text 16"/>
          <p:cNvSpPr txBox="1"/>
          <p:nvPr/>
        </p:nvSpPr>
        <p:spPr>
          <a:xfrm>
            <a:off x="548640" y="5852160"/>
            <a:ext cx="6400800" cy="274320"/>
          </a:xfrm>
          <a:prstGeom prst="rect">
            <a:avLst/>
          </a:prstGeom>
          <a:noFill/>
          <a:ln/>
        </p:spPr>
        <p:txBody>
          <a:bodyPr wrap="square" lIns="0" tIns="0" rIns="0" bIns="0" rtlCol="0" anchor="t"/>
          <a:lstStyle/>
          <a:p>
            <a:pPr indent="0" marL="0">
              <a:buNone/>
            </a:pPr>
            <a:r>
              <a:rPr lang="en-US" sz="1100" i="1" dirty="0">
                <a:solidFill>
                  <a:srgbClr val="6E6480"/>
                </a:solidFill>
                <a:latin typeface="Calibri" pitchFamily="34" charset="0"/>
                <a:ea typeface="Calibri" pitchFamily="34" charset="-122"/>
                <a:cs typeface="Calibri" pitchFamily="34" charset="-120"/>
              </a:rPr>
              <a:t>Ejemplo “not bad”: salida real del proyecto IMDb</a:t>
            </a:r>
            <a:endParaRPr lang="en-US" sz="11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2" type="title" hasCustomPrompt="1"/>
          </p:nvPr>
        </p:nvSpPr>
        <p:spPr>
          <a:xfrm>
            <a:off x="548640" y="320040"/>
            <a:ext cx="10515600" cy="731520"/>
          </a:xfrm>
          <a:prstGeom prst="rect">
            <a:avLst/>
          </a:prstGeom>
          <a:noFill/>
          <a:ln/>
        </p:spPr>
        <p:txBody>
          <a:bodyPr wrap="square" lIns="0" tIns="0" rIns="0" bIns="0" rtlCol="0" anchor="ctr"/>
          <a:lstStyle/>
          <a:p>
            <a:pPr algn="l" indent="0" marL="0">
              <a:buNone/>
            </a:pPr>
            <a:r>
              <a:rPr lang="en-US" sz="3200" b="1" dirty="0">
                <a:solidFill>
                  <a:srgbClr val="241033"/>
                </a:solidFill>
                <a:latin typeface="Calibri" pitchFamily="34" charset="0"/>
                <a:ea typeface="Calibri" pitchFamily="34" charset="-122"/>
                <a:cs typeface="Calibri" pitchFamily="34" charset="-120"/>
              </a:rPr>
              <a:t>Para la próxima clase</a:t>
            </a:r>
            <a:endParaRPr lang="en-US" sz="3200" dirty="0"/>
          </a:p>
        </p:txBody>
      </p:sp>
      <p:sp>
        <p:nvSpPr>
          <p:cNvPr id="3" name="Text 1"/>
          <p:cNvSpPr/>
          <p:nvPr>
            <p:ph idx="103" type="body" hasCustomPrompt="1"/>
          </p:nvPr>
        </p:nvSpPr>
        <p:spPr>
          <a:xfrm>
            <a:off x="548640" y="109728"/>
            <a:ext cx="8229600" cy="256032"/>
          </a:xfrm>
          <a:prstGeom prst="rect">
            <a:avLst/>
          </a:prstGeom>
          <a:noFill/>
          <a:ln/>
        </p:spPr>
        <p:txBody>
          <a:bodyPr wrap="square" lIns="0" tIns="0" rIns="0" bIns="0" rtlCol="0"/>
          <a:lstStyle/>
          <a:p>
            <a:pPr indent="0" marL="0">
              <a:buNone/>
            </a:pPr>
            <a:r>
              <a:rPr lang="en-US" sz="1100" b="1" spc="300" kern="0" dirty="0">
                <a:solidFill>
                  <a:srgbClr val="C400C4"/>
                </a:solidFill>
                <a:latin typeface="Calibri" pitchFamily="34" charset="0"/>
                <a:ea typeface="Calibri" pitchFamily="34" charset="-122"/>
                <a:cs typeface="Calibri" pitchFamily="34" charset="-120"/>
              </a:rPr>
              <a:t>TAREA Y RECURSOS</a:t>
            </a:r>
            <a:endParaRPr lang="en-US" sz="1100" dirty="0"/>
          </a:p>
        </p:txBody>
      </p:sp>
      <p:sp>
        <p:nvSpPr>
          <p:cNvPr id="4" name="Shape 2"/>
          <p:cNvSpPr/>
          <p:nvPr/>
        </p:nvSpPr>
        <p:spPr>
          <a:xfrm>
            <a:off x="548640" y="1371600"/>
            <a:ext cx="5486400" cy="4572000"/>
          </a:xfrm>
          <a:prstGeom prst="roundRect">
            <a:avLst>
              <a:gd name="adj" fmla="val 2400"/>
            </a:avLst>
          </a:prstGeom>
          <a:solidFill>
            <a:srgbClr val="F4EEFA"/>
          </a:solidFill>
          <a:ln w="12700">
            <a:solidFill>
              <a:srgbClr val="F4EEFA"/>
            </a:solidFill>
            <a:prstDash val="solid"/>
          </a:ln>
        </p:spPr>
      </p:sp>
      <p:sp>
        <p:nvSpPr>
          <p:cNvPr id="5" name="Text 3"/>
          <p:cNvSpPr txBox="1"/>
          <p:nvPr/>
        </p:nvSpPr>
        <p:spPr>
          <a:xfrm>
            <a:off x="822960" y="1554480"/>
            <a:ext cx="4937760" cy="457200"/>
          </a:xfrm>
          <a:prstGeom prst="rect">
            <a:avLst/>
          </a:prstGeom>
          <a:noFill/>
          <a:ln/>
        </p:spPr>
        <p:txBody>
          <a:bodyPr wrap="square" lIns="0" tIns="0" rIns="0" bIns="0" rtlCol="0" anchor="t"/>
          <a:lstStyle/>
          <a:p>
            <a:pPr indent="0" marL="0">
              <a:buNone/>
            </a:pPr>
            <a:r>
              <a:rPr lang="en-US" sz="2200" b="1" dirty="0">
                <a:solidFill>
                  <a:srgbClr val="241033"/>
                </a:solidFill>
                <a:latin typeface="Calibri" pitchFamily="34" charset="0"/>
                <a:ea typeface="Calibri" pitchFamily="34" charset="-122"/>
                <a:cs typeface="Calibri" pitchFamily="34" charset="-120"/>
              </a:rPr>
              <a:t>Tarea</a:t>
            </a:r>
            <a:endParaRPr lang="en-US" sz="2200" dirty="0"/>
          </a:p>
        </p:txBody>
      </p:sp>
      <p:sp>
        <p:nvSpPr>
          <p:cNvPr id="6" name="Text 4"/>
          <p:cNvSpPr txBox="1"/>
          <p:nvPr/>
        </p:nvSpPr>
        <p:spPr>
          <a:xfrm>
            <a:off x="822960" y="2194560"/>
            <a:ext cx="4983480" cy="3566160"/>
          </a:xfrm>
          <a:prstGeom prst="rect">
            <a:avLst/>
          </a:prstGeom>
          <a:noFill/>
          <a:ln/>
        </p:spPr>
        <p:txBody>
          <a:bodyPr wrap="square" lIns="0" tIns="0" rIns="0" bIns="0" rtlCol="0" anchor="t"/>
          <a:lstStyle/>
          <a:p>
            <a:pPr marL="342900" indent="-342900">
              <a:spcAft>
                <a:spcPts val="1600"/>
              </a:spcAft>
              <a:buSzPct val="100000"/>
              <a:buFont typeface="+mj-lt"/>
              <a:buAutoNum type="arabicPeriod" startAt="1"/>
            </a:pPr>
            <a:r>
              <a:rPr lang="en-US" sz="1800" dirty="0">
                <a:solidFill>
                  <a:srgbClr val="241033"/>
                </a:solidFill>
                <a:latin typeface="Calibri" pitchFamily="34" charset="0"/>
                <a:ea typeface="Calibri" pitchFamily="34" charset="-122"/>
                <a:cs typeface="Calibri" pitchFamily="34" charset="-120"/>
              </a:rPr>
              <a:t>Completar el proyecto IMDb NLP Processor y subirlo a GitHub</a:t>
            </a:r>
            <a:endParaRPr lang="en-US" sz="1800" dirty="0"/>
          </a:p>
          <a:p>
            <a:pPr marL="342900" indent="-342900">
              <a:spcAft>
                <a:spcPts val="1600"/>
              </a:spcAft>
              <a:buSzPct val="100000"/>
              <a:buFont typeface="+mj-lt"/>
              <a:buAutoNum type="arabicPeriod" startAt="1"/>
            </a:pPr>
            <a:r>
              <a:rPr lang="en-US" sz="1800" dirty="0">
                <a:solidFill>
                  <a:srgbClr val="241033"/>
                </a:solidFill>
                <a:latin typeface="Calibri" pitchFamily="34" charset="0"/>
                <a:ea typeface="Calibri" pitchFamily="34" charset="-122"/>
                <a:cs typeface="Calibri" pitchFamily="34" charset="-120"/>
              </a:rPr>
              <a:t>Ejecutar los desafíos del notebook 08</a:t>
            </a:r>
            <a:endParaRPr lang="en-US" sz="1800" dirty="0"/>
          </a:p>
          <a:p>
            <a:pPr marL="342900" indent="-342900">
              <a:spcAft>
                <a:spcPts val="1600"/>
              </a:spcAft>
              <a:buSzPct val="100000"/>
              <a:buFont typeface="+mj-lt"/>
              <a:buAutoNum type="arabicPeriod" startAt="1"/>
            </a:pPr>
            <a:r>
              <a:rPr lang="en-US" sz="1800" dirty="0">
                <a:solidFill>
                  <a:srgbClr val="241033"/>
                </a:solidFill>
                <a:latin typeface="Calibri" pitchFamily="34" charset="0"/>
                <a:ea typeface="Calibri" pitchFamily="34" charset="-122"/>
                <a:cs typeface="Calibri" pitchFamily="34" charset="-120"/>
              </a:rPr>
              <a:t>Responder las preguntas de reflexión de cada notebook</a:t>
            </a:r>
            <a:endParaRPr lang="en-US" sz="1800" dirty="0"/>
          </a:p>
          <a:p>
            <a:pPr marL="342900" indent="-342900">
              <a:spcAft>
                <a:spcPts val="1600"/>
              </a:spcAft>
              <a:buSzPct val="100000"/>
              <a:buFont typeface="+mj-lt"/>
              <a:buAutoNum type="arabicPeriod" startAt="1"/>
            </a:pPr>
            <a:r>
              <a:rPr lang="en-US" sz="1800" dirty="0">
                <a:solidFill>
                  <a:srgbClr val="241033"/>
                </a:solidFill>
                <a:latin typeface="Calibri" pitchFamily="34" charset="0"/>
                <a:ea typeface="Calibri" pitchFamily="34" charset="-122"/>
                <a:cs typeface="Calibri" pitchFamily="34" charset="-120"/>
              </a:rPr>
              <a:t>Punto extra: comparar maxlen p50 vs. p90 en IMDb</a:t>
            </a:r>
            <a:endParaRPr lang="en-US" sz="1800" dirty="0"/>
          </a:p>
        </p:txBody>
      </p:sp>
      <p:sp>
        <p:nvSpPr>
          <p:cNvPr id="7" name="Text 5"/>
          <p:cNvSpPr txBox="1"/>
          <p:nvPr/>
        </p:nvSpPr>
        <p:spPr>
          <a:xfrm>
            <a:off x="6400800" y="1463040"/>
            <a:ext cx="5212080" cy="457200"/>
          </a:xfrm>
          <a:prstGeom prst="rect">
            <a:avLst/>
          </a:prstGeom>
          <a:noFill/>
          <a:ln/>
        </p:spPr>
        <p:txBody>
          <a:bodyPr wrap="square" lIns="0" tIns="0" rIns="0" bIns="0" rtlCol="0" anchor="t"/>
          <a:lstStyle/>
          <a:p>
            <a:pPr indent="0" marL="0">
              <a:buNone/>
            </a:pPr>
            <a:r>
              <a:rPr lang="en-US" sz="2000" b="1" dirty="0">
                <a:solidFill>
                  <a:srgbClr val="241033"/>
                </a:solidFill>
                <a:latin typeface="Calibri" pitchFamily="34" charset="0"/>
                <a:ea typeface="Calibri" pitchFamily="34" charset="-122"/>
                <a:cs typeface="Calibri" pitchFamily="34" charset="-120"/>
              </a:rPr>
              <a:t>Para profundizar (IBM Think)</a:t>
            </a:r>
            <a:endParaRPr lang="en-US" sz="2000" dirty="0"/>
          </a:p>
        </p:txBody>
      </p:sp>
      <p:sp>
        <p:nvSpPr>
          <p:cNvPr id="8" name="Shape 6"/>
          <p:cNvSpPr/>
          <p:nvPr/>
        </p:nvSpPr>
        <p:spPr>
          <a:xfrm>
            <a:off x="6400800" y="2130552"/>
            <a:ext cx="457200" cy="457200"/>
          </a:xfrm>
          <a:prstGeom prst="ellipse">
            <a:avLst/>
          </a:prstGeom>
          <a:solidFill>
            <a:srgbClr val="6A0DAD"/>
          </a:solidFill>
          <a:ln w="12700">
            <a:solidFill>
              <a:srgbClr val="6A0DAD"/>
            </a:solidFill>
            <a:prstDash val="solid"/>
          </a:ln>
        </p:spPr>
      </p:sp>
      <p:pic>
        <p:nvPicPr>
          <p:cNvPr id="9" name="Image 0" descr="preencoded.png">    </p:cNvPr>
          <p:cNvPicPr>
            <a:picLocks noChangeAspect="1"/>
          </p:cNvPicPr>
          <p:nvPr/>
        </p:nvPicPr>
        <p:blipFill>
          <a:blip r:embed="rId1"/>
          <a:stretch>
            <a:fillRect/>
          </a:stretch>
        </p:blipFill>
        <p:spPr>
          <a:xfrm>
            <a:off x="6510528" y="2240280"/>
            <a:ext cx="237744" cy="237744"/>
          </a:xfrm>
          <a:prstGeom prst="rect">
            <a:avLst/>
          </a:prstGeom>
        </p:spPr>
      </p:pic>
      <p:sp>
        <p:nvSpPr>
          <p:cNvPr id="10" name="Text 7"/>
          <p:cNvSpPr txBox="1"/>
          <p:nvPr/>
        </p:nvSpPr>
        <p:spPr>
          <a:xfrm>
            <a:off x="7040880" y="2057400"/>
            <a:ext cx="4572000" cy="365760"/>
          </a:xfrm>
          <a:prstGeom prst="rect">
            <a:avLst/>
          </a:prstGeom>
          <a:noFill/>
          <a:ln/>
        </p:spPr>
        <p:txBody>
          <a:bodyPr wrap="square" lIns="0" tIns="0" rIns="0" bIns="0" rtlCol="0" anchor="t"/>
          <a:lstStyle/>
          <a:p>
            <a:pPr indent="0" marL="0">
              <a:buNone/>
            </a:pPr>
            <a:r>
              <a:rPr lang="en-US" sz="1600" b="1" u="sng" dirty="0">
                <a:solidFill>
                  <a:srgbClr val="6A0DAD"/>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What is NLP?</a:t>
            </a:r>
            <a:endParaRPr lang="en-US" sz="1600" dirty="0"/>
          </a:p>
        </p:txBody>
      </p:sp>
      <p:sp>
        <p:nvSpPr>
          <p:cNvPr id="11" name="Text 8"/>
          <p:cNvSpPr txBox="1"/>
          <p:nvPr/>
        </p:nvSpPr>
        <p:spPr>
          <a:xfrm>
            <a:off x="7040880" y="2404872"/>
            <a:ext cx="4572000" cy="274320"/>
          </a:xfrm>
          <a:prstGeom prst="rect">
            <a:avLst/>
          </a:prstGeom>
          <a:noFill/>
          <a:ln/>
        </p:spPr>
        <p:txBody>
          <a:bodyPr wrap="square" lIns="0" tIns="0" rIns="0" bIns="0" rtlCol="0" anchor="t"/>
          <a:lstStyle/>
          <a:p>
            <a:pPr indent="0" marL="0">
              <a:buNone/>
            </a:pPr>
            <a:r>
              <a:rPr lang="en-US" sz="1100" dirty="0">
                <a:solidFill>
                  <a:srgbClr val="6E6480"/>
                </a:solidFill>
                <a:latin typeface="Calibri" pitchFamily="34" charset="0"/>
                <a:ea typeface="Calibri" pitchFamily="34" charset="-122"/>
                <a:cs typeface="Calibri" pitchFamily="34" charset="-120"/>
              </a:rPr>
              <a:t>ibm.com/think/topics/natural-language-processing</a:t>
            </a:r>
            <a:endParaRPr lang="en-US" sz="1100" dirty="0"/>
          </a:p>
        </p:txBody>
      </p:sp>
      <p:sp>
        <p:nvSpPr>
          <p:cNvPr id="12" name="Shape 9"/>
          <p:cNvSpPr/>
          <p:nvPr/>
        </p:nvSpPr>
        <p:spPr>
          <a:xfrm>
            <a:off x="6400800" y="2880360"/>
            <a:ext cx="457200" cy="457200"/>
          </a:xfrm>
          <a:prstGeom prst="ellipse">
            <a:avLst/>
          </a:prstGeom>
          <a:solidFill>
            <a:srgbClr val="6A0DAD"/>
          </a:solidFill>
          <a:ln w="12700">
            <a:solidFill>
              <a:srgbClr val="6A0DAD"/>
            </a:solidFill>
            <a:prstDash val="solid"/>
          </a:ln>
        </p:spPr>
      </p:sp>
      <p:pic>
        <p:nvPicPr>
          <p:cNvPr id="13" name="Image 1" descr="preencoded.png">    </p:cNvPr>
          <p:cNvPicPr>
            <a:picLocks noChangeAspect="1"/>
          </p:cNvPicPr>
          <p:nvPr/>
        </p:nvPicPr>
        <p:blipFill>
          <a:blip r:embed="rId3"/>
          <a:stretch>
            <a:fillRect/>
          </a:stretch>
        </p:blipFill>
        <p:spPr>
          <a:xfrm>
            <a:off x="6510528" y="2990088"/>
            <a:ext cx="237744" cy="237744"/>
          </a:xfrm>
          <a:prstGeom prst="rect">
            <a:avLst/>
          </a:prstGeom>
        </p:spPr>
      </p:pic>
      <p:sp>
        <p:nvSpPr>
          <p:cNvPr id="14" name="Text 10"/>
          <p:cNvSpPr txBox="1"/>
          <p:nvPr/>
        </p:nvSpPr>
        <p:spPr>
          <a:xfrm>
            <a:off x="7040880" y="2807208"/>
            <a:ext cx="4572000" cy="365760"/>
          </a:xfrm>
          <a:prstGeom prst="rect">
            <a:avLst/>
          </a:prstGeom>
          <a:noFill/>
          <a:ln/>
        </p:spPr>
        <p:txBody>
          <a:bodyPr wrap="square" lIns="0" tIns="0" rIns="0" bIns="0" rtlCol="0" anchor="t"/>
          <a:lstStyle/>
          <a:p>
            <a:pPr indent="0" marL="0">
              <a:buNone/>
            </a:pPr>
            <a:r>
              <a:rPr lang="en-US" sz="1600" b="1" u="sng" dirty="0">
                <a:solidFill>
                  <a:srgbClr val="6A0DAD"/>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What is text mining?</a:t>
            </a:r>
            <a:endParaRPr lang="en-US" sz="1600" dirty="0"/>
          </a:p>
        </p:txBody>
      </p:sp>
      <p:sp>
        <p:nvSpPr>
          <p:cNvPr id="15" name="Text 11"/>
          <p:cNvSpPr txBox="1"/>
          <p:nvPr/>
        </p:nvSpPr>
        <p:spPr>
          <a:xfrm>
            <a:off x="7040880" y="3154680"/>
            <a:ext cx="4572000" cy="274320"/>
          </a:xfrm>
          <a:prstGeom prst="rect">
            <a:avLst/>
          </a:prstGeom>
          <a:noFill/>
          <a:ln/>
        </p:spPr>
        <p:txBody>
          <a:bodyPr wrap="square" lIns="0" tIns="0" rIns="0" bIns="0" rtlCol="0" anchor="t"/>
          <a:lstStyle/>
          <a:p>
            <a:pPr indent="0" marL="0">
              <a:buNone/>
            </a:pPr>
            <a:r>
              <a:rPr lang="en-US" sz="1100" dirty="0">
                <a:solidFill>
                  <a:srgbClr val="6E6480"/>
                </a:solidFill>
                <a:latin typeface="Calibri" pitchFamily="34" charset="0"/>
                <a:ea typeface="Calibri" pitchFamily="34" charset="-122"/>
                <a:cs typeface="Calibri" pitchFamily="34" charset="-120"/>
              </a:rPr>
              <a:t>ibm.com/think/topics/text-mining</a:t>
            </a:r>
            <a:endParaRPr lang="en-US" sz="1100" dirty="0"/>
          </a:p>
        </p:txBody>
      </p:sp>
      <p:sp>
        <p:nvSpPr>
          <p:cNvPr id="16" name="Shape 12"/>
          <p:cNvSpPr/>
          <p:nvPr/>
        </p:nvSpPr>
        <p:spPr>
          <a:xfrm>
            <a:off x="6400800" y="3630168"/>
            <a:ext cx="457200" cy="457200"/>
          </a:xfrm>
          <a:prstGeom prst="ellipse">
            <a:avLst/>
          </a:prstGeom>
          <a:solidFill>
            <a:srgbClr val="6A0DAD"/>
          </a:solidFill>
          <a:ln w="12700">
            <a:solidFill>
              <a:srgbClr val="6A0DAD"/>
            </a:solidFill>
            <a:prstDash val="solid"/>
          </a:ln>
        </p:spPr>
      </p:sp>
      <p:pic>
        <p:nvPicPr>
          <p:cNvPr id="17" name="Image 2" descr="preencoded.png">    </p:cNvPr>
          <p:cNvPicPr>
            <a:picLocks noChangeAspect="1"/>
          </p:cNvPicPr>
          <p:nvPr/>
        </p:nvPicPr>
        <p:blipFill>
          <a:blip r:embed="rId5"/>
          <a:stretch>
            <a:fillRect/>
          </a:stretch>
        </p:blipFill>
        <p:spPr>
          <a:xfrm>
            <a:off x="6510528" y="3739896"/>
            <a:ext cx="237744" cy="237744"/>
          </a:xfrm>
          <a:prstGeom prst="rect">
            <a:avLst/>
          </a:prstGeom>
        </p:spPr>
      </p:pic>
      <p:sp>
        <p:nvSpPr>
          <p:cNvPr id="18" name="Text 13"/>
          <p:cNvSpPr txBox="1"/>
          <p:nvPr/>
        </p:nvSpPr>
        <p:spPr>
          <a:xfrm>
            <a:off x="7040880" y="3557016"/>
            <a:ext cx="4572000" cy="365760"/>
          </a:xfrm>
          <a:prstGeom prst="rect">
            <a:avLst/>
          </a:prstGeom>
          <a:noFill/>
          <a:ln/>
        </p:spPr>
        <p:txBody>
          <a:bodyPr wrap="square" lIns="0" tIns="0" rIns="0" bIns="0" rtlCol="0" anchor="t"/>
          <a:lstStyle/>
          <a:p>
            <a:pPr indent="0" marL="0">
              <a:buNone/>
            </a:pPr>
            <a:r>
              <a:rPr lang="en-US" sz="1600" b="1" u="sng" dirty="0">
                <a:solidFill>
                  <a:srgbClr val="6A0DAD"/>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Stemming vs. lemmatization</a:t>
            </a:r>
            <a:endParaRPr lang="en-US" sz="1600" dirty="0"/>
          </a:p>
        </p:txBody>
      </p:sp>
      <p:sp>
        <p:nvSpPr>
          <p:cNvPr id="19" name="Text 14"/>
          <p:cNvSpPr txBox="1"/>
          <p:nvPr/>
        </p:nvSpPr>
        <p:spPr>
          <a:xfrm>
            <a:off x="7040880" y="3904488"/>
            <a:ext cx="4572000" cy="274320"/>
          </a:xfrm>
          <a:prstGeom prst="rect">
            <a:avLst/>
          </a:prstGeom>
          <a:noFill/>
          <a:ln/>
        </p:spPr>
        <p:txBody>
          <a:bodyPr wrap="square" lIns="0" tIns="0" rIns="0" bIns="0" rtlCol="0" anchor="t"/>
          <a:lstStyle/>
          <a:p>
            <a:pPr indent="0" marL="0">
              <a:buNone/>
            </a:pPr>
            <a:r>
              <a:rPr lang="en-US" sz="1100" dirty="0">
                <a:solidFill>
                  <a:srgbClr val="6E6480"/>
                </a:solidFill>
                <a:latin typeface="Calibri" pitchFamily="34" charset="0"/>
                <a:ea typeface="Calibri" pitchFamily="34" charset="-122"/>
                <a:cs typeface="Calibri" pitchFamily="34" charset="-120"/>
              </a:rPr>
              <a:t>ibm.com/think/topics/stemming-lemmatization</a:t>
            </a:r>
            <a:endParaRPr lang="en-US" sz="1100" dirty="0"/>
          </a:p>
        </p:txBody>
      </p:sp>
      <p:sp>
        <p:nvSpPr>
          <p:cNvPr id="20" name="Shape 15"/>
          <p:cNvSpPr/>
          <p:nvPr/>
        </p:nvSpPr>
        <p:spPr>
          <a:xfrm>
            <a:off x="6400800" y="4379976"/>
            <a:ext cx="457200" cy="457200"/>
          </a:xfrm>
          <a:prstGeom prst="ellipse">
            <a:avLst/>
          </a:prstGeom>
          <a:solidFill>
            <a:srgbClr val="6A0DAD"/>
          </a:solidFill>
          <a:ln w="12700">
            <a:solidFill>
              <a:srgbClr val="6A0DAD"/>
            </a:solidFill>
            <a:prstDash val="solid"/>
          </a:ln>
        </p:spPr>
      </p:sp>
      <p:pic>
        <p:nvPicPr>
          <p:cNvPr id="21" name="Image 3" descr="preencoded.png">    </p:cNvPr>
          <p:cNvPicPr>
            <a:picLocks noChangeAspect="1"/>
          </p:cNvPicPr>
          <p:nvPr/>
        </p:nvPicPr>
        <p:blipFill>
          <a:blip r:embed="rId7"/>
          <a:stretch>
            <a:fillRect/>
          </a:stretch>
        </p:blipFill>
        <p:spPr>
          <a:xfrm>
            <a:off x="6510528" y="4489704"/>
            <a:ext cx="237744" cy="237744"/>
          </a:xfrm>
          <a:prstGeom prst="rect">
            <a:avLst/>
          </a:prstGeom>
        </p:spPr>
      </p:pic>
      <p:sp>
        <p:nvSpPr>
          <p:cNvPr id="22" name="Text 16"/>
          <p:cNvSpPr txBox="1"/>
          <p:nvPr/>
        </p:nvSpPr>
        <p:spPr>
          <a:xfrm>
            <a:off x="7040880" y="4306824"/>
            <a:ext cx="4572000" cy="365760"/>
          </a:xfrm>
          <a:prstGeom prst="rect">
            <a:avLst/>
          </a:prstGeom>
          <a:noFill/>
          <a:ln/>
        </p:spPr>
        <p:txBody>
          <a:bodyPr wrap="square" lIns="0" tIns="0" rIns="0" bIns="0" rtlCol="0" anchor="t"/>
          <a:lstStyle/>
          <a:p>
            <a:pPr indent="0" marL="0">
              <a:buNone/>
            </a:pPr>
            <a:r>
              <a:rPr lang="en-US" sz="1600" b="1" u="sng" dirty="0">
                <a:solidFill>
                  <a:srgbClr val="6A0DAD"/>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What is bag of words?</a:t>
            </a:r>
            <a:endParaRPr lang="en-US" sz="1600" dirty="0"/>
          </a:p>
        </p:txBody>
      </p:sp>
      <p:sp>
        <p:nvSpPr>
          <p:cNvPr id="23" name="Text 17"/>
          <p:cNvSpPr txBox="1"/>
          <p:nvPr/>
        </p:nvSpPr>
        <p:spPr>
          <a:xfrm>
            <a:off x="7040880" y="4654296"/>
            <a:ext cx="4572000" cy="274320"/>
          </a:xfrm>
          <a:prstGeom prst="rect">
            <a:avLst/>
          </a:prstGeom>
          <a:noFill/>
          <a:ln/>
        </p:spPr>
        <p:txBody>
          <a:bodyPr wrap="square" lIns="0" tIns="0" rIns="0" bIns="0" rtlCol="0" anchor="t"/>
          <a:lstStyle/>
          <a:p>
            <a:pPr indent="0" marL="0">
              <a:buNone/>
            </a:pPr>
            <a:r>
              <a:rPr lang="en-US" sz="1100" dirty="0">
                <a:solidFill>
                  <a:srgbClr val="6E6480"/>
                </a:solidFill>
                <a:latin typeface="Calibri" pitchFamily="34" charset="0"/>
                <a:ea typeface="Calibri" pitchFamily="34" charset="-122"/>
                <a:cs typeface="Calibri" pitchFamily="34" charset="-120"/>
              </a:rPr>
              <a:t>ibm.com/think/topics/bag-of-words</a:t>
            </a:r>
            <a:endParaRPr lang="en-US" sz="1100" dirty="0"/>
          </a:p>
        </p:txBody>
      </p:sp>
      <p:sp>
        <p:nvSpPr>
          <p:cNvPr id="24" name="Shape 18"/>
          <p:cNvSpPr/>
          <p:nvPr/>
        </p:nvSpPr>
        <p:spPr>
          <a:xfrm>
            <a:off x="6400800" y="5129784"/>
            <a:ext cx="457200" cy="457200"/>
          </a:xfrm>
          <a:prstGeom prst="ellipse">
            <a:avLst/>
          </a:prstGeom>
          <a:solidFill>
            <a:srgbClr val="6A0DAD"/>
          </a:solidFill>
          <a:ln w="12700">
            <a:solidFill>
              <a:srgbClr val="6A0DAD"/>
            </a:solidFill>
            <a:prstDash val="solid"/>
          </a:ln>
        </p:spPr>
      </p:sp>
      <p:pic>
        <p:nvPicPr>
          <p:cNvPr id="25" name="Image 4" descr="preencoded.png">    </p:cNvPr>
          <p:cNvPicPr>
            <a:picLocks noChangeAspect="1"/>
          </p:cNvPicPr>
          <p:nvPr/>
        </p:nvPicPr>
        <p:blipFill>
          <a:blip r:embed="rId9"/>
          <a:stretch>
            <a:fillRect/>
          </a:stretch>
        </p:blipFill>
        <p:spPr>
          <a:xfrm>
            <a:off x="6510528" y="5239512"/>
            <a:ext cx="237744" cy="237744"/>
          </a:xfrm>
          <a:prstGeom prst="rect">
            <a:avLst/>
          </a:prstGeom>
        </p:spPr>
      </p:pic>
      <p:sp>
        <p:nvSpPr>
          <p:cNvPr id="26" name="Text 19"/>
          <p:cNvSpPr txBox="1"/>
          <p:nvPr/>
        </p:nvSpPr>
        <p:spPr>
          <a:xfrm>
            <a:off x="7040880" y="5056632"/>
            <a:ext cx="4572000" cy="365760"/>
          </a:xfrm>
          <a:prstGeom prst="rect">
            <a:avLst/>
          </a:prstGeom>
          <a:noFill/>
          <a:ln/>
        </p:spPr>
        <p:txBody>
          <a:bodyPr wrap="square" lIns="0" tIns="0" rIns="0" bIns="0" rtlCol="0" anchor="t"/>
          <a:lstStyle/>
          <a:p>
            <a:pPr indent="0" marL="0">
              <a:buNone/>
            </a:pPr>
            <a:r>
              <a:rPr lang="en-US" sz="1600" b="1" u="sng" dirty="0">
                <a:solidFill>
                  <a:srgbClr val="6A0DAD"/>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What are word embeddings?</a:t>
            </a:r>
            <a:endParaRPr lang="en-US" sz="1600" dirty="0"/>
          </a:p>
        </p:txBody>
      </p:sp>
      <p:sp>
        <p:nvSpPr>
          <p:cNvPr id="27" name="Text 20"/>
          <p:cNvSpPr txBox="1"/>
          <p:nvPr/>
        </p:nvSpPr>
        <p:spPr>
          <a:xfrm>
            <a:off x="7040880" y="5404104"/>
            <a:ext cx="4572000" cy="274320"/>
          </a:xfrm>
          <a:prstGeom prst="rect">
            <a:avLst/>
          </a:prstGeom>
          <a:noFill/>
          <a:ln/>
        </p:spPr>
        <p:txBody>
          <a:bodyPr wrap="square" lIns="0" tIns="0" rIns="0" bIns="0" rtlCol="0" anchor="t"/>
          <a:lstStyle/>
          <a:p>
            <a:pPr indent="0" marL="0">
              <a:buNone/>
            </a:pPr>
            <a:r>
              <a:rPr lang="en-US" sz="1100" dirty="0">
                <a:solidFill>
                  <a:srgbClr val="6E6480"/>
                </a:solidFill>
                <a:latin typeface="Calibri" pitchFamily="34" charset="0"/>
                <a:ea typeface="Calibri" pitchFamily="34" charset="-122"/>
                <a:cs typeface="Calibri" pitchFamily="34" charset="-120"/>
              </a:rPr>
              <a:t>ibm.com/think/topics/word-embeddings</a:t>
            </a:r>
            <a:endParaRPr lang="en-US" sz="1100" dirty="0"/>
          </a:p>
        </p:txBody>
      </p:sp>
      <p:sp>
        <p:nvSpPr>
          <p:cNvPr id="28" name="Text 21"/>
          <p:cNvSpPr txBox="1"/>
          <p:nvPr/>
        </p:nvSpPr>
        <p:spPr>
          <a:xfrm>
            <a:off x="6400800" y="5852160"/>
            <a:ext cx="5212080" cy="274320"/>
          </a:xfrm>
          <a:prstGeom prst="rect">
            <a:avLst/>
          </a:prstGeom>
          <a:noFill/>
          <a:ln/>
        </p:spPr>
        <p:txBody>
          <a:bodyPr wrap="square" lIns="0" tIns="0" rIns="0" bIns="0" rtlCol="0" anchor="t"/>
          <a:lstStyle/>
          <a:p>
            <a:pPr indent="0" marL="0">
              <a:buNone/>
            </a:pPr>
            <a:r>
              <a:rPr lang="en-US" sz="1300" i="1" dirty="0">
                <a:solidFill>
                  <a:srgbClr val="C400C4"/>
                </a:solidFill>
                <a:latin typeface="Calibri" pitchFamily="34" charset="0"/>
                <a:ea typeface="Calibri" pitchFamily="34" charset="-122"/>
                <a:cs typeface="Calibri" pitchFamily="34" charset="-120"/>
              </a:rPr>
              <a:t>“El futuro lo creas tú…”</a:t>
            </a:r>
            <a:endParaRPr lang="en-US" sz="1300" dirty="0"/>
          </a:p>
        </p:txBody>
      </p:sp>
      <p:sp>
        <p:nvSpPr>
          <p:cNvPr id="25" name="Slide Number Placeholder 0"/>
          <p:cNvSpPr>
            <a:spLocks noGrp="1"/>
          </p:cNvSpPr>
          <p:nvPr>
            <p:ph type="sldNum" sz="quarter" idx="4294967295"/>
          </p:nvPr>
        </p:nvSpPr>
        <p:spPr>
          <a:xfrm>
            <a:off x="106984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648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DevSenior Morado">
  <a:themeElements>
    <a:clrScheme name="DevSenior Morado">
      <a:dk1>
        <a:srgbClr val="241033"/>
      </a:dk1>
      <a:lt1>
        <a:srgbClr val="FFFFFF"/>
      </a:lt1>
      <a:dk2>
        <a:srgbClr val="2B0A3D"/>
      </a:dk2>
      <a:lt2>
        <a:srgbClr val="F4EEFA"/>
      </a:lt2>
      <a:accent1>
        <a:srgbClr val="6A0DAD"/>
      </a:accent1>
      <a:accent2>
        <a:srgbClr val="C400C4"/>
      </a:accent2>
      <a:accent3>
        <a:srgbClr val="B98BE0"/>
      </a:accent3>
      <a:accent4>
        <a:srgbClr val="6E6480"/>
      </a:accent4>
      <a:accent5>
        <a:srgbClr val="2E9E5B"/>
      </a:accent5>
      <a:accent6>
        <a:srgbClr val="C0392B"/>
      </a:accent6>
      <a:hlink>
        <a:srgbClr val="6A0DAD"/>
      </a:hlink>
      <a:folHlink>
        <a:srgbClr val="C400C4"/>
      </a:folHlink>
    </a:clrScheme>
    <a:fontScheme name="DevSenior Morad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01 · Text Mining y Embeddings</dc:title>
  <dc:subject>PptxGenJS Presentation</dc:subject>
  <dc:creator>DevSenior Code</dc:creator>
  <cp:lastModifiedBy>DevSenior Code</cp:lastModifiedBy>
  <cp:revision>1</cp:revision>
  <dcterms:created xsi:type="dcterms:W3CDTF">2026-10-04T23:33:59Z</dcterms:created>
  <dcterms:modified xsi:type="dcterms:W3CDTF">2026-10-04T23:33:59Z</dcterms:modified>
</cp:coreProperties>
</file>